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让思路清楚，
让内容可改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先形成判断，
再展开证据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从三个方面定义演示目标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将零散材料整理成连贯叙事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从输入到交付的五个步骤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按里程碑组织下一步工作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分清概念范围与当前重点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内容、视觉与交付的关系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numerical values on this slide are demonstration data.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AI-generated generic artwork bundled with this repository; see docs/ASSETS.md.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把注意力
留给重要内容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2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1-text-1"/>
          <p:cNvSpPr/>
          <p:nvPr/>
        </p:nvSpPr>
        <p:spPr>
          <a:xfrm>
            <a:off x="487680" y="266700"/>
            <a:ext cx="6096000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380" b="1" dirty="0">
                <a:solidFill>
                  <a:srgbClr val="B92A1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WARM GLASS</a:t>
            </a:r>
            <a:endParaRPr lang="zh-CN" sz="1380" dirty="0"/>
          </a:p>
        </p:txBody>
      </p:sp>
      <p:sp>
        <p:nvSpPr>
          <p:cNvPr id="4" name="s1-text-2"/>
          <p:cNvSpPr/>
          <p:nvPr/>
        </p:nvSpPr>
        <p:spPr>
          <a:xfrm>
            <a:off x="487680" y="594360"/>
            <a:ext cx="9525000" cy="2133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020" dirty="0">
                <a:solidFill>
                  <a:srgbClr val="6661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Clarity in narrative. Consistency in design.</a:t>
            </a:r>
            <a:endParaRPr lang="zh-CN" sz="1020" dirty="0"/>
          </a:p>
        </p:txBody>
      </p:sp>
      <p:sp>
        <p:nvSpPr>
          <p:cNvPr id="5" name="s1-text-3"/>
          <p:cNvSpPr/>
          <p:nvPr/>
        </p:nvSpPr>
        <p:spPr>
          <a:xfrm>
            <a:off x="11140440" y="266700"/>
            <a:ext cx="563880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ct val="110000"/>
              </a:lnSpc>
              <a:buNone/>
            </a:pPr>
            <a:r>
              <a:rPr lang="zh-CN" altLang="en-US" sz="1260" dirty="0">
                <a:solidFill>
                  <a:srgbClr val="6661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zh-CN" sz="1260" dirty="0"/>
          </a:p>
        </p:txBody>
      </p:sp>
      <p:sp>
        <p:nvSpPr>
          <p:cNvPr id="6" name="s1-text-4"/>
          <p:cNvSpPr/>
          <p:nvPr/>
        </p:nvSpPr>
        <p:spPr>
          <a:xfrm>
            <a:off x="487680" y="1463040"/>
            <a:ext cx="6400800" cy="2819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380" b="1" dirty="0">
                <a:solidFill>
                  <a:srgbClr val="B92A1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可复用的演示生成技能</a:t>
            </a:r>
            <a:endParaRPr lang="zh-CN" sz="1380" dirty="0"/>
          </a:p>
        </p:txBody>
      </p:sp>
      <p:sp>
        <p:nvSpPr>
          <p:cNvPr id="7" name="s1-text-5"/>
          <p:cNvSpPr/>
          <p:nvPr/>
        </p:nvSpPr>
        <p:spPr>
          <a:xfrm>
            <a:off x="487680" y="1920240"/>
            <a:ext cx="6858000" cy="15773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4200" b="1" dirty="0">
                <a:solidFill>
                  <a:srgbClr val="10121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让思路清楚，</a:t>
            </a:r>
            <a:endParaRPr lang="zh-CN" sz="42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zh-CN" altLang="en-US" sz="4200" b="1" dirty="0">
                <a:solidFill>
                  <a:srgbClr val="10121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让内容可改</a:t>
            </a:r>
            <a:endParaRPr lang="zh-CN" sz="4200" dirty="0"/>
          </a:p>
        </p:txBody>
      </p:sp>
      <p:sp>
        <p:nvSpPr>
          <p:cNvPr id="8" name="s1-text-6"/>
          <p:cNvSpPr/>
          <p:nvPr/>
        </p:nvSpPr>
        <p:spPr>
          <a:xfrm>
            <a:off x="487680" y="3672840"/>
            <a:ext cx="6858000" cy="7924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680" dirty="0">
                <a:solidFill>
                  <a:srgbClr val="6661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从材料到叙事，再到可交付的演示文稿</a:t>
            </a:r>
            <a:endParaRPr lang="zh-CN" sz="1680" dirty="0"/>
          </a:p>
        </p:txBody>
      </p:sp>
      <p:pic>
        <p:nvPicPr>
          <p:cNvPr id="9" name="s1-image-7" descr="四个暖色玻璃节点构成的前进路径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97140" y="2180590"/>
            <a:ext cx="4168140" cy="2778760"/>
          </a:xfrm>
          <a:prstGeom prst="rect">
            <a:avLst/>
          </a:prstGeom>
        </p:spPr>
      </p:pic>
      <p:sp>
        <p:nvSpPr>
          <p:cNvPr id="10" name="s1-shape-8"/>
          <p:cNvSpPr/>
          <p:nvPr/>
        </p:nvSpPr>
        <p:spPr>
          <a:xfrm>
            <a:off x="487680" y="6019800"/>
            <a:ext cx="11216640" cy="518160"/>
          </a:xfrm>
          <a:prstGeom prst="roundRect">
            <a:avLst>
              <a:gd name="adj" fmla="val 26471"/>
            </a:avLst>
          </a:prstGeom>
          <a:gradFill rotWithShape="1">
            <a:gsLst>
              <a:gs pos="0">
                <a:srgbClr val="FFFFFF"/>
              </a:gs>
              <a:gs pos="55000">
                <a:srgbClr val="F6F3F0"/>
              </a:gs>
              <a:gs pos="100000">
                <a:srgbClr val="FFF7ED"/>
              </a:gs>
            </a:gsLst>
            <a:lin ang="2700000" scaled="1"/>
          </a:gradFill>
          <a:ln w="889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603F29">
                <a:alpha val="10000"/>
              </a:srgbClr>
            </a:outerShdw>
          </a:effectLst>
        </p:spPr>
      </p:sp>
      <p:sp>
        <p:nvSpPr>
          <p:cNvPr id="11" name="s1-shape-9"/>
          <p:cNvSpPr/>
          <p:nvPr/>
        </p:nvSpPr>
        <p:spPr>
          <a:xfrm>
            <a:off x="487680" y="6019800"/>
            <a:ext cx="45720" cy="51816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F7800"/>
              </a:gs>
              <a:gs pos="30000">
                <a:srgbClr val="FF5000"/>
              </a:gs>
              <a:gs pos="60000">
                <a:srgbClr val="FF2600"/>
              </a:gs>
              <a:gs pos="80000">
                <a:srgbClr val="ED1006"/>
              </a:gs>
              <a:gs pos="100000">
                <a:srgbClr val="D90404"/>
              </a:gs>
            </a:gsLst>
            <a:lin ang="0" scaled="1"/>
          </a:gra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2" name="s1-text-10"/>
          <p:cNvSpPr/>
          <p:nvPr/>
        </p:nvSpPr>
        <p:spPr>
          <a:xfrm>
            <a:off x="678180" y="6156960"/>
            <a:ext cx="10820400" cy="2819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380" b="1" dirty="0">
                <a:solidFill>
                  <a:srgbClr val="10121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内容定义页面职责，视觉帮助听众理解。</a:t>
            </a:r>
            <a:endParaRPr lang="zh-CN" sz="138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2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2-text-1"/>
          <p:cNvSpPr/>
          <p:nvPr/>
        </p:nvSpPr>
        <p:spPr>
          <a:xfrm>
            <a:off x="487680" y="266700"/>
            <a:ext cx="6096000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380" b="1" dirty="0">
                <a:solidFill>
                  <a:srgbClr val="B92A1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WARM GLASS</a:t>
            </a:r>
            <a:endParaRPr lang="zh-CN" sz="1380" dirty="0"/>
          </a:p>
        </p:txBody>
      </p:sp>
      <p:sp>
        <p:nvSpPr>
          <p:cNvPr id="4" name="s2-text-2"/>
          <p:cNvSpPr/>
          <p:nvPr/>
        </p:nvSpPr>
        <p:spPr>
          <a:xfrm>
            <a:off x="487680" y="594360"/>
            <a:ext cx="9525000" cy="2133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020" dirty="0">
                <a:solidFill>
                  <a:srgbClr val="6661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Clarity in narrative. Consistency in design.</a:t>
            </a:r>
            <a:endParaRPr lang="zh-CN" sz="1020" dirty="0"/>
          </a:p>
        </p:txBody>
      </p:sp>
      <p:sp>
        <p:nvSpPr>
          <p:cNvPr id="5" name="s2-text-3"/>
          <p:cNvSpPr/>
          <p:nvPr/>
        </p:nvSpPr>
        <p:spPr>
          <a:xfrm>
            <a:off x="11140440" y="266700"/>
            <a:ext cx="563880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ct val="110000"/>
              </a:lnSpc>
              <a:buNone/>
            </a:pPr>
            <a:r>
              <a:rPr lang="zh-CN" altLang="en-US" sz="1260" dirty="0">
                <a:solidFill>
                  <a:srgbClr val="6661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zh-CN" sz="1260" dirty="0"/>
          </a:p>
        </p:txBody>
      </p:sp>
      <p:sp>
        <p:nvSpPr>
          <p:cNvPr id="6" name="s2-text-4"/>
          <p:cNvSpPr/>
          <p:nvPr/>
        </p:nvSpPr>
        <p:spPr>
          <a:xfrm>
            <a:off x="487680" y="1584960"/>
            <a:ext cx="5943600" cy="3657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800" b="1" dirty="0">
                <a:solidFill>
                  <a:srgbClr val="B92A1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 / NARRATIVE</a:t>
            </a:r>
            <a:endParaRPr lang="zh-CN" sz="1800" dirty="0"/>
          </a:p>
        </p:txBody>
      </p:sp>
      <p:sp>
        <p:nvSpPr>
          <p:cNvPr id="7" name="s2-text-5"/>
          <p:cNvSpPr/>
          <p:nvPr/>
        </p:nvSpPr>
        <p:spPr>
          <a:xfrm>
            <a:off x="487680" y="2148840"/>
            <a:ext cx="6858000" cy="15773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3840" b="1" dirty="0">
                <a:solidFill>
                  <a:srgbClr val="10121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先形成判断，</a:t>
            </a:r>
            <a:endParaRPr lang="zh-CN" sz="3840" dirty="0"/>
          </a:p>
          <a:p>
            <a:pPr algn="l" indent="0" marL="0">
              <a:lnSpc>
                <a:spcPct val="110000"/>
              </a:lnSpc>
              <a:buNone/>
            </a:pPr>
            <a:r>
              <a:rPr lang="zh-CN" altLang="en-US" sz="3840" b="1" dirty="0">
                <a:solidFill>
                  <a:srgbClr val="10121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再展开证据</a:t>
            </a:r>
            <a:endParaRPr lang="zh-CN" sz="3840" dirty="0"/>
          </a:p>
        </p:txBody>
      </p:sp>
      <p:sp>
        <p:nvSpPr>
          <p:cNvPr id="8" name="s2-text-6"/>
          <p:cNvSpPr/>
          <p:nvPr/>
        </p:nvSpPr>
        <p:spPr>
          <a:xfrm>
            <a:off x="487680" y="3672840"/>
            <a:ext cx="6858000" cy="7924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680" dirty="0">
                <a:solidFill>
                  <a:srgbClr val="6661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让每一页承担明确的表达任务</a:t>
            </a:r>
            <a:endParaRPr lang="zh-CN" sz="1680" dirty="0"/>
          </a:p>
        </p:txBody>
      </p:sp>
      <p:pic>
        <p:nvPicPr>
          <p:cNvPr id="9" name="s2-image-7" descr="先形成判断， 再展开证据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97140" y="2180590"/>
            <a:ext cx="4168140" cy="27787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2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3-text-1"/>
          <p:cNvSpPr/>
          <p:nvPr/>
        </p:nvSpPr>
        <p:spPr>
          <a:xfrm>
            <a:off x="487680" y="266700"/>
            <a:ext cx="6096000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380" b="1" dirty="0">
                <a:solidFill>
                  <a:srgbClr val="B92A1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WARM GLASS</a:t>
            </a:r>
            <a:endParaRPr lang="zh-CN" sz="1380" dirty="0"/>
          </a:p>
        </p:txBody>
      </p:sp>
      <p:sp>
        <p:nvSpPr>
          <p:cNvPr id="4" name="s3-text-2"/>
          <p:cNvSpPr/>
          <p:nvPr/>
        </p:nvSpPr>
        <p:spPr>
          <a:xfrm>
            <a:off x="487680" y="594360"/>
            <a:ext cx="9525000" cy="2133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020" dirty="0">
                <a:solidFill>
                  <a:srgbClr val="6661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Clarity in narrative. Consistency in design.</a:t>
            </a:r>
            <a:endParaRPr lang="zh-CN" sz="1020" dirty="0"/>
          </a:p>
        </p:txBody>
      </p:sp>
      <p:sp>
        <p:nvSpPr>
          <p:cNvPr id="5" name="s3-text-3"/>
          <p:cNvSpPr/>
          <p:nvPr/>
        </p:nvSpPr>
        <p:spPr>
          <a:xfrm>
            <a:off x="11140440" y="266700"/>
            <a:ext cx="563880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ct val="110000"/>
              </a:lnSpc>
              <a:buNone/>
            </a:pPr>
            <a:r>
              <a:rPr lang="zh-CN" altLang="en-US" sz="1260" dirty="0">
                <a:solidFill>
                  <a:srgbClr val="6661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zh-CN" sz="1260" dirty="0"/>
          </a:p>
        </p:txBody>
      </p:sp>
      <p:sp>
        <p:nvSpPr>
          <p:cNvPr id="6" name="s3-text-4"/>
          <p:cNvSpPr/>
          <p:nvPr/>
        </p:nvSpPr>
        <p:spPr>
          <a:xfrm>
            <a:off x="487680" y="853440"/>
            <a:ext cx="11049000" cy="2133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endParaRPr lang="zh-CN" sz="1080" dirty="0"/>
          </a:p>
        </p:txBody>
      </p:sp>
      <p:sp>
        <p:nvSpPr>
          <p:cNvPr id="7" name="s3-text-5"/>
          <p:cNvSpPr/>
          <p:nvPr/>
        </p:nvSpPr>
        <p:spPr>
          <a:xfrm>
            <a:off x="487680" y="1150620"/>
            <a:ext cx="11216640" cy="9372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3000" b="1" dirty="0">
                <a:solidFill>
                  <a:srgbClr val="10121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从三个方面定义演示目标</a:t>
            </a:r>
            <a:endParaRPr lang="zh-CN" sz="3000" dirty="0"/>
          </a:p>
        </p:txBody>
      </p:sp>
      <p:sp>
        <p:nvSpPr>
          <p:cNvPr id="8" name="s3-text-6"/>
          <p:cNvSpPr/>
          <p:nvPr/>
        </p:nvSpPr>
        <p:spPr>
          <a:xfrm>
            <a:off x="487680" y="2065020"/>
            <a:ext cx="1121664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380" dirty="0">
                <a:solidFill>
                  <a:srgbClr val="6661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先明确听众需要做出的决定，再选择内容与版式。</a:t>
            </a:r>
            <a:endParaRPr lang="zh-CN" sz="1380" dirty="0"/>
          </a:p>
        </p:txBody>
      </p:sp>
      <p:sp>
        <p:nvSpPr>
          <p:cNvPr id="9" name="s3-shape-7"/>
          <p:cNvSpPr/>
          <p:nvPr/>
        </p:nvSpPr>
        <p:spPr>
          <a:xfrm>
            <a:off x="487680" y="2575560"/>
            <a:ext cx="3596640" cy="3032760"/>
          </a:xfrm>
          <a:prstGeom prst="roundRect">
            <a:avLst>
              <a:gd name="adj" fmla="val 5528"/>
            </a:avLst>
          </a:prstGeom>
          <a:gradFill rotWithShape="1">
            <a:gsLst>
              <a:gs pos="0">
                <a:srgbClr val="FFFFFF"/>
              </a:gs>
              <a:gs pos="55000">
                <a:srgbClr val="F6F3F0"/>
              </a:gs>
              <a:gs pos="100000">
                <a:srgbClr val="FFF7ED"/>
              </a:gs>
            </a:gsLst>
            <a:lin ang="2700000" scaled="1"/>
          </a:gradFill>
          <a:ln w="889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603F29">
                <a:alpha val="10000"/>
              </a:srgbClr>
            </a:outerShdw>
          </a:effectLst>
        </p:spPr>
      </p:sp>
      <p:sp>
        <p:nvSpPr>
          <p:cNvPr id="10" name="s3-text-8"/>
          <p:cNvSpPr/>
          <p:nvPr/>
        </p:nvSpPr>
        <p:spPr>
          <a:xfrm>
            <a:off x="693420" y="2758440"/>
            <a:ext cx="318516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740" b="1" dirty="0">
                <a:solidFill>
                  <a:srgbClr val="B92A1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zh-CN" sz="1740" dirty="0"/>
          </a:p>
        </p:txBody>
      </p:sp>
      <p:sp>
        <p:nvSpPr>
          <p:cNvPr id="11" name="s3-text-9"/>
          <p:cNvSpPr/>
          <p:nvPr/>
        </p:nvSpPr>
        <p:spPr>
          <a:xfrm>
            <a:off x="693420" y="3185160"/>
            <a:ext cx="3185160" cy="5943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740" b="1" dirty="0">
                <a:solidFill>
                  <a:srgbClr val="10121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讲清问题</a:t>
            </a:r>
            <a:endParaRPr lang="zh-CN" sz="1740" dirty="0"/>
          </a:p>
        </p:txBody>
      </p:sp>
      <p:sp>
        <p:nvSpPr>
          <p:cNvPr id="12" name="s3-line-10"/>
          <p:cNvSpPr/>
          <p:nvPr/>
        </p:nvSpPr>
        <p:spPr>
          <a:xfrm>
            <a:off x="693420" y="3886200"/>
            <a:ext cx="3185160" cy="0"/>
          </a:xfrm>
          <a:prstGeom prst="line">
            <a:avLst/>
          </a:prstGeom>
          <a:noFill/>
          <a:ln w="7620">
            <a:solidFill>
              <a:srgbClr val="E7D9D0"/>
            </a:solidFill>
            <a:prstDash val="solid"/>
          </a:ln>
        </p:spPr>
      </p:sp>
      <p:sp>
        <p:nvSpPr>
          <p:cNvPr id="13" name="s3-text-11"/>
          <p:cNvSpPr/>
          <p:nvPr/>
        </p:nvSpPr>
        <p:spPr>
          <a:xfrm>
            <a:off x="693420" y="4084320"/>
            <a:ext cx="3185160" cy="251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380" dirty="0">
                <a:solidFill>
                  <a:srgbClr val="333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当前问题发生在哪里</a:t>
            </a:r>
            <a:endParaRPr lang="zh-CN" sz="1380" dirty="0"/>
          </a:p>
        </p:txBody>
      </p:sp>
      <p:sp>
        <p:nvSpPr>
          <p:cNvPr id="14" name="s3-text-12"/>
          <p:cNvSpPr/>
          <p:nvPr/>
        </p:nvSpPr>
        <p:spPr>
          <a:xfrm>
            <a:off x="693420" y="4442460"/>
            <a:ext cx="3185160" cy="251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380" dirty="0">
                <a:solidFill>
                  <a:srgbClr val="333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为什么值得现在处理</a:t>
            </a:r>
            <a:endParaRPr lang="zh-CN" sz="1380" dirty="0"/>
          </a:p>
        </p:txBody>
      </p:sp>
      <p:sp>
        <p:nvSpPr>
          <p:cNvPr id="15" name="s3-shape-13"/>
          <p:cNvSpPr/>
          <p:nvPr/>
        </p:nvSpPr>
        <p:spPr>
          <a:xfrm>
            <a:off x="4297680" y="2575560"/>
            <a:ext cx="3596640" cy="3032760"/>
          </a:xfrm>
          <a:prstGeom prst="roundRect">
            <a:avLst>
              <a:gd name="adj" fmla="val 5528"/>
            </a:avLst>
          </a:prstGeom>
          <a:gradFill rotWithShape="1">
            <a:gsLst>
              <a:gs pos="0">
                <a:srgbClr val="FFFFFF"/>
              </a:gs>
              <a:gs pos="55000">
                <a:srgbClr val="F6F3F0"/>
              </a:gs>
              <a:gs pos="100000">
                <a:srgbClr val="FFF7ED"/>
              </a:gs>
            </a:gsLst>
            <a:lin ang="2700000" scaled="1"/>
          </a:gradFill>
          <a:ln w="889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603F29">
                <a:alpha val="10000"/>
              </a:srgbClr>
            </a:outerShdw>
          </a:effectLst>
        </p:spPr>
      </p:sp>
      <p:sp>
        <p:nvSpPr>
          <p:cNvPr id="16" name="s3-text-14"/>
          <p:cNvSpPr/>
          <p:nvPr/>
        </p:nvSpPr>
        <p:spPr>
          <a:xfrm>
            <a:off x="4503420" y="2758440"/>
            <a:ext cx="318516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740" b="1" dirty="0">
                <a:solidFill>
                  <a:srgbClr val="B92A1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zh-CN" sz="1740" dirty="0"/>
          </a:p>
        </p:txBody>
      </p:sp>
      <p:sp>
        <p:nvSpPr>
          <p:cNvPr id="17" name="s3-text-15"/>
          <p:cNvSpPr/>
          <p:nvPr/>
        </p:nvSpPr>
        <p:spPr>
          <a:xfrm>
            <a:off x="4503420" y="3185160"/>
            <a:ext cx="3185160" cy="5943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740" b="1" dirty="0">
                <a:solidFill>
                  <a:srgbClr val="10121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说明方法</a:t>
            </a:r>
            <a:endParaRPr lang="zh-CN" sz="1740" dirty="0"/>
          </a:p>
        </p:txBody>
      </p:sp>
      <p:sp>
        <p:nvSpPr>
          <p:cNvPr id="18" name="s3-line-16"/>
          <p:cNvSpPr/>
          <p:nvPr/>
        </p:nvSpPr>
        <p:spPr>
          <a:xfrm>
            <a:off x="4503420" y="3886200"/>
            <a:ext cx="3185160" cy="0"/>
          </a:xfrm>
          <a:prstGeom prst="line">
            <a:avLst/>
          </a:prstGeom>
          <a:noFill/>
          <a:ln w="7620">
            <a:solidFill>
              <a:srgbClr val="E7D9D0"/>
            </a:solidFill>
            <a:prstDash val="solid"/>
          </a:ln>
        </p:spPr>
      </p:sp>
      <p:sp>
        <p:nvSpPr>
          <p:cNvPr id="19" name="s3-text-17"/>
          <p:cNvSpPr/>
          <p:nvPr/>
        </p:nvSpPr>
        <p:spPr>
          <a:xfrm>
            <a:off x="4503420" y="4084320"/>
            <a:ext cx="3185160" cy="251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380" dirty="0">
                <a:solidFill>
                  <a:srgbClr val="333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工作如何推进</a:t>
            </a:r>
            <a:endParaRPr lang="zh-CN" sz="1380" dirty="0"/>
          </a:p>
        </p:txBody>
      </p:sp>
      <p:sp>
        <p:nvSpPr>
          <p:cNvPr id="20" name="s3-text-18"/>
          <p:cNvSpPr/>
          <p:nvPr/>
        </p:nvSpPr>
        <p:spPr>
          <a:xfrm>
            <a:off x="4503420" y="4442460"/>
            <a:ext cx="3185160" cy="251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380" dirty="0">
                <a:solidFill>
                  <a:srgbClr val="333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哪些条件决定可行性</a:t>
            </a:r>
            <a:endParaRPr lang="zh-CN" sz="1380" dirty="0"/>
          </a:p>
        </p:txBody>
      </p:sp>
      <p:sp>
        <p:nvSpPr>
          <p:cNvPr id="21" name="s3-shape-19"/>
          <p:cNvSpPr/>
          <p:nvPr/>
        </p:nvSpPr>
        <p:spPr>
          <a:xfrm>
            <a:off x="8107680" y="2575560"/>
            <a:ext cx="3596640" cy="3032760"/>
          </a:xfrm>
          <a:prstGeom prst="roundRect">
            <a:avLst>
              <a:gd name="adj" fmla="val 5528"/>
            </a:avLst>
          </a:prstGeom>
          <a:gradFill rotWithShape="1">
            <a:gsLst>
              <a:gs pos="0">
                <a:srgbClr val="FFFFFF"/>
              </a:gs>
              <a:gs pos="55000">
                <a:srgbClr val="F6F3F0"/>
              </a:gs>
              <a:gs pos="100000">
                <a:srgbClr val="FFF7ED"/>
              </a:gs>
            </a:gsLst>
            <a:lin ang="2700000" scaled="1"/>
          </a:gradFill>
          <a:ln w="889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603F29">
                <a:alpha val="10000"/>
              </a:srgbClr>
            </a:outerShdw>
          </a:effectLst>
        </p:spPr>
      </p:sp>
      <p:sp>
        <p:nvSpPr>
          <p:cNvPr id="22" name="s3-text-20"/>
          <p:cNvSpPr/>
          <p:nvPr/>
        </p:nvSpPr>
        <p:spPr>
          <a:xfrm>
            <a:off x="8313420" y="2758440"/>
            <a:ext cx="318516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740" b="1" dirty="0">
                <a:solidFill>
                  <a:srgbClr val="B92A1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zh-CN" sz="1740" dirty="0"/>
          </a:p>
        </p:txBody>
      </p:sp>
      <p:sp>
        <p:nvSpPr>
          <p:cNvPr id="23" name="s3-text-21"/>
          <p:cNvSpPr/>
          <p:nvPr/>
        </p:nvSpPr>
        <p:spPr>
          <a:xfrm>
            <a:off x="8313420" y="3185160"/>
            <a:ext cx="3185160" cy="5943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740" b="1" dirty="0">
                <a:solidFill>
                  <a:srgbClr val="10121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支持行动</a:t>
            </a:r>
            <a:endParaRPr lang="zh-CN" sz="1740" dirty="0"/>
          </a:p>
        </p:txBody>
      </p:sp>
      <p:sp>
        <p:nvSpPr>
          <p:cNvPr id="24" name="s3-line-22"/>
          <p:cNvSpPr/>
          <p:nvPr/>
        </p:nvSpPr>
        <p:spPr>
          <a:xfrm>
            <a:off x="8313420" y="3886200"/>
            <a:ext cx="3185160" cy="0"/>
          </a:xfrm>
          <a:prstGeom prst="line">
            <a:avLst/>
          </a:prstGeom>
          <a:noFill/>
          <a:ln w="7620">
            <a:solidFill>
              <a:srgbClr val="E7D9D0"/>
            </a:solidFill>
            <a:prstDash val="solid"/>
          </a:ln>
        </p:spPr>
      </p:sp>
      <p:sp>
        <p:nvSpPr>
          <p:cNvPr id="25" name="s3-text-23"/>
          <p:cNvSpPr/>
          <p:nvPr/>
        </p:nvSpPr>
        <p:spPr>
          <a:xfrm>
            <a:off x="8313420" y="4084320"/>
            <a:ext cx="3185160" cy="251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380" dirty="0">
                <a:solidFill>
                  <a:srgbClr val="333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已经掌握哪些证据</a:t>
            </a:r>
            <a:endParaRPr lang="zh-CN" sz="1380" dirty="0"/>
          </a:p>
        </p:txBody>
      </p:sp>
      <p:sp>
        <p:nvSpPr>
          <p:cNvPr id="26" name="s3-text-24"/>
          <p:cNvSpPr/>
          <p:nvPr/>
        </p:nvSpPr>
        <p:spPr>
          <a:xfrm>
            <a:off x="8313420" y="4442460"/>
            <a:ext cx="3185160" cy="251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380" dirty="0">
                <a:solidFill>
                  <a:srgbClr val="333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下一步由谁负责</a:t>
            </a:r>
            <a:endParaRPr lang="zh-CN" sz="1380" dirty="0"/>
          </a:p>
        </p:txBody>
      </p:sp>
      <p:sp>
        <p:nvSpPr>
          <p:cNvPr id="27" name="s3-shape-25"/>
          <p:cNvSpPr/>
          <p:nvPr/>
        </p:nvSpPr>
        <p:spPr>
          <a:xfrm>
            <a:off x="487680" y="6019800"/>
            <a:ext cx="11216640" cy="518160"/>
          </a:xfrm>
          <a:prstGeom prst="roundRect">
            <a:avLst>
              <a:gd name="adj" fmla="val 26471"/>
            </a:avLst>
          </a:prstGeom>
          <a:gradFill rotWithShape="1">
            <a:gsLst>
              <a:gs pos="0">
                <a:srgbClr val="FFFFFF"/>
              </a:gs>
              <a:gs pos="55000">
                <a:srgbClr val="F6F3F0"/>
              </a:gs>
              <a:gs pos="100000">
                <a:srgbClr val="FFF7ED"/>
              </a:gs>
            </a:gsLst>
            <a:lin ang="2700000" scaled="1"/>
          </a:gradFill>
          <a:ln w="889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603F29">
                <a:alpha val="10000"/>
              </a:srgbClr>
            </a:outerShdw>
          </a:effectLst>
        </p:spPr>
      </p:sp>
      <p:sp>
        <p:nvSpPr>
          <p:cNvPr id="28" name="s3-shape-26"/>
          <p:cNvSpPr/>
          <p:nvPr/>
        </p:nvSpPr>
        <p:spPr>
          <a:xfrm>
            <a:off x="487680" y="6019800"/>
            <a:ext cx="45720" cy="51816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F7800"/>
              </a:gs>
              <a:gs pos="30000">
                <a:srgbClr val="FF5000"/>
              </a:gs>
              <a:gs pos="60000">
                <a:srgbClr val="FF2600"/>
              </a:gs>
              <a:gs pos="80000">
                <a:srgbClr val="ED1006"/>
              </a:gs>
              <a:gs pos="100000">
                <a:srgbClr val="D90404"/>
              </a:gs>
            </a:gsLst>
            <a:lin ang="0" scaled="1"/>
          </a:gra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9" name="s3-text-27"/>
          <p:cNvSpPr/>
          <p:nvPr/>
        </p:nvSpPr>
        <p:spPr>
          <a:xfrm>
            <a:off x="678180" y="6156960"/>
            <a:ext cx="10820400" cy="2819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380" b="1" dirty="0">
                <a:solidFill>
                  <a:srgbClr val="10121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一页一个主要判断，让论据服务于判断。</a:t>
            </a:r>
            <a:endParaRPr lang="zh-CN" sz="138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2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4-text-1"/>
          <p:cNvSpPr/>
          <p:nvPr/>
        </p:nvSpPr>
        <p:spPr>
          <a:xfrm>
            <a:off x="487680" y="266700"/>
            <a:ext cx="6096000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380" b="1" dirty="0">
                <a:solidFill>
                  <a:srgbClr val="B92A1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WARM GLASS</a:t>
            </a:r>
            <a:endParaRPr lang="zh-CN" sz="1380" dirty="0"/>
          </a:p>
        </p:txBody>
      </p:sp>
      <p:sp>
        <p:nvSpPr>
          <p:cNvPr id="4" name="s4-text-2"/>
          <p:cNvSpPr/>
          <p:nvPr/>
        </p:nvSpPr>
        <p:spPr>
          <a:xfrm>
            <a:off x="487680" y="594360"/>
            <a:ext cx="9525000" cy="2133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020" dirty="0">
                <a:solidFill>
                  <a:srgbClr val="6661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Clarity in narrative. Consistency in design.</a:t>
            </a:r>
            <a:endParaRPr lang="zh-CN" sz="1020" dirty="0"/>
          </a:p>
        </p:txBody>
      </p:sp>
      <p:sp>
        <p:nvSpPr>
          <p:cNvPr id="5" name="s4-text-3"/>
          <p:cNvSpPr/>
          <p:nvPr/>
        </p:nvSpPr>
        <p:spPr>
          <a:xfrm>
            <a:off x="11140440" y="266700"/>
            <a:ext cx="563880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ct val="110000"/>
              </a:lnSpc>
              <a:buNone/>
            </a:pPr>
            <a:r>
              <a:rPr lang="zh-CN" altLang="en-US" sz="1260" dirty="0">
                <a:solidFill>
                  <a:srgbClr val="6661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zh-CN" sz="1260" dirty="0"/>
          </a:p>
        </p:txBody>
      </p:sp>
      <p:sp>
        <p:nvSpPr>
          <p:cNvPr id="6" name="s4-text-4"/>
          <p:cNvSpPr/>
          <p:nvPr/>
        </p:nvSpPr>
        <p:spPr>
          <a:xfrm>
            <a:off x="487680" y="853440"/>
            <a:ext cx="11049000" cy="2133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endParaRPr lang="zh-CN" sz="1080" dirty="0"/>
          </a:p>
        </p:txBody>
      </p:sp>
      <p:sp>
        <p:nvSpPr>
          <p:cNvPr id="7" name="s4-text-5"/>
          <p:cNvSpPr/>
          <p:nvPr/>
        </p:nvSpPr>
        <p:spPr>
          <a:xfrm>
            <a:off x="487680" y="1150620"/>
            <a:ext cx="11216640" cy="9372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3000" b="1" dirty="0">
                <a:solidFill>
                  <a:srgbClr val="10121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将零散材料整理成连贯叙事</a:t>
            </a:r>
            <a:endParaRPr lang="zh-CN" sz="3000" dirty="0"/>
          </a:p>
        </p:txBody>
      </p:sp>
      <p:sp>
        <p:nvSpPr>
          <p:cNvPr id="8" name="s4-shape-6"/>
          <p:cNvSpPr/>
          <p:nvPr/>
        </p:nvSpPr>
        <p:spPr>
          <a:xfrm>
            <a:off x="487680" y="2575560"/>
            <a:ext cx="5501640" cy="3032760"/>
          </a:xfrm>
          <a:prstGeom prst="roundRect">
            <a:avLst>
              <a:gd name="adj" fmla="val 5528"/>
            </a:avLst>
          </a:prstGeom>
          <a:gradFill rotWithShape="1">
            <a:gsLst>
              <a:gs pos="0">
                <a:srgbClr val="FFFFFF"/>
              </a:gs>
              <a:gs pos="55000">
                <a:srgbClr val="F6F3F0"/>
              </a:gs>
              <a:gs pos="100000">
                <a:srgbClr val="FFF7ED"/>
              </a:gs>
            </a:gsLst>
            <a:lin ang="2700000" scaled="1"/>
          </a:gradFill>
          <a:ln w="889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603F29">
                <a:alpha val="10000"/>
              </a:srgbClr>
            </a:outerShdw>
          </a:effectLst>
        </p:spPr>
      </p:sp>
      <p:sp>
        <p:nvSpPr>
          <p:cNvPr id="9" name="s4-text-7"/>
          <p:cNvSpPr/>
          <p:nvPr/>
        </p:nvSpPr>
        <p:spPr>
          <a:xfrm>
            <a:off x="693420" y="2758440"/>
            <a:ext cx="509016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740" b="1" dirty="0">
                <a:solidFill>
                  <a:srgbClr val="B92A1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zh-CN" sz="1740" dirty="0"/>
          </a:p>
        </p:txBody>
      </p:sp>
      <p:sp>
        <p:nvSpPr>
          <p:cNvPr id="10" name="s4-text-8"/>
          <p:cNvSpPr/>
          <p:nvPr/>
        </p:nvSpPr>
        <p:spPr>
          <a:xfrm>
            <a:off x="693420" y="3185160"/>
            <a:ext cx="5090160" cy="5943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740" b="1" dirty="0">
                <a:solidFill>
                  <a:srgbClr val="10121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材料的组织方式</a:t>
            </a:r>
            <a:endParaRPr lang="zh-CN" sz="1740" dirty="0"/>
          </a:p>
        </p:txBody>
      </p:sp>
      <p:sp>
        <p:nvSpPr>
          <p:cNvPr id="11" name="s4-line-9"/>
          <p:cNvSpPr/>
          <p:nvPr/>
        </p:nvSpPr>
        <p:spPr>
          <a:xfrm>
            <a:off x="693420" y="3886200"/>
            <a:ext cx="5090160" cy="0"/>
          </a:xfrm>
          <a:prstGeom prst="line">
            <a:avLst/>
          </a:prstGeom>
          <a:noFill/>
          <a:ln w="7620">
            <a:solidFill>
              <a:srgbClr val="E7D9D0"/>
            </a:solidFill>
            <a:prstDash val="solid"/>
          </a:ln>
        </p:spPr>
      </p:sp>
      <p:sp>
        <p:nvSpPr>
          <p:cNvPr id="12" name="s4-text-10"/>
          <p:cNvSpPr/>
          <p:nvPr/>
        </p:nvSpPr>
        <p:spPr>
          <a:xfrm>
            <a:off x="693420" y="4084320"/>
            <a:ext cx="5090160" cy="251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380" dirty="0">
                <a:solidFill>
                  <a:srgbClr val="333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按时间堆叠记录</a:t>
            </a:r>
            <a:endParaRPr lang="zh-CN" sz="1380" dirty="0"/>
          </a:p>
        </p:txBody>
      </p:sp>
      <p:sp>
        <p:nvSpPr>
          <p:cNvPr id="13" name="s4-text-11"/>
          <p:cNvSpPr/>
          <p:nvPr/>
        </p:nvSpPr>
        <p:spPr>
          <a:xfrm>
            <a:off x="693420" y="4442460"/>
            <a:ext cx="5090160" cy="251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380" dirty="0">
                <a:solidFill>
                  <a:srgbClr val="333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每页都包含相似结论</a:t>
            </a:r>
            <a:endParaRPr lang="zh-CN" sz="1380" dirty="0"/>
          </a:p>
        </p:txBody>
      </p:sp>
      <p:sp>
        <p:nvSpPr>
          <p:cNvPr id="14" name="s4-text-12"/>
          <p:cNvSpPr/>
          <p:nvPr/>
        </p:nvSpPr>
        <p:spPr>
          <a:xfrm>
            <a:off x="693420" y="4800600"/>
            <a:ext cx="5090160" cy="251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380" dirty="0">
                <a:solidFill>
                  <a:srgbClr val="333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细节与判断混在一起</a:t>
            </a:r>
            <a:endParaRPr lang="zh-CN" sz="1380" dirty="0"/>
          </a:p>
        </p:txBody>
      </p:sp>
      <p:sp>
        <p:nvSpPr>
          <p:cNvPr id="15" name="s4-shape-13"/>
          <p:cNvSpPr/>
          <p:nvPr/>
        </p:nvSpPr>
        <p:spPr>
          <a:xfrm>
            <a:off x="6202680" y="2575560"/>
            <a:ext cx="5501640" cy="3032760"/>
          </a:xfrm>
          <a:prstGeom prst="roundRect">
            <a:avLst>
              <a:gd name="adj" fmla="val 5528"/>
            </a:avLst>
          </a:prstGeom>
          <a:gradFill rotWithShape="1">
            <a:gsLst>
              <a:gs pos="0">
                <a:srgbClr val="FFFFFF"/>
              </a:gs>
              <a:gs pos="55000">
                <a:srgbClr val="F6F3F0"/>
              </a:gs>
              <a:gs pos="100000">
                <a:srgbClr val="FFF7ED"/>
              </a:gs>
            </a:gsLst>
            <a:lin ang="2700000" scaled="1"/>
          </a:gradFill>
          <a:ln w="889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603F29">
                <a:alpha val="10000"/>
              </a:srgbClr>
            </a:outerShdw>
          </a:effectLst>
        </p:spPr>
      </p:sp>
      <p:sp>
        <p:nvSpPr>
          <p:cNvPr id="16" name="s4-text-14"/>
          <p:cNvSpPr/>
          <p:nvPr/>
        </p:nvSpPr>
        <p:spPr>
          <a:xfrm>
            <a:off x="6408420" y="2758440"/>
            <a:ext cx="509016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740" b="1" dirty="0">
                <a:solidFill>
                  <a:srgbClr val="B92A1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zh-CN" sz="1740" dirty="0"/>
          </a:p>
        </p:txBody>
      </p:sp>
      <p:sp>
        <p:nvSpPr>
          <p:cNvPr id="17" name="s4-text-15"/>
          <p:cNvSpPr/>
          <p:nvPr/>
        </p:nvSpPr>
        <p:spPr>
          <a:xfrm>
            <a:off x="6408420" y="3185160"/>
            <a:ext cx="5090160" cy="5943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740" b="1" dirty="0">
                <a:solidFill>
                  <a:srgbClr val="10121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面向听众的表达</a:t>
            </a:r>
            <a:endParaRPr lang="zh-CN" sz="1740" dirty="0"/>
          </a:p>
        </p:txBody>
      </p:sp>
      <p:sp>
        <p:nvSpPr>
          <p:cNvPr id="18" name="s4-line-16"/>
          <p:cNvSpPr/>
          <p:nvPr/>
        </p:nvSpPr>
        <p:spPr>
          <a:xfrm>
            <a:off x="6408420" y="3886200"/>
            <a:ext cx="5090160" cy="0"/>
          </a:xfrm>
          <a:prstGeom prst="line">
            <a:avLst/>
          </a:prstGeom>
          <a:noFill/>
          <a:ln w="7620">
            <a:solidFill>
              <a:srgbClr val="E7D9D0"/>
            </a:solidFill>
            <a:prstDash val="solid"/>
          </a:ln>
        </p:spPr>
      </p:sp>
      <p:sp>
        <p:nvSpPr>
          <p:cNvPr id="19" name="s4-text-17"/>
          <p:cNvSpPr/>
          <p:nvPr/>
        </p:nvSpPr>
        <p:spPr>
          <a:xfrm>
            <a:off x="6408420" y="4084320"/>
            <a:ext cx="5090160" cy="251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380" dirty="0">
                <a:solidFill>
                  <a:srgbClr val="333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按问题组织内容</a:t>
            </a:r>
            <a:endParaRPr lang="zh-CN" sz="1380" dirty="0"/>
          </a:p>
        </p:txBody>
      </p:sp>
      <p:sp>
        <p:nvSpPr>
          <p:cNvPr id="20" name="s4-text-18"/>
          <p:cNvSpPr/>
          <p:nvPr/>
        </p:nvSpPr>
        <p:spPr>
          <a:xfrm>
            <a:off x="6408420" y="4442460"/>
            <a:ext cx="5090160" cy="251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380" dirty="0">
                <a:solidFill>
                  <a:srgbClr val="333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为每个事实分配主要页面</a:t>
            </a:r>
            <a:endParaRPr lang="zh-CN" sz="1380" dirty="0"/>
          </a:p>
        </p:txBody>
      </p:sp>
      <p:sp>
        <p:nvSpPr>
          <p:cNvPr id="21" name="s4-text-19"/>
          <p:cNvSpPr/>
          <p:nvPr/>
        </p:nvSpPr>
        <p:spPr>
          <a:xfrm>
            <a:off x="6408420" y="4800600"/>
            <a:ext cx="5090160" cy="251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380" dirty="0">
                <a:solidFill>
                  <a:srgbClr val="333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说明事实如何支持决定</a:t>
            </a:r>
            <a:endParaRPr lang="zh-CN" sz="1380" dirty="0"/>
          </a:p>
        </p:txBody>
      </p:sp>
      <p:sp>
        <p:nvSpPr>
          <p:cNvPr id="22" name="s4-shape-20"/>
          <p:cNvSpPr/>
          <p:nvPr/>
        </p:nvSpPr>
        <p:spPr>
          <a:xfrm>
            <a:off x="487680" y="6019800"/>
            <a:ext cx="11216640" cy="518160"/>
          </a:xfrm>
          <a:prstGeom prst="roundRect">
            <a:avLst>
              <a:gd name="adj" fmla="val 26471"/>
            </a:avLst>
          </a:prstGeom>
          <a:gradFill rotWithShape="1">
            <a:gsLst>
              <a:gs pos="0">
                <a:srgbClr val="FFFFFF"/>
              </a:gs>
              <a:gs pos="55000">
                <a:srgbClr val="F6F3F0"/>
              </a:gs>
              <a:gs pos="100000">
                <a:srgbClr val="FFF7ED"/>
              </a:gs>
            </a:gsLst>
            <a:lin ang="2700000" scaled="1"/>
          </a:gradFill>
          <a:ln w="889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603F29">
                <a:alpha val="10000"/>
              </a:srgbClr>
            </a:outerShdw>
          </a:effectLst>
        </p:spPr>
      </p:sp>
      <p:sp>
        <p:nvSpPr>
          <p:cNvPr id="23" name="s4-shape-21"/>
          <p:cNvSpPr/>
          <p:nvPr/>
        </p:nvSpPr>
        <p:spPr>
          <a:xfrm>
            <a:off x="487680" y="6019800"/>
            <a:ext cx="45720" cy="51816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F7800"/>
              </a:gs>
              <a:gs pos="30000">
                <a:srgbClr val="FF5000"/>
              </a:gs>
              <a:gs pos="60000">
                <a:srgbClr val="FF2600"/>
              </a:gs>
              <a:gs pos="80000">
                <a:srgbClr val="ED1006"/>
              </a:gs>
              <a:gs pos="100000">
                <a:srgbClr val="D90404"/>
              </a:gs>
            </a:gsLst>
            <a:lin ang="0" scaled="1"/>
          </a:gra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4" name="s4-text-22"/>
          <p:cNvSpPr/>
          <p:nvPr/>
        </p:nvSpPr>
        <p:spPr>
          <a:xfrm>
            <a:off x="678180" y="6156960"/>
            <a:ext cx="10820400" cy="2819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380" b="1" dirty="0">
                <a:solidFill>
                  <a:srgbClr val="10121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相邻页面之间的推进关系，需要和单页内容一起检查。</a:t>
            </a:r>
            <a:endParaRPr lang="zh-CN" sz="138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2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5-text-1"/>
          <p:cNvSpPr/>
          <p:nvPr/>
        </p:nvSpPr>
        <p:spPr>
          <a:xfrm>
            <a:off x="487680" y="266700"/>
            <a:ext cx="6096000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380" b="1" dirty="0">
                <a:solidFill>
                  <a:srgbClr val="B92A1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WARM GLASS</a:t>
            </a:r>
            <a:endParaRPr lang="zh-CN" sz="1380" dirty="0"/>
          </a:p>
        </p:txBody>
      </p:sp>
      <p:sp>
        <p:nvSpPr>
          <p:cNvPr id="4" name="s5-text-2"/>
          <p:cNvSpPr/>
          <p:nvPr/>
        </p:nvSpPr>
        <p:spPr>
          <a:xfrm>
            <a:off x="487680" y="594360"/>
            <a:ext cx="9525000" cy="2133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020" dirty="0">
                <a:solidFill>
                  <a:srgbClr val="6661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Clarity in narrative. Consistency in design.</a:t>
            </a:r>
            <a:endParaRPr lang="zh-CN" sz="1020" dirty="0"/>
          </a:p>
        </p:txBody>
      </p:sp>
      <p:sp>
        <p:nvSpPr>
          <p:cNvPr id="5" name="s5-text-3"/>
          <p:cNvSpPr/>
          <p:nvPr/>
        </p:nvSpPr>
        <p:spPr>
          <a:xfrm>
            <a:off x="11140440" y="266700"/>
            <a:ext cx="563880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ct val="110000"/>
              </a:lnSpc>
              <a:buNone/>
            </a:pPr>
            <a:r>
              <a:rPr lang="zh-CN" altLang="en-US" sz="1260" dirty="0">
                <a:solidFill>
                  <a:srgbClr val="6661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zh-CN" sz="1260" dirty="0"/>
          </a:p>
        </p:txBody>
      </p:sp>
      <p:sp>
        <p:nvSpPr>
          <p:cNvPr id="6" name="s5-text-4"/>
          <p:cNvSpPr/>
          <p:nvPr/>
        </p:nvSpPr>
        <p:spPr>
          <a:xfrm>
            <a:off x="487680" y="853440"/>
            <a:ext cx="11049000" cy="2133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endParaRPr lang="zh-CN" sz="1080" dirty="0"/>
          </a:p>
        </p:txBody>
      </p:sp>
      <p:sp>
        <p:nvSpPr>
          <p:cNvPr id="7" name="s5-text-5"/>
          <p:cNvSpPr/>
          <p:nvPr/>
        </p:nvSpPr>
        <p:spPr>
          <a:xfrm>
            <a:off x="487680" y="1150620"/>
            <a:ext cx="11216640" cy="9372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3000" b="1" dirty="0">
                <a:solidFill>
                  <a:srgbClr val="10121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从输入到交付的五个步骤</a:t>
            </a:r>
            <a:endParaRPr lang="zh-CN" sz="3000" dirty="0"/>
          </a:p>
        </p:txBody>
      </p:sp>
      <p:sp>
        <p:nvSpPr>
          <p:cNvPr id="8" name="s5-arrow-6"/>
          <p:cNvSpPr/>
          <p:nvPr/>
        </p:nvSpPr>
        <p:spPr>
          <a:xfrm>
            <a:off x="1937004" y="3337560"/>
            <a:ext cx="1588008" cy="76200"/>
          </a:xfrm>
          <a:prstGeom prst="rightArrow">
            <a:avLst/>
          </a:prstGeom>
          <a:solidFill>
            <a:srgbClr val="FF3D12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9" name="s5-shape-7"/>
          <p:cNvSpPr/>
          <p:nvPr/>
        </p:nvSpPr>
        <p:spPr>
          <a:xfrm>
            <a:off x="1312164" y="3078480"/>
            <a:ext cx="594360" cy="594360"/>
          </a:xfrm>
          <a:prstGeom prst="roundRect">
            <a:avLst>
              <a:gd name="adj" fmla="val 50000"/>
            </a:avLst>
          </a:prstGeom>
          <a:solidFill>
            <a:srgbClr val="131313"/>
          </a:solidFill>
          <a:ln w="889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603F29">
                <a:alpha val="10000"/>
              </a:srgbClr>
            </a:outerShdw>
          </a:effectLst>
        </p:spPr>
      </p:sp>
      <p:sp>
        <p:nvSpPr>
          <p:cNvPr id="10" name="s5-text-8"/>
          <p:cNvSpPr/>
          <p:nvPr/>
        </p:nvSpPr>
        <p:spPr>
          <a:xfrm>
            <a:off x="1380744" y="3185160"/>
            <a:ext cx="457200" cy="3733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zh-CN" altLang="en-US" sz="186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zh-CN" sz="1860" dirty="0"/>
          </a:p>
        </p:txBody>
      </p:sp>
      <p:sp>
        <p:nvSpPr>
          <p:cNvPr id="11" name="s5-text-9"/>
          <p:cNvSpPr/>
          <p:nvPr/>
        </p:nvSpPr>
        <p:spPr>
          <a:xfrm>
            <a:off x="563880" y="3893820"/>
            <a:ext cx="2090928" cy="609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zh-CN" altLang="en-US" sz="1740" b="1" dirty="0">
                <a:solidFill>
                  <a:srgbClr val="10121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读懂材料</a:t>
            </a:r>
            <a:endParaRPr lang="zh-CN" sz="1740" dirty="0"/>
          </a:p>
        </p:txBody>
      </p:sp>
      <p:sp>
        <p:nvSpPr>
          <p:cNvPr id="12" name="s5-text-10"/>
          <p:cNvSpPr/>
          <p:nvPr/>
        </p:nvSpPr>
        <p:spPr>
          <a:xfrm>
            <a:off x="601980" y="4655820"/>
            <a:ext cx="2014728" cy="7772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zh-CN" altLang="en-US" sz="1380" dirty="0">
                <a:solidFill>
                  <a:srgbClr val="6661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识别事实、限制与缺口</a:t>
            </a:r>
            <a:endParaRPr lang="zh-CN" sz="1380" dirty="0"/>
          </a:p>
        </p:txBody>
      </p:sp>
      <p:sp>
        <p:nvSpPr>
          <p:cNvPr id="13" name="s5-arrow-11"/>
          <p:cNvSpPr/>
          <p:nvPr/>
        </p:nvSpPr>
        <p:spPr>
          <a:xfrm>
            <a:off x="4180332" y="3337560"/>
            <a:ext cx="1588008" cy="76200"/>
          </a:xfrm>
          <a:prstGeom prst="rightArrow">
            <a:avLst/>
          </a:prstGeom>
          <a:solidFill>
            <a:srgbClr val="FF3D12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4" name="s5-shape-12"/>
          <p:cNvSpPr/>
          <p:nvPr/>
        </p:nvSpPr>
        <p:spPr>
          <a:xfrm>
            <a:off x="3555492" y="3078480"/>
            <a:ext cx="594360" cy="594360"/>
          </a:xfrm>
          <a:prstGeom prst="roundRect">
            <a:avLst>
              <a:gd name="adj" fmla="val 50000"/>
            </a:avLst>
          </a:prstGeom>
          <a:solidFill>
            <a:srgbClr val="131313"/>
          </a:solidFill>
          <a:ln w="889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603F29">
                <a:alpha val="10000"/>
              </a:srgbClr>
            </a:outerShdw>
          </a:effectLst>
        </p:spPr>
      </p:sp>
      <p:sp>
        <p:nvSpPr>
          <p:cNvPr id="15" name="s5-text-13"/>
          <p:cNvSpPr/>
          <p:nvPr/>
        </p:nvSpPr>
        <p:spPr>
          <a:xfrm>
            <a:off x="3624072" y="3185160"/>
            <a:ext cx="457200" cy="3733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zh-CN" altLang="en-US" sz="186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zh-CN" sz="1860" dirty="0"/>
          </a:p>
        </p:txBody>
      </p:sp>
      <p:sp>
        <p:nvSpPr>
          <p:cNvPr id="16" name="s5-text-14"/>
          <p:cNvSpPr/>
          <p:nvPr/>
        </p:nvSpPr>
        <p:spPr>
          <a:xfrm>
            <a:off x="2807208" y="3893820"/>
            <a:ext cx="2090928" cy="609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zh-CN" altLang="en-US" sz="1740" b="1" dirty="0">
                <a:solidFill>
                  <a:srgbClr val="10121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组织叙事</a:t>
            </a:r>
            <a:endParaRPr lang="zh-CN" sz="1740" dirty="0"/>
          </a:p>
        </p:txBody>
      </p:sp>
      <p:sp>
        <p:nvSpPr>
          <p:cNvPr id="17" name="s5-text-15"/>
          <p:cNvSpPr/>
          <p:nvPr/>
        </p:nvSpPr>
        <p:spPr>
          <a:xfrm>
            <a:off x="2845308" y="4655820"/>
            <a:ext cx="2014728" cy="7772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zh-CN" altLang="en-US" sz="1380" dirty="0">
                <a:solidFill>
                  <a:srgbClr val="6661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明确页面职责与过渡</a:t>
            </a:r>
            <a:endParaRPr lang="zh-CN" sz="1380" dirty="0"/>
          </a:p>
        </p:txBody>
      </p:sp>
      <p:sp>
        <p:nvSpPr>
          <p:cNvPr id="18" name="s5-arrow-16"/>
          <p:cNvSpPr/>
          <p:nvPr/>
        </p:nvSpPr>
        <p:spPr>
          <a:xfrm>
            <a:off x="6423660" y="3337560"/>
            <a:ext cx="1588008" cy="76200"/>
          </a:xfrm>
          <a:prstGeom prst="rightArrow">
            <a:avLst/>
          </a:prstGeom>
          <a:solidFill>
            <a:srgbClr val="FF3D12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9" name="s5-shape-17"/>
          <p:cNvSpPr/>
          <p:nvPr/>
        </p:nvSpPr>
        <p:spPr>
          <a:xfrm>
            <a:off x="5798820" y="3078480"/>
            <a:ext cx="594360" cy="594360"/>
          </a:xfrm>
          <a:prstGeom prst="roundRect">
            <a:avLst>
              <a:gd name="adj" fmla="val 50000"/>
            </a:avLst>
          </a:prstGeom>
          <a:solidFill>
            <a:srgbClr val="131313"/>
          </a:solidFill>
          <a:ln w="889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603F29">
                <a:alpha val="10000"/>
              </a:srgbClr>
            </a:outerShdw>
          </a:effectLst>
        </p:spPr>
      </p:sp>
      <p:sp>
        <p:nvSpPr>
          <p:cNvPr id="20" name="s5-text-18"/>
          <p:cNvSpPr/>
          <p:nvPr/>
        </p:nvSpPr>
        <p:spPr>
          <a:xfrm>
            <a:off x="5867400" y="3185160"/>
            <a:ext cx="457200" cy="3733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zh-CN" altLang="en-US" sz="186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zh-CN" sz="1860" dirty="0"/>
          </a:p>
        </p:txBody>
      </p:sp>
      <p:sp>
        <p:nvSpPr>
          <p:cNvPr id="21" name="s5-text-19"/>
          <p:cNvSpPr/>
          <p:nvPr/>
        </p:nvSpPr>
        <p:spPr>
          <a:xfrm>
            <a:off x="5050536" y="3893820"/>
            <a:ext cx="2090928" cy="609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zh-CN" altLang="en-US" sz="1740" b="1" dirty="0">
                <a:solidFill>
                  <a:srgbClr val="10121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选择版式</a:t>
            </a:r>
            <a:endParaRPr lang="zh-CN" sz="1740" dirty="0"/>
          </a:p>
        </p:txBody>
      </p:sp>
      <p:sp>
        <p:nvSpPr>
          <p:cNvPr id="22" name="s5-text-20"/>
          <p:cNvSpPr/>
          <p:nvPr/>
        </p:nvSpPr>
        <p:spPr>
          <a:xfrm>
            <a:off x="5088636" y="4655820"/>
            <a:ext cx="2014728" cy="7772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zh-CN" altLang="en-US" sz="1380" dirty="0">
                <a:solidFill>
                  <a:srgbClr val="6661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让结构对应信息关系</a:t>
            </a:r>
            <a:endParaRPr lang="zh-CN" sz="1380" dirty="0"/>
          </a:p>
        </p:txBody>
      </p:sp>
      <p:sp>
        <p:nvSpPr>
          <p:cNvPr id="23" name="s5-arrow-21"/>
          <p:cNvSpPr/>
          <p:nvPr/>
        </p:nvSpPr>
        <p:spPr>
          <a:xfrm>
            <a:off x="8666988" y="3337560"/>
            <a:ext cx="1588008" cy="76200"/>
          </a:xfrm>
          <a:prstGeom prst="rightArrow">
            <a:avLst/>
          </a:prstGeom>
          <a:solidFill>
            <a:srgbClr val="FF3D12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4" name="s5-shape-22"/>
          <p:cNvSpPr/>
          <p:nvPr/>
        </p:nvSpPr>
        <p:spPr>
          <a:xfrm>
            <a:off x="8042148" y="3078480"/>
            <a:ext cx="594360" cy="594360"/>
          </a:xfrm>
          <a:prstGeom prst="roundRect">
            <a:avLst>
              <a:gd name="adj" fmla="val 50000"/>
            </a:avLst>
          </a:prstGeom>
          <a:solidFill>
            <a:srgbClr val="131313"/>
          </a:solidFill>
          <a:ln w="889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603F29">
                <a:alpha val="10000"/>
              </a:srgbClr>
            </a:outerShdw>
          </a:effectLst>
        </p:spPr>
      </p:sp>
      <p:sp>
        <p:nvSpPr>
          <p:cNvPr id="25" name="s5-text-23"/>
          <p:cNvSpPr/>
          <p:nvPr/>
        </p:nvSpPr>
        <p:spPr>
          <a:xfrm>
            <a:off x="8110728" y="3185160"/>
            <a:ext cx="457200" cy="3733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zh-CN" altLang="en-US" sz="186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zh-CN" sz="1860" dirty="0"/>
          </a:p>
        </p:txBody>
      </p:sp>
      <p:sp>
        <p:nvSpPr>
          <p:cNvPr id="26" name="s5-text-24"/>
          <p:cNvSpPr/>
          <p:nvPr/>
        </p:nvSpPr>
        <p:spPr>
          <a:xfrm>
            <a:off x="7293864" y="3893820"/>
            <a:ext cx="2090928" cy="609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zh-CN" altLang="en-US" sz="1740" b="1" dirty="0">
                <a:solidFill>
                  <a:srgbClr val="10121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生成文稿</a:t>
            </a:r>
            <a:endParaRPr lang="zh-CN" sz="1740" dirty="0"/>
          </a:p>
        </p:txBody>
      </p:sp>
      <p:sp>
        <p:nvSpPr>
          <p:cNvPr id="27" name="s5-text-25"/>
          <p:cNvSpPr/>
          <p:nvPr/>
        </p:nvSpPr>
        <p:spPr>
          <a:xfrm>
            <a:off x="7331964" y="4655820"/>
            <a:ext cx="2014728" cy="7772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zh-CN" altLang="en-US" sz="1380" dirty="0">
                <a:solidFill>
                  <a:srgbClr val="6661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保留需要修改的元素</a:t>
            </a:r>
            <a:endParaRPr lang="zh-CN" sz="1380" dirty="0"/>
          </a:p>
        </p:txBody>
      </p:sp>
      <p:sp>
        <p:nvSpPr>
          <p:cNvPr id="28" name="s5-shape-26"/>
          <p:cNvSpPr/>
          <p:nvPr/>
        </p:nvSpPr>
        <p:spPr>
          <a:xfrm>
            <a:off x="10285476" y="3078480"/>
            <a:ext cx="594360" cy="594360"/>
          </a:xfrm>
          <a:prstGeom prst="roundRect">
            <a:avLst>
              <a:gd name="adj" fmla="val 50000"/>
            </a:avLst>
          </a:prstGeom>
          <a:solidFill>
            <a:srgbClr val="131313"/>
          </a:solidFill>
          <a:ln w="889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603F29">
                <a:alpha val="10000"/>
              </a:srgbClr>
            </a:outerShdw>
          </a:effectLst>
        </p:spPr>
      </p:sp>
      <p:sp>
        <p:nvSpPr>
          <p:cNvPr id="29" name="s5-text-27"/>
          <p:cNvSpPr/>
          <p:nvPr/>
        </p:nvSpPr>
        <p:spPr>
          <a:xfrm>
            <a:off x="10354056" y="3185160"/>
            <a:ext cx="457200" cy="3733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zh-CN" altLang="en-US" sz="186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zh-CN" sz="1860" dirty="0"/>
          </a:p>
        </p:txBody>
      </p:sp>
      <p:sp>
        <p:nvSpPr>
          <p:cNvPr id="30" name="s5-text-28"/>
          <p:cNvSpPr/>
          <p:nvPr/>
        </p:nvSpPr>
        <p:spPr>
          <a:xfrm>
            <a:off x="9537192" y="3893820"/>
            <a:ext cx="2090928" cy="609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zh-CN" altLang="en-US" sz="1740" b="1" dirty="0">
                <a:solidFill>
                  <a:srgbClr val="10121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检查效果</a:t>
            </a:r>
            <a:endParaRPr lang="zh-CN" sz="1740" dirty="0"/>
          </a:p>
        </p:txBody>
      </p:sp>
      <p:sp>
        <p:nvSpPr>
          <p:cNvPr id="31" name="s5-text-29"/>
          <p:cNvSpPr/>
          <p:nvPr/>
        </p:nvSpPr>
        <p:spPr>
          <a:xfrm>
            <a:off x="9575292" y="4655820"/>
            <a:ext cx="2014728" cy="7772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zh-CN" altLang="en-US" sz="1380" dirty="0">
                <a:solidFill>
                  <a:srgbClr val="6661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逐页核对实际渲染</a:t>
            </a:r>
            <a:endParaRPr lang="zh-CN" sz="1380" dirty="0"/>
          </a:p>
        </p:txBody>
      </p:sp>
      <p:sp>
        <p:nvSpPr>
          <p:cNvPr id="32" name="s5-shape-30"/>
          <p:cNvSpPr/>
          <p:nvPr/>
        </p:nvSpPr>
        <p:spPr>
          <a:xfrm>
            <a:off x="487680" y="6019800"/>
            <a:ext cx="11216640" cy="518160"/>
          </a:xfrm>
          <a:prstGeom prst="roundRect">
            <a:avLst>
              <a:gd name="adj" fmla="val 26471"/>
            </a:avLst>
          </a:prstGeom>
          <a:gradFill rotWithShape="1">
            <a:gsLst>
              <a:gs pos="0">
                <a:srgbClr val="FFFFFF"/>
              </a:gs>
              <a:gs pos="55000">
                <a:srgbClr val="F6F3F0"/>
              </a:gs>
              <a:gs pos="100000">
                <a:srgbClr val="FFF7ED"/>
              </a:gs>
            </a:gsLst>
            <a:lin ang="2700000" scaled="1"/>
          </a:gradFill>
          <a:ln w="889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603F29">
                <a:alpha val="10000"/>
              </a:srgbClr>
            </a:outerShdw>
          </a:effectLst>
        </p:spPr>
      </p:sp>
      <p:sp>
        <p:nvSpPr>
          <p:cNvPr id="33" name="s5-shape-31"/>
          <p:cNvSpPr/>
          <p:nvPr/>
        </p:nvSpPr>
        <p:spPr>
          <a:xfrm>
            <a:off x="487680" y="6019800"/>
            <a:ext cx="45720" cy="51816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F7800"/>
              </a:gs>
              <a:gs pos="30000">
                <a:srgbClr val="FF5000"/>
              </a:gs>
              <a:gs pos="60000">
                <a:srgbClr val="FF2600"/>
              </a:gs>
              <a:gs pos="80000">
                <a:srgbClr val="ED1006"/>
              </a:gs>
              <a:gs pos="100000">
                <a:srgbClr val="D90404"/>
              </a:gs>
            </a:gsLst>
            <a:lin ang="0" scaled="1"/>
          </a:gra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4" name="s5-text-32"/>
          <p:cNvSpPr/>
          <p:nvPr/>
        </p:nvSpPr>
        <p:spPr>
          <a:xfrm>
            <a:off x="678180" y="6156960"/>
            <a:ext cx="10820400" cy="2819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380" b="1" dirty="0">
                <a:solidFill>
                  <a:srgbClr val="10121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每一步都留下可以继续编辑和复核的结果。</a:t>
            </a:r>
            <a:endParaRPr lang="zh-CN" sz="138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2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6-text-1"/>
          <p:cNvSpPr/>
          <p:nvPr/>
        </p:nvSpPr>
        <p:spPr>
          <a:xfrm>
            <a:off x="487680" y="266700"/>
            <a:ext cx="6096000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380" b="1" dirty="0">
                <a:solidFill>
                  <a:srgbClr val="B92A1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WARM GLASS</a:t>
            </a:r>
            <a:endParaRPr lang="zh-CN" sz="1380" dirty="0"/>
          </a:p>
        </p:txBody>
      </p:sp>
      <p:sp>
        <p:nvSpPr>
          <p:cNvPr id="4" name="s6-text-2"/>
          <p:cNvSpPr/>
          <p:nvPr/>
        </p:nvSpPr>
        <p:spPr>
          <a:xfrm>
            <a:off x="487680" y="594360"/>
            <a:ext cx="9525000" cy="2133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020" dirty="0">
                <a:solidFill>
                  <a:srgbClr val="6661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Clarity in narrative. Consistency in design.</a:t>
            </a:r>
            <a:endParaRPr lang="zh-CN" sz="1020" dirty="0"/>
          </a:p>
        </p:txBody>
      </p:sp>
      <p:sp>
        <p:nvSpPr>
          <p:cNvPr id="5" name="s6-text-3"/>
          <p:cNvSpPr/>
          <p:nvPr/>
        </p:nvSpPr>
        <p:spPr>
          <a:xfrm>
            <a:off x="11140440" y="266700"/>
            <a:ext cx="563880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ct val="110000"/>
              </a:lnSpc>
              <a:buNone/>
            </a:pPr>
            <a:r>
              <a:rPr lang="zh-CN" altLang="en-US" sz="1260" dirty="0">
                <a:solidFill>
                  <a:srgbClr val="6661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</a:t>
            </a:r>
            <a:endParaRPr lang="zh-CN" sz="1260" dirty="0"/>
          </a:p>
        </p:txBody>
      </p:sp>
      <p:sp>
        <p:nvSpPr>
          <p:cNvPr id="6" name="s6-text-4"/>
          <p:cNvSpPr/>
          <p:nvPr/>
        </p:nvSpPr>
        <p:spPr>
          <a:xfrm>
            <a:off x="487680" y="853440"/>
            <a:ext cx="11049000" cy="2133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endParaRPr lang="zh-CN" sz="1080" dirty="0"/>
          </a:p>
        </p:txBody>
      </p:sp>
      <p:sp>
        <p:nvSpPr>
          <p:cNvPr id="7" name="s6-text-5"/>
          <p:cNvSpPr/>
          <p:nvPr/>
        </p:nvSpPr>
        <p:spPr>
          <a:xfrm>
            <a:off x="487680" y="1150620"/>
            <a:ext cx="11216640" cy="9372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3000" b="1" dirty="0">
                <a:solidFill>
                  <a:srgbClr val="10121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按里程碑组织下一步工作</a:t>
            </a:r>
            <a:endParaRPr lang="zh-CN" sz="3000" dirty="0"/>
          </a:p>
        </p:txBody>
      </p:sp>
      <p:sp>
        <p:nvSpPr>
          <p:cNvPr id="8" name="s6-arrow-6"/>
          <p:cNvSpPr/>
          <p:nvPr/>
        </p:nvSpPr>
        <p:spPr>
          <a:xfrm>
            <a:off x="4114800" y="3284220"/>
            <a:ext cx="167640" cy="76200"/>
          </a:xfrm>
          <a:prstGeom prst="rightArrow">
            <a:avLst/>
          </a:prstGeom>
          <a:solidFill>
            <a:srgbClr val="FF3D12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9" name="s6-shape-7"/>
          <p:cNvSpPr/>
          <p:nvPr/>
        </p:nvSpPr>
        <p:spPr>
          <a:xfrm>
            <a:off x="487680" y="2667000"/>
            <a:ext cx="3627120" cy="3002280"/>
          </a:xfrm>
          <a:prstGeom prst="roundRect">
            <a:avLst>
              <a:gd name="adj" fmla="val 5076"/>
            </a:avLst>
          </a:prstGeom>
          <a:gradFill rotWithShape="1">
            <a:gsLst>
              <a:gs pos="0">
                <a:srgbClr val="FFFFFF"/>
              </a:gs>
              <a:gs pos="55000">
                <a:srgbClr val="F6F3F0"/>
              </a:gs>
              <a:gs pos="100000">
                <a:srgbClr val="FFF7ED"/>
              </a:gs>
            </a:gsLst>
            <a:lin ang="2700000" scaled="1"/>
          </a:gradFill>
          <a:ln w="889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603F29">
                <a:alpha val="10000"/>
              </a:srgbClr>
            </a:outerShdw>
          </a:effectLst>
        </p:spPr>
      </p:sp>
      <p:sp>
        <p:nvSpPr>
          <p:cNvPr id="10" name="s6-shape-8"/>
          <p:cNvSpPr/>
          <p:nvPr/>
        </p:nvSpPr>
        <p:spPr>
          <a:xfrm>
            <a:off x="487680" y="2667000"/>
            <a:ext cx="3627120" cy="434340"/>
          </a:xfrm>
          <a:prstGeom prst="roundRect">
            <a:avLst>
              <a:gd name="adj" fmla="val 31579"/>
            </a:avLst>
          </a:prstGeom>
          <a:gradFill rotWithShape="1">
            <a:gsLst>
              <a:gs pos="0">
                <a:srgbClr val="FF7800"/>
              </a:gs>
              <a:gs pos="30000">
                <a:srgbClr val="FF5000"/>
              </a:gs>
              <a:gs pos="60000">
                <a:srgbClr val="FF2600"/>
              </a:gs>
              <a:gs pos="80000">
                <a:srgbClr val="ED1006"/>
              </a:gs>
              <a:gs pos="100000">
                <a:srgbClr val="D90404"/>
              </a:gs>
            </a:gsLst>
            <a:lin ang="0" scaled="1"/>
          </a:gra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1" name="s6-text-9"/>
          <p:cNvSpPr/>
          <p:nvPr/>
        </p:nvSpPr>
        <p:spPr>
          <a:xfrm>
            <a:off x="617220" y="2766060"/>
            <a:ext cx="3368040" cy="2895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zh-CN" altLang="en-US" sz="144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阶段一</a:t>
            </a:r>
            <a:endParaRPr lang="zh-CN" sz="1440" dirty="0"/>
          </a:p>
        </p:txBody>
      </p:sp>
      <p:sp>
        <p:nvSpPr>
          <p:cNvPr id="12" name="s6-text-10"/>
          <p:cNvSpPr/>
          <p:nvPr/>
        </p:nvSpPr>
        <p:spPr>
          <a:xfrm>
            <a:off x="655320" y="3276600"/>
            <a:ext cx="3291840" cy="6705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680" b="1" dirty="0">
                <a:solidFill>
                  <a:srgbClr val="10121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明确范围</a:t>
            </a:r>
            <a:endParaRPr lang="zh-CN" sz="1680" dirty="0"/>
          </a:p>
        </p:txBody>
      </p:sp>
      <p:sp>
        <p:nvSpPr>
          <p:cNvPr id="13" name="s6-text-11"/>
          <p:cNvSpPr/>
          <p:nvPr/>
        </p:nvSpPr>
        <p:spPr>
          <a:xfrm>
            <a:off x="655320" y="4091940"/>
            <a:ext cx="329184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320" dirty="0">
                <a:solidFill>
                  <a:srgbClr val="333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确认受众与目标</a:t>
            </a:r>
            <a:endParaRPr lang="zh-CN" sz="1320" dirty="0"/>
          </a:p>
        </p:txBody>
      </p:sp>
      <p:sp>
        <p:nvSpPr>
          <p:cNvPr id="14" name="s6-text-12"/>
          <p:cNvSpPr/>
          <p:nvPr/>
        </p:nvSpPr>
        <p:spPr>
          <a:xfrm>
            <a:off x="655320" y="4419600"/>
            <a:ext cx="329184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320" dirty="0">
                <a:solidFill>
                  <a:srgbClr val="333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整理证据与来源</a:t>
            </a:r>
            <a:endParaRPr lang="zh-CN" sz="1320" dirty="0"/>
          </a:p>
        </p:txBody>
      </p:sp>
      <p:sp>
        <p:nvSpPr>
          <p:cNvPr id="15" name="s6-arrow-13"/>
          <p:cNvSpPr/>
          <p:nvPr/>
        </p:nvSpPr>
        <p:spPr>
          <a:xfrm>
            <a:off x="7909560" y="3284220"/>
            <a:ext cx="167640" cy="76200"/>
          </a:xfrm>
          <a:prstGeom prst="rightArrow">
            <a:avLst/>
          </a:prstGeom>
          <a:solidFill>
            <a:srgbClr val="FF3D12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6" name="s6-shape-14"/>
          <p:cNvSpPr/>
          <p:nvPr/>
        </p:nvSpPr>
        <p:spPr>
          <a:xfrm>
            <a:off x="4282440" y="2667000"/>
            <a:ext cx="3627120" cy="3002280"/>
          </a:xfrm>
          <a:prstGeom prst="roundRect">
            <a:avLst>
              <a:gd name="adj" fmla="val 5076"/>
            </a:avLst>
          </a:prstGeom>
          <a:gradFill rotWithShape="1">
            <a:gsLst>
              <a:gs pos="0">
                <a:srgbClr val="FFFFFF"/>
              </a:gs>
              <a:gs pos="55000">
                <a:srgbClr val="F6F3F0"/>
              </a:gs>
              <a:gs pos="100000">
                <a:srgbClr val="FFF7ED"/>
              </a:gs>
            </a:gsLst>
            <a:lin ang="2700000" scaled="1"/>
          </a:gradFill>
          <a:ln w="889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603F29">
                <a:alpha val="10000"/>
              </a:srgbClr>
            </a:outerShdw>
          </a:effectLst>
        </p:spPr>
      </p:sp>
      <p:sp>
        <p:nvSpPr>
          <p:cNvPr id="17" name="s6-shape-15"/>
          <p:cNvSpPr/>
          <p:nvPr/>
        </p:nvSpPr>
        <p:spPr>
          <a:xfrm>
            <a:off x="4282440" y="2667000"/>
            <a:ext cx="3627120" cy="434340"/>
          </a:xfrm>
          <a:prstGeom prst="roundRect">
            <a:avLst>
              <a:gd name="adj" fmla="val 31579"/>
            </a:avLst>
          </a:prstGeom>
          <a:gradFill rotWithShape="1">
            <a:gsLst>
              <a:gs pos="0">
                <a:srgbClr val="FF7800"/>
              </a:gs>
              <a:gs pos="30000">
                <a:srgbClr val="FF5000"/>
              </a:gs>
              <a:gs pos="60000">
                <a:srgbClr val="FF2600"/>
              </a:gs>
              <a:gs pos="80000">
                <a:srgbClr val="ED1006"/>
              </a:gs>
              <a:gs pos="100000">
                <a:srgbClr val="D90404"/>
              </a:gs>
            </a:gsLst>
            <a:lin ang="0" scaled="1"/>
          </a:gra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8" name="s6-text-16"/>
          <p:cNvSpPr/>
          <p:nvPr/>
        </p:nvSpPr>
        <p:spPr>
          <a:xfrm>
            <a:off x="4411980" y="2766060"/>
            <a:ext cx="3368040" cy="2895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zh-CN" altLang="en-US" sz="144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阶段二</a:t>
            </a:r>
            <a:endParaRPr lang="zh-CN" sz="1440" dirty="0"/>
          </a:p>
        </p:txBody>
      </p:sp>
      <p:sp>
        <p:nvSpPr>
          <p:cNvPr id="19" name="s6-text-17"/>
          <p:cNvSpPr/>
          <p:nvPr/>
        </p:nvSpPr>
        <p:spPr>
          <a:xfrm>
            <a:off x="4450080" y="3276600"/>
            <a:ext cx="3291840" cy="6705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680" b="1" dirty="0">
                <a:solidFill>
                  <a:srgbClr val="10121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形成初稿</a:t>
            </a:r>
            <a:endParaRPr lang="zh-CN" sz="1680" dirty="0"/>
          </a:p>
        </p:txBody>
      </p:sp>
      <p:sp>
        <p:nvSpPr>
          <p:cNvPr id="20" name="s6-text-18"/>
          <p:cNvSpPr/>
          <p:nvPr/>
        </p:nvSpPr>
        <p:spPr>
          <a:xfrm>
            <a:off x="4450080" y="4091940"/>
            <a:ext cx="329184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320" dirty="0">
                <a:solidFill>
                  <a:srgbClr val="333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完成逐页脚本</a:t>
            </a:r>
            <a:endParaRPr lang="zh-CN" sz="1320" dirty="0"/>
          </a:p>
        </p:txBody>
      </p:sp>
      <p:sp>
        <p:nvSpPr>
          <p:cNvPr id="21" name="s6-text-19"/>
          <p:cNvSpPr/>
          <p:nvPr/>
        </p:nvSpPr>
        <p:spPr>
          <a:xfrm>
            <a:off x="4450080" y="4419600"/>
            <a:ext cx="329184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320" dirty="0">
                <a:solidFill>
                  <a:srgbClr val="333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生成统一视觉</a:t>
            </a:r>
            <a:endParaRPr lang="zh-CN" sz="1320" dirty="0"/>
          </a:p>
        </p:txBody>
      </p:sp>
      <p:sp>
        <p:nvSpPr>
          <p:cNvPr id="22" name="s6-shape-20"/>
          <p:cNvSpPr/>
          <p:nvPr/>
        </p:nvSpPr>
        <p:spPr>
          <a:xfrm>
            <a:off x="8077200" y="2667000"/>
            <a:ext cx="3627120" cy="3002280"/>
          </a:xfrm>
          <a:prstGeom prst="roundRect">
            <a:avLst>
              <a:gd name="adj" fmla="val 5076"/>
            </a:avLst>
          </a:prstGeom>
          <a:gradFill rotWithShape="1">
            <a:gsLst>
              <a:gs pos="0">
                <a:srgbClr val="FFFFFF"/>
              </a:gs>
              <a:gs pos="55000">
                <a:srgbClr val="F6F3F0"/>
              </a:gs>
              <a:gs pos="100000">
                <a:srgbClr val="FFF7ED"/>
              </a:gs>
            </a:gsLst>
            <a:lin ang="2700000" scaled="1"/>
          </a:gradFill>
          <a:ln w="889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603F29">
                <a:alpha val="10000"/>
              </a:srgbClr>
            </a:outerShdw>
          </a:effectLst>
        </p:spPr>
      </p:sp>
      <p:sp>
        <p:nvSpPr>
          <p:cNvPr id="23" name="s6-shape-21"/>
          <p:cNvSpPr/>
          <p:nvPr/>
        </p:nvSpPr>
        <p:spPr>
          <a:xfrm>
            <a:off x="8077200" y="2667000"/>
            <a:ext cx="3627120" cy="434340"/>
          </a:xfrm>
          <a:prstGeom prst="roundRect">
            <a:avLst>
              <a:gd name="adj" fmla="val 31579"/>
            </a:avLst>
          </a:prstGeom>
          <a:gradFill rotWithShape="1">
            <a:gsLst>
              <a:gs pos="0">
                <a:srgbClr val="FF7800"/>
              </a:gs>
              <a:gs pos="30000">
                <a:srgbClr val="FF5000"/>
              </a:gs>
              <a:gs pos="60000">
                <a:srgbClr val="FF2600"/>
              </a:gs>
              <a:gs pos="80000">
                <a:srgbClr val="ED1006"/>
              </a:gs>
              <a:gs pos="100000">
                <a:srgbClr val="D90404"/>
              </a:gs>
            </a:gsLst>
            <a:lin ang="0" scaled="1"/>
          </a:gra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4" name="s6-text-22"/>
          <p:cNvSpPr/>
          <p:nvPr/>
        </p:nvSpPr>
        <p:spPr>
          <a:xfrm>
            <a:off x="8206740" y="2766060"/>
            <a:ext cx="3368040" cy="2895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zh-CN" altLang="en-US" sz="144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阶段三</a:t>
            </a:r>
            <a:endParaRPr lang="zh-CN" sz="1440" dirty="0"/>
          </a:p>
        </p:txBody>
      </p:sp>
      <p:sp>
        <p:nvSpPr>
          <p:cNvPr id="25" name="s6-text-23"/>
          <p:cNvSpPr/>
          <p:nvPr/>
        </p:nvSpPr>
        <p:spPr>
          <a:xfrm>
            <a:off x="8244840" y="3276600"/>
            <a:ext cx="3291840" cy="6705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680" b="1" dirty="0">
                <a:solidFill>
                  <a:srgbClr val="10121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验证与交付</a:t>
            </a:r>
            <a:endParaRPr lang="zh-CN" sz="1680" dirty="0"/>
          </a:p>
        </p:txBody>
      </p:sp>
      <p:sp>
        <p:nvSpPr>
          <p:cNvPr id="26" name="s6-text-24"/>
          <p:cNvSpPr/>
          <p:nvPr/>
        </p:nvSpPr>
        <p:spPr>
          <a:xfrm>
            <a:off x="8244840" y="4091940"/>
            <a:ext cx="329184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320" dirty="0">
                <a:solidFill>
                  <a:srgbClr val="333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检查文字与图形</a:t>
            </a:r>
            <a:endParaRPr lang="zh-CN" sz="1320" dirty="0"/>
          </a:p>
        </p:txBody>
      </p:sp>
      <p:sp>
        <p:nvSpPr>
          <p:cNvPr id="27" name="s6-text-25"/>
          <p:cNvSpPr/>
          <p:nvPr/>
        </p:nvSpPr>
        <p:spPr>
          <a:xfrm>
            <a:off x="8244840" y="4419600"/>
            <a:ext cx="329184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320" dirty="0">
                <a:solidFill>
                  <a:srgbClr val="333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核对投屏效果</a:t>
            </a:r>
            <a:endParaRPr lang="zh-CN" sz="1320" dirty="0"/>
          </a:p>
        </p:txBody>
      </p:sp>
      <p:sp>
        <p:nvSpPr>
          <p:cNvPr id="28" name="s6-shape-26"/>
          <p:cNvSpPr/>
          <p:nvPr/>
        </p:nvSpPr>
        <p:spPr>
          <a:xfrm>
            <a:off x="487680" y="6019800"/>
            <a:ext cx="11216640" cy="518160"/>
          </a:xfrm>
          <a:prstGeom prst="roundRect">
            <a:avLst>
              <a:gd name="adj" fmla="val 26471"/>
            </a:avLst>
          </a:prstGeom>
          <a:gradFill rotWithShape="1">
            <a:gsLst>
              <a:gs pos="0">
                <a:srgbClr val="FFFFFF"/>
              </a:gs>
              <a:gs pos="55000">
                <a:srgbClr val="F6F3F0"/>
              </a:gs>
              <a:gs pos="100000">
                <a:srgbClr val="FFF7ED"/>
              </a:gs>
            </a:gsLst>
            <a:lin ang="2700000" scaled="1"/>
          </a:gradFill>
          <a:ln w="889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603F29">
                <a:alpha val="10000"/>
              </a:srgbClr>
            </a:outerShdw>
          </a:effectLst>
        </p:spPr>
      </p:sp>
      <p:sp>
        <p:nvSpPr>
          <p:cNvPr id="29" name="s6-shape-27"/>
          <p:cNvSpPr/>
          <p:nvPr/>
        </p:nvSpPr>
        <p:spPr>
          <a:xfrm>
            <a:off x="487680" y="6019800"/>
            <a:ext cx="45720" cy="51816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F7800"/>
              </a:gs>
              <a:gs pos="30000">
                <a:srgbClr val="FF5000"/>
              </a:gs>
              <a:gs pos="60000">
                <a:srgbClr val="FF2600"/>
              </a:gs>
              <a:gs pos="80000">
                <a:srgbClr val="ED1006"/>
              </a:gs>
              <a:gs pos="100000">
                <a:srgbClr val="D90404"/>
              </a:gs>
            </a:gsLst>
            <a:lin ang="0" scaled="1"/>
          </a:gra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0" name="s6-text-28"/>
          <p:cNvSpPr/>
          <p:nvPr/>
        </p:nvSpPr>
        <p:spPr>
          <a:xfrm>
            <a:off x="678180" y="6156960"/>
            <a:ext cx="10820400" cy="2819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380" b="1" dirty="0">
                <a:solidFill>
                  <a:srgbClr val="10121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计划标注的是预期工作，不自动代表已完成状态。</a:t>
            </a:r>
            <a:endParaRPr lang="zh-CN" sz="138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2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7-text-1"/>
          <p:cNvSpPr/>
          <p:nvPr/>
        </p:nvSpPr>
        <p:spPr>
          <a:xfrm>
            <a:off x="487680" y="266700"/>
            <a:ext cx="6096000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380" b="1" dirty="0">
                <a:solidFill>
                  <a:srgbClr val="B92A1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WARM GLASS</a:t>
            </a:r>
            <a:endParaRPr lang="zh-CN" sz="1380" dirty="0"/>
          </a:p>
        </p:txBody>
      </p:sp>
      <p:sp>
        <p:nvSpPr>
          <p:cNvPr id="4" name="s7-text-2"/>
          <p:cNvSpPr/>
          <p:nvPr/>
        </p:nvSpPr>
        <p:spPr>
          <a:xfrm>
            <a:off x="487680" y="594360"/>
            <a:ext cx="9525000" cy="2133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020" dirty="0">
                <a:solidFill>
                  <a:srgbClr val="6661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Clarity in narrative. Consistency in design.</a:t>
            </a:r>
            <a:endParaRPr lang="zh-CN" sz="1020" dirty="0"/>
          </a:p>
        </p:txBody>
      </p:sp>
      <p:sp>
        <p:nvSpPr>
          <p:cNvPr id="5" name="s7-text-3"/>
          <p:cNvSpPr/>
          <p:nvPr/>
        </p:nvSpPr>
        <p:spPr>
          <a:xfrm>
            <a:off x="11140440" y="266700"/>
            <a:ext cx="563880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ct val="110000"/>
              </a:lnSpc>
              <a:buNone/>
            </a:pPr>
            <a:r>
              <a:rPr lang="zh-CN" altLang="en-US" sz="1260" dirty="0">
                <a:solidFill>
                  <a:srgbClr val="6661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</a:t>
            </a:r>
            <a:endParaRPr lang="zh-CN" sz="1260" dirty="0"/>
          </a:p>
        </p:txBody>
      </p:sp>
      <p:sp>
        <p:nvSpPr>
          <p:cNvPr id="6" name="s7-text-4"/>
          <p:cNvSpPr/>
          <p:nvPr/>
        </p:nvSpPr>
        <p:spPr>
          <a:xfrm>
            <a:off x="487680" y="853440"/>
            <a:ext cx="11049000" cy="2133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endParaRPr lang="zh-CN" sz="1080" dirty="0"/>
          </a:p>
        </p:txBody>
      </p:sp>
      <p:sp>
        <p:nvSpPr>
          <p:cNvPr id="7" name="s7-text-5"/>
          <p:cNvSpPr/>
          <p:nvPr/>
        </p:nvSpPr>
        <p:spPr>
          <a:xfrm>
            <a:off x="487680" y="1150620"/>
            <a:ext cx="11216640" cy="9372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3000" b="1" dirty="0">
                <a:solidFill>
                  <a:srgbClr val="10121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分清概念范围与当前重点</a:t>
            </a:r>
            <a:endParaRPr lang="zh-CN" sz="3000" dirty="0"/>
          </a:p>
        </p:txBody>
      </p:sp>
      <p:sp>
        <p:nvSpPr>
          <p:cNvPr id="8" name="s7-text-6"/>
          <p:cNvSpPr/>
          <p:nvPr/>
        </p:nvSpPr>
        <p:spPr>
          <a:xfrm>
            <a:off x="487680" y="2065020"/>
            <a:ext cx="1121664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380" dirty="0">
                <a:solidFill>
                  <a:srgbClr val="6661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层级表达包含关系，颜色突出本页需要解释的对象。</a:t>
            </a:r>
            <a:endParaRPr lang="zh-CN" sz="1380" dirty="0"/>
          </a:p>
        </p:txBody>
      </p:sp>
      <p:sp>
        <p:nvSpPr>
          <p:cNvPr id="9" name="s7-shape-7"/>
          <p:cNvSpPr/>
          <p:nvPr/>
        </p:nvSpPr>
        <p:spPr>
          <a:xfrm>
            <a:off x="487680" y="2606040"/>
            <a:ext cx="11216640" cy="883920"/>
          </a:xfrm>
          <a:prstGeom prst="roundRect">
            <a:avLst>
              <a:gd name="adj" fmla="val 17241"/>
            </a:avLst>
          </a:prstGeom>
          <a:gradFill rotWithShape="1">
            <a:gsLst>
              <a:gs pos="0">
                <a:srgbClr val="FFFFFF"/>
              </a:gs>
              <a:gs pos="55000">
                <a:srgbClr val="F6F3F0"/>
              </a:gs>
              <a:gs pos="100000">
                <a:srgbClr val="FFF7ED"/>
              </a:gs>
            </a:gsLst>
            <a:lin ang="2700000" scaled="1"/>
          </a:gradFill>
          <a:ln w="889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603F29">
                <a:alpha val="10000"/>
              </a:srgbClr>
            </a:outerShdw>
          </a:effectLst>
        </p:spPr>
      </p:sp>
      <p:sp>
        <p:nvSpPr>
          <p:cNvPr id="10" name="s7-text-8"/>
          <p:cNvSpPr/>
          <p:nvPr/>
        </p:nvSpPr>
        <p:spPr>
          <a:xfrm>
            <a:off x="716280" y="2720340"/>
            <a:ext cx="3581400" cy="6705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680" b="1" dirty="0">
                <a:solidFill>
                  <a:srgbClr val="10121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企业目标</a:t>
            </a:r>
            <a:endParaRPr lang="zh-CN" sz="1680" dirty="0"/>
          </a:p>
        </p:txBody>
      </p:sp>
      <p:sp>
        <p:nvSpPr>
          <p:cNvPr id="11" name="s7-text-9"/>
          <p:cNvSpPr/>
          <p:nvPr/>
        </p:nvSpPr>
        <p:spPr>
          <a:xfrm>
            <a:off x="4450080" y="2720340"/>
            <a:ext cx="7025640" cy="6705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380" dirty="0">
                <a:solidFill>
                  <a:srgbClr val="333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说明希望改善的业务结果</a:t>
            </a:r>
            <a:endParaRPr lang="zh-CN" sz="1380" dirty="0"/>
          </a:p>
        </p:txBody>
      </p:sp>
      <p:sp>
        <p:nvSpPr>
          <p:cNvPr id="12" name="s7-shape-10"/>
          <p:cNvSpPr/>
          <p:nvPr/>
        </p:nvSpPr>
        <p:spPr>
          <a:xfrm>
            <a:off x="990600" y="3581400"/>
            <a:ext cx="10210800" cy="883920"/>
          </a:xfrm>
          <a:prstGeom prst="roundRect">
            <a:avLst>
              <a:gd name="adj" fmla="val 17241"/>
            </a:avLst>
          </a:prstGeom>
          <a:gradFill rotWithShape="1">
            <a:gsLst>
              <a:gs pos="0">
                <a:srgbClr val="FFFFFF"/>
              </a:gs>
              <a:gs pos="55000">
                <a:srgbClr val="F6F3F0"/>
              </a:gs>
              <a:gs pos="100000">
                <a:srgbClr val="FFF7ED"/>
              </a:gs>
            </a:gsLst>
            <a:lin ang="2700000" scaled="1"/>
          </a:gradFill>
          <a:ln w="889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603F29">
                <a:alpha val="10000"/>
              </a:srgbClr>
            </a:outerShdw>
          </a:effectLst>
        </p:spPr>
      </p:sp>
      <p:sp>
        <p:nvSpPr>
          <p:cNvPr id="13" name="s7-text-11"/>
          <p:cNvSpPr/>
          <p:nvPr/>
        </p:nvSpPr>
        <p:spPr>
          <a:xfrm>
            <a:off x="1219200" y="3695700"/>
            <a:ext cx="3581400" cy="6705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680" b="1" dirty="0">
                <a:solidFill>
                  <a:srgbClr val="10121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业务流程</a:t>
            </a:r>
            <a:endParaRPr lang="zh-CN" sz="1680" dirty="0"/>
          </a:p>
        </p:txBody>
      </p:sp>
      <p:sp>
        <p:nvSpPr>
          <p:cNvPr id="14" name="s7-text-12"/>
          <p:cNvSpPr/>
          <p:nvPr/>
        </p:nvSpPr>
        <p:spPr>
          <a:xfrm>
            <a:off x="4953000" y="3695700"/>
            <a:ext cx="6019800" cy="6705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380" dirty="0">
                <a:solidFill>
                  <a:srgbClr val="333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找到影响结果的工作环节</a:t>
            </a:r>
            <a:endParaRPr lang="zh-CN" sz="1380" dirty="0"/>
          </a:p>
        </p:txBody>
      </p:sp>
      <p:sp>
        <p:nvSpPr>
          <p:cNvPr id="15" name="s7-shape-13"/>
          <p:cNvSpPr/>
          <p:nvPr/>
        </p:nvSpPr>
        <p:spPr>
          <a:xfrm>
            <a:off x="1493520" y="4556760"/>
            <a:ext cx="9204960" cy="883920"/>
          </a:xfrm>
          <a:prstGeom prst="roundRect">
            <a:avLst>
              <a:gd name="adj" fmla="val 17241"/>
            </a:avLst>
          </a:prstGeom>
          <a:gradFill rotWithShape="1">
            <a:gsLst>
              <a:gs pos="0">
                <a:srgbClr val="FFB456"/>
              </a:gs>
              <a:gs pos="32000">
                <a:srgbClr val="FF7800"/>
              </a:gs>
              <a:gs pos="68000">
                <a:srgbClr val="FF3D12"/>
              </a:gs>
              <a:gs pos="100000">
                <a:srgbClr val="F21916"/>
              </a:gs>
            </a:gsLst>
            <a:lin ang="2700000" scaled="1"/>
          </a:gradFill>
          <a:ln w="889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603F29">
                <a:alpha val="10000"/>
              </a:srgbClr>
            </a:outerShdw>
          </a:effectLst>
        </p:spPr>
      </p:sp>
      <p:sp>
        <p:nvSpPr>
          <p:cNvPr id="16" name="s7-text-14"/>
          <p:cNvSpPr/>
          <p:nvPr/>
        </p:nvSpPr>
        <p:spPr>
          <a:xfrm>
            <a:off x="1722120" y="4671060"/>
            <a:ext cx="3581400" cy="6705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680" b="1" dirty="0">
                <a:solidFill>
                  <a:srgbClr val="10121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能力与工具</a:t>
            </a:r>
            <a:endParaRPr lang="zh-CN" sz="1680" dirty="0"/>
          </a:p>
        </p:txBody>
      </p:sp>
      <p:sp>
        <p:nvSpPr>
          <p:cNvPr id="17" name="s7-text-15"/>
          <p:cNvSpPr/>
          <p:nvPr/>
        </p:nvSpPr>
        <p:spPr>
          <a:xfrm>
            <a:off x="5455920" y="4671060"/>
            <a:ext cx="5013960" cy="6705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380" dirty="0">
                <a:solidFill>
                  <a:srgbClr val="333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选择支撑流程的具体方法</a:t>
            </a:r>
            <a:endParaRPr lang="zh-CN" sz="1380" dirty="0"/>
          </a:p>
        </p:txBody>
      </p:sp>
      <p:sp>
        <p:nvSpPr>
          <p:cNvPr id="18" name="s7-shape-16"/>
          <p:cNvSpPr/>
          <p:nvPr/>
        </p:nvSpPr>
        <p:spPr>
          <a:xfrm>
            <a:off x="487680" y="6019800"/>
            <a:ext cx="11216640" cy="518160"/>
          </a:xfrm>
          <a:prstGeom prst="roundRect">
            <a:avLst>
              <a:gd name="adj" fmla="val 26471"/>
            </a:avLst>
          </a:prstGeom>
          <a:gradFill rotWithShape="1">
            <a:gsLst>
              <a:gs pos="0">
                <a:srgbClr val="FFFFFF"/>
              </a:gs>
              <a:gs pos="55000">
                <a:srgbClr val="F6F3F0"/>
              </a:gs>
              <a:gs pos="100000">
                <a:srgbClr val="FFF7ED"/>
              </a:gs>
            </a:gsLst>
            <a:lin ang="2700000" scaled="1"/>
          </a:gradFill>
          <a:ln w="889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603F29">
                <a:alpha val="10000"/>
              </a:srgbClr>
            </a:outerShdw>
          </a:effectLst>
        </p:spPr>
      </p:sp>
      <p:sp>
        <p:nvSpPr>
          <p:cNvPr id="19" name="s7-shape-17"/>
          <p:cNvSpPr/>
          <p:nvPr/>
        </p:nvSpPr>
        <p:spPr>
          <a:xfrm>
            <a:off x="487680" y="6019800"/>
            <a:ext cx="45720" cy="51816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F7800"/>
              </a:gs>
              <a:gs pos="30000">
                <a:srgbClr val="FF5000"/>
              </a:gs>
              <a:gs pos="60000">
                <a:srgbClr val="FF2600"/>
              </a:gs>
              <a:gs pos="80000">
                <a:srgbClr val="ED1006"/>
              </a:gs>
              <a:gs pos="100000">
                <a:srgbClr val="D90404"/>
              </a:gs>
            </a:gsLst>
            <a:lin ang="0" scaled="1"/>
          </a:gra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0" name="s7-text-18"/>
          <p:cNvSpPr/>
          <p:nvPr/>
        </p:nvSpPr>
        <p:spPr>
          <a:xfrm>
            <a:off x="678180" y="6156960"/>
            <a:ext cx="10820400" cy="2819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380" b="1" dirty="0">
                <a:solidFill>
                  <a:srgbClr val="10121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图形层次应当对应真实关系。</a:t>
            </a:r>
            <a:endParaRPr lang="zh-CN" sz="138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2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8-text-1"/>
          <p:cNvSpPr/>
          <p:nvPr/>
        </p:nvSpPr>
        <p:spPr>
          <a:xfrm>
            <a:off x="487680" y="266700"/>
            <a:ext cx="6096000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380" b="1" dirty="0">
                <a:solidFill>
                  <a:srgbClr val="B92A1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WARM GLASS</a:t>
            </a:r>
            <a:endParaRPr lang="zh-CN" sz="1380" dirty="0"/>
          </a:p>
        </p:txBody>
      </p:sp>
      <p:sp>
        <p:nvSpPr>
          <p:cNvPr id="4" name="s8-text-2"/>
          <p:cNvSpPr/>
          <p:nvPr/>
        </p:nvSpPr>
        <p:spPr>
          <a:xfrm>
            <a:off x="487680" y="594360"/>
            <a:ext cx="9525000" cy="2133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020" dirty="0">
                <a:solidFill>
                  <a:srgbClr val="6661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Clarity in narrative. Consistency in design.</a:t>
            </a:r>
            <a:endParaRPr lang="zh-CN" sz="1020" dirty="0"/>
          </a:p>
        </p:txBody>
      </p:sp>
      <p:sp>
        <p:nvSpPr>
          <p:cNvPr id="5" name="s8-text-3"/>
          <p:cNvSpPr/>
          <p:nvPr/>
        </p:nvSpPr>
        <p:spPr>
          <a:xfrm>
            <a:off x="11140440" y="266700"/>
            <a:ext cx="563880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ct val="110000"/>
              </a:lnSpc>
              <a:buNone/>
            </a:pPr>
            <a:r>
              <a:rPr lang="zh-CN" altLang="en-US" sz="1260" dirty="0">
                <a:solidFill>
                  <a:srgbClr val="6661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08</a:t>
            </a:r>
            <a:endParaRPr lang="zh-CN" sz="1260" dirty="0"/>
          </a:p>
        </p:txBody>
      </p:sp>
      <p:sp>
        <p:nvSpPr>
          <p:cNvPr id="6" name="s8-text-4"/>
          <p:cNvSpPr/>
          <p:nvPr/>
        </p:nvSpPr>
        <p:spPr>
          <a:xfrm>
            <a:off x="487680" y="853440"/>
            <a:ext cx="11049000" cy="2133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endParaRPr lang="zh-CN" sz="1080" dirty="0"/>
          </a:p>
        </p:txBody>
      </p:sp>
      <p:sp>
        <p:nvSpPr>
          <p:cNvPr id="7" name="s8-text-5"/>
          <p:cNvSpPr/>
          <p:nvPr/>
        </p:nvSpPr>
        <p:spPr>
          <a:xfrm>
            <a:off x="487680" y="1150620"/>
            <a:ext cx="11216640" cy="9372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3000" b="1" dirty="0">
                <a:solidFill>
                  <a:srgbClr val="10121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内容、视觉与交付的关系</a:t>
            </a:r>
            <a:endParaRPr lang="zh-CN" sz="3000" dirty="0"/>
          </a:p>
        </p:txBody>
      </p:sp>
      <p:sp>
        <p:nvSpPr>
          <p:cNvPr id="8" name="s8-shape-6"/>
          <p:cNvSpPr/>
          <p:nvPr/>
        </p:nvSpPr>
        <p:spPr>
          <a:xfrm>
            <a:off x="487680" y="2529840"/>
            <a:ext cx="11216640" cy="949960"/>
          </a:xfrm>
          <a:prstGeom prst="roundRect">
            <a:avLst>
              <a:gd name="adj" fmla="val 12834"/>
            </a:avLst>
          </a:prstGeom>
          <a:gradFill rotWithShape="1">
            <a:gsLst>
              <a:gs pos="0">
                <a:srgbClr val="FFFFFF"/>
              </a:gs>
              <a:gs pos="55000">
                <a:srgbClr val="F6F3F0"/>
              </a:gs>
              <a:gs pos="100000">
                <a:srgbClr val="FFF7ED"/>
              </a:gs>
            </a:gsLst>
            <a:lin ang="2700000" scaled="1"/>
          </a:gradFill>
          <a:ln w="889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603F29">
                <a:alpha val="10000"/>
              </a:srgbClr>
            </a:outerShdw>
          </a:effectLst>
        </p:spPr>
      </p:sp>
      <p:sp>
        <p:nvSpPr>
          <p:cNvPr id="9" name="s8-shape-7"/>
          <p:cNvSpPr/>
          <p:nvPr/>
        </p:nvSpPr>
        <p:spPr>
          <a:xfrm>
            <a:off x="487680" y="2529840"/>
            <a:ext cx="1767840" cy="949960"/>
          </a:xfrm>
          <a:prstGeom prst="roundRect">
            <a:avLst>
              <a:gd name="adj" fmla="val 12834"/>
            </a:avLst>
          </a:prstGeom>
          <a:solidFill>
            <a:srgbClr val="FFFFF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0" name="s8-text-8"/>
          <p:cNvSpPr/>
          <p:nvPr/>
        </p:nvSpPr>
        <p:spPr>
          <a:xfrm>
            <a:off x="640080" y="2667000"/>
            <a:ext cx="1447800" cy="7061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500" b="1" dirty="0">
                <a:solidFill>
                  <a:srgbClr val="B92A1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内容层</a:t>
            </a:r>
            <a:endParaRPr lang="zh-CN" sz="1500" dirty="0"/>
          </a:p>
        </p:txBody>
      </p:sp>
      <p:sp>
        <p:nvSpPr>
          <p:cNvPr id="11" name="s8-shape-9"/>
          <p:cNvSpPr/>
          <p:nvPr/>
        </p:nvSpPr>
        <p:spPr>
          <a:xfrm>
            <a:off x="2407920" y="2636520"/>
            <a:ext cx="2951480" cy="736600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8890">
            <a:solidFill>
              <a:srgbClr val="E6DDD6"/>
            </a:solidFill>
            <a:prstDash val="solid"/>
          </a:ln>
        </p:spPr>
      </p:sp>
      <p:sp>
        <p:nvSpPr>
          <p:cNvPr id="12" name="s8-text-10"/>
          <p:cNvSpPr/>
          <p:nvPr/>
        </p:nvSpPr>
        <p:spPr>
          <a:xfrm>
            <a:off x="2499360" y="2705100"/>
            <a:ext cx="2768600" cy="622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zh-CN" altLang="en-US" sz="1320" b="1" dirty="0">
                <a:solidFill>
                  <a:srgbClr val="333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源材料</a:t>
            </a:r>
            <a:endParaRPr lang="zh-CN" sz="1320" dirty="0"/>
          </a:p>
        </p:txBody>
      </p:sp>
      <p:sp>
        <p:nvSpPr>
          <p:cNvPr id="13" name="s8-shape-11"/>
          <p:cNvSpPr/>
          <p:nvPr/>
        </p:nvSpPr>
        <p:spPr>
          <a:xfrm>
            <a:off x="5496560" y="2636520"/>
            <a:ext cx="2951480" cy="736600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8890">
            <a:solidFill>
              <a:srgbClr val="E6DDD6"/>
            </a:solidFill>
            <a:prstDash val="solid"/>
          </a:ln>
        </p:spPr>
      </p:sp>
      <p:sp>
        <p:nvSpPr>
          <p:cNvPr id="14" name="s8-text-12"/>
          <p:cNvSpPr/>
          <p:nvPr/>
        </p:nvSpPr>
        <p:spPr>
          <a:xfrm>
            <a:off x="5588000" y="2705100"/>
            <a:ext cx="2768600" cy="622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zh-CN" altLang="en-US" sz="1320" b="1" dirty="0">
                <a:solidFill>
                  <a:srgbClr val="333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页面脚本</a:t>
            </a:r>
            <a:endParaRPr lang="zh-CN" sz="1320" dirty="0"/>
          </a:p>
        </p:txBody>
      </p:sp>
      <p:sp>
        <p:nvSpPr>
          <p:cNvPr id="15" name="s8-shape-13"/>
          <p:cNvSpPr/>
          <p:nvPr/>
        </p:nvSpPr>
        <p:spPr>
          <a:xfrm>
            <a:off x="8585200" y="2636520"/>
            <a:ext cx="2951480" cy="736600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8890">
            <a:solidFill>
              <a:srgbClr val="E6DDD6"/>
            </a:solidFill>
            <a:prstDash val="solid"/>
          </a:ln>
        </p:spPr>
      </p:sp>
      <p:sp>
        <p:nvSpPr>
          <p:cNvPr id="16" name="s8-text-14"/>
          <p:cNvSpPr/>
          <p:nvPr/>
        </p:nvSpPr>
        <p:spPr>
          <a:xfrm>
            <a:off x="8676640" y="2705100"/>
            <a:ext cx="2768600" cy="622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zh-CN" altLang="en-US" sz="1320" b="1" dirty="0">
                <a:solidFill>
                  <a:srgbClr val="333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证据与引用</a:t>
            </a:r>
            <a:endParaRPr lang="zh-CN" sz="1320" dirty="0"/>
          </a:p>
        </p:txBody>
      </p:sp>
      <p:sp>
        <p:nvSpPr>
          <p:cNvPr id="17" name="s8-shape-15"/>
          <p:cNvSpPr/>
          <p:nvPr/>
        </p:nvSpPr>
        <p:spPr>
          <a:xfrm>
            <a:off x="487680" y="3571240"/>
            <a:ext cx="11216640" cy="949960"/>
          </a:xfrm>
          <a:prstGeom prst="roundRect">
            <a:avLst>
              <a:gd name="adj" fmla="val 12834"/>
            </a:avLst>
          </a:prstGeom>
          <a:gradFill rotWithShape="1">
            <a:gsLst>
              <a:gs pos="0">
                <a:srgbClr val="FFFFFF"/>
              </a:gs>
              <a:gs pos="55000">
                <a:srgbClr val="F6F3F0"/>
              </a:gs>
              <a:gs pos="100000">
                <a:srgbClr val="FFF7ED"/>
              </a:gs>
            </a:gsLst>
            <a:lin ang="2700000" scaled="1"/>
          </a:gradFill>
          <a:ln w="889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603F29">
                <a:alpha val="10000"/>
              </a:srgbClr>
            </a:outerShdw>
          </a:effectLst>
        </p:spPr>
      </p:sp>
      <p:sp>
        <p:nvSpPr>
          <p:cNvPr id="18" name="s8-shape-16"/>
          <p:cNvSpPr/>
          <p:nvPr/>
        </p:nvSpPr>
        <p:spPr>
          <a:xfrm>
            <a:off x="487680" y="3571240"/>
            <a:ext cx="1767840" cy="949960"/>
          </a:xfrm>
          <a:prstGeom prst="roundRect">
            <a:avLst>
              <a:gd name="adj" fmla="val 12834"/>
            </a:avLst>
          </a:prstGeom>
          <a:solidFill>
            <a:srgbClr val="FFFFF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9" name="s8-text-17"/>
          <p:cNvSpPr/>
          <p:nvPr/>
        </p:nvSpPr>
        <p:spPr>
          <a:xfrm>
            <a:off x="640080" y="3708400"/>
            <a:ext cx="1447800" cy="7061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500" b="1" dirty="0">
                <a:solidFill>
                  <a:srgbClr val="B92A1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表达层</a:t>
            </a:r>
            <a:endParaRPr lang="zh-CN" sz="1500" dirty="0"/>
          </a:p>
        </p:txBody>
      </p:sp>
      <p:sp>
        <p:nvSpPr>
          <p:cNvPr id="20" name="s8-shape-18"/>
          <p:cNvSpPr/>
          <p:nvPr/>
        </p:nvSpPr>
        <p:spPr>
          <a:xfrm>
            <a:off x="2407920" y="3677920"/>
            <a:ext cx="2951480" cy="736600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8890">
            <a:solidFill>
              <a:srgbClr val="E6DDD6"/>
            </a:solidFill>
            <a:prstDash val="solid"/>
          </a:ln>
        </p:spPr>
      </p:sp>
      <p:sp>
        <p:nvSpPr>
          <p:cNvPr id="21" name="s8-text-19"/>
          <p:cNvSpPr/>
          <p:nvPr/>
        </p:nvSpPr>
        <p:spPr>
          <a:xfrm>
            <a:off x="2499360" y="3746500"/>
            <a:ext cx="2768600" cy="622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zh-CN" altLang="en-US" sz="1320" b="1" dirty="0">
                <a:solidFill>
                  <a:srgbClr val="333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设计变量</a:t>
            </a:r>
            <a:endParaRPr lang="zh-CN" sz="1320" dirty="0"/>
          </a:p>
        </p:txBody>
      </p:sp>
      <p:sp>
        <p:nvSpPr>
          <p:cNvPr id="22" name="s8-shape-20"/>
          <p:cNvSpPr/>
          <p:nvPr/>
        </p:nvSpPr>
        <p:spPr>
          <a:xfrm>
            <a:off x="5496560" y="3677920"/>
            <a:ext cx="2951480" cy="736600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8890">
            <a:solidFill>
              <a:srgbClr val="E6DDD6"/>
            </a:solidFill>
            <a:prstDash val="solid"/>
          </a:ln>
        </p:spPr>
      </p:sp>
      <p:sp>
        <p:nvSpPr>
          <p:cNvPr id="23" name="s8-text-21"/>
          <p:cNvSpPr/>
          <p:nvPr/>
        </p:nvSpPr>
        <p:spPr>
          <a:xfrm>
            <a:off x="5588000" y="3746500"/>
            <a:ext cx="2768600" cy="622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zh-CN" altLang="en-US" sz="1320" b="1" dirty="0">
                <a:solidFill>
                  <a:srgbClr val="333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页面布局</a:t>
            </a:r>
            <a:endParaRPr lang="zh-CN" sz="1320" dirty="0"/>
          </a:p>
        </p:txBody>
      </p:sp>
      <p:sp>
        <p:nvSpPr>
          <p:cNvPr id="24" name="s8-shape-22"/>
          <p:cNvSpPr/>
          <p:nvPr/>
        </p:nvSpPr>
        <p:spPr>
          <a:xfrm>
            <a:off x="8585200" y="3677920"/>
            <a:ext cx="2951480" cy="736600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8890">
            <a:solidFill>
              <a:srgbClr val="E6DDD6"/>
            </a:solidFill>
            <a:prstDash val="solid"/>
          </a:ln>
        </p:spPr>
      </p:sp>
      <p:sp>
        <p:nvSpPr>
          <p:cNvPr id="25" name="s8-text-23"/>
          <p:cNvSpPr/>
          <p:nvPr/>
        </p:nvSpPr>
        <p:spPr>
          <a:xfrm>
            <a:off x="8676640" y="3746500"/>
            <a:ext cx="2768600" cy="622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zh-CN" altLang="en-US" sz="1320" b="1" dirty="0">
                <a:solidFill>
                  <a:srgbClr val="333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图像资产</a:t>
            </a:r>
            <a:endParaRPr lang="zh-CN" sz="1320" dirty="0"/>
          </a:p>
        </p:txBody>
      </p:sp>
      <p:sp>
        <p:nvSpPr>
          <p:cNvPr id="26" name="s8-shape-24"/>
          <p:cNvSpPr/>
          <p:nvPr/>
        </p:nvSpPr>
        <p:spPr>
          <a:xfrm>
            <a:off x="487680" y="4612640"/>
            <a:ext cx="11216640" cy="949960"/>
          </a:xfrm>
          <a:prstGeom prst="roundRect">
            <a:avLst>
              <a:gd name="adj" fmla="val 12834"/>
            </a:avLst>
          </a:prstGeom>
          <a:gradFill rotWithShape="1">
            <a:gsLst>
              <a:gs pos="0">
                <a:srgbClr val="FFFFFF"/>
              </a:gs>
              <a:gs pos="55000">
                <a:srgbClr val="F6F3F0"/>
              </a:gs>
              <a:gs pos="100000">
                <a:srgbClr val="FFF7ED"/>
              </a:gs>
            </a:gsLst>
            <a:lin ang="2700000" scaled="1"/>
          </a:gradFill>
          <a:ln w="889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603F29">
                <a:alpha val="10000"/>
              </a:srgbClr>
            </a:outerShdw>
          </a:effectLst>
        </p:spPr>
      </p:sp>
      <p:sp>
        <p:nvSpPr>
          <p:cNvPr id="27" name="s8-shape-25"/>
          <p:cNvSpPr/>
          <p:nvPr/>
        </p:nvSpPr>
        <p:spPr>
          <a:xfrm>
            <a:off x="487680" y="4612640"/>
            <a:ext cx="1767840" cy="949960"/>
          </a:xfrm>
          <a:prstGeom prst="roundRect">
            <a:avLst>
              <a:gd name="adj" fmla="val 12834"/>
            </a:avLst>
          </a:prstGeom>
          <a:gradFill rotWithShape="1">
            <a:gsLst>
              <a:gs pos="0">
                <a:srgbClr val="FF7800"/>
              </a:gs>
              <a:gs pos="30000">
                <a:srgbClr val="FF5000"/>
              </a:gs>
              <a:gs pos="60000">
                <a:srgbClr val="FF2600"/>
              </a:gs>
              <a:gs pos="80000">
                <a:srgbClr val="ED1006"/>
              </a:gs>
              <a:gs pos="100000">
                <a:srgbClr val="D90404"/>
              </a:gs>
            </a:gsLst>
            <a:lin ang="0" scaled="1"/>
          </a:gra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8" name="s8-text-26"/>
          <p:cNvSpPr/>
          <p:nvPr/>
        </p:nvSpPr>
        <p:spPr>
          <a:xfrm>
            <a:off x="640080" y="4749800"/>
            <a:ext cx="1447800" cy="7061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交付层</a:t>
            </a:r>
            <a:endParaRPr lang="zh-CN" sz="1500" dirty="0"/>
          </a:p>
        </p:txBody>
      </p:sp>
      <p:sp>
        <p:nvSpPr>
          <p:cNvPr id="29" name="s8-shape-27"/>
          <p:cNvSpPr/>
          <p:nvPr/>
        </p:nvSpPr>
        <p:spPr>
          <a:xfrm>
            <a:off x="2407920" y="4719320"/>
            <a:ext cx="2951480" cy="736600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8890">
            <a:solidFill>
              <a:srgbClr val="E6DDD6"/>
            </a:solidFill>
            <a:prstDash val="solid"/>
          </a:ln>
        </p:spPr>
      </p:sp>
      <p:sp>
        <p:nvSpPr>
          <p:cNvPr id="30" name="s8-text-28"/>
          <p:cNvSpPr/>
          <p:nvPr/>
        </p:nvSpPr>
        <p:spPr>
          <a:xfrm>
            <a:off x="2499360" y="4787900"/>
            <a:ext cx="2768600" cy="622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zh-CN" altLang="en-US" sz="1320" b="1" dirty="0">
                <a:solidFill>
                  <a:srgbClr val="333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可编辑 PPTX</a:t>
            </a:r>
            <a:endParaRPr lang="zh-CN" sz="1320" dirty="0"/>
          </a:p>
        </p:txBody>
      </p:sp>
      <p:sp>
        <p:nvSpPr>
          <p:cNvPr id="31" name="s8-shape-29"/>
          <p:cNvSpPr/>
          <p:nvPr/>
        </p:nvSpPr>
        <p:spPr>
          <a:xfrm>
            <a:off x="5496560" y="4719320"/>
            <a:ext cx="2951480" cy="736600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8890">
            <a:solidFill>
              <a:srgbClr val="E6DDD6"/>
            </a:solidFill>
            <a:prstDash val="solid"/>
          </a:ln>
        </p:spPr>
      </p:sp>
      <p:sp>
        <p:nvSpPr>
          <p:cNvPr id="32" name="s8-text-30"/>
          <p:cNvSpPr/>
          <p:nvPr/>
        </p:nvSpPr>
        <p:spPr>
          <a:xfrm>
            <a:off x="5588000" y="4787900"/>
            <a:ext cx="2768600" cy="622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zh-CN" altLang="en-US" sz="1320" b="1" dirty="0">
                <a:solidFill>
                  <a:srgbClr val="333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离线 HTML 预览</a:t>
            </a:r>
            <a:endParaRPr lang="zh-CN" sz="1320" dirty="0"/>
          </a:p>
        </p:txBody>
      </p:sp>
      <p:sp>
        <p:nvSpPr>
          <p:cNvPr id="33" name="s8-shape-31"/>
          <p:cNvSpPr/>
          <p:nvPr/>
        </p:nvSpPr>
        <p:spPr>
          <a:xfrm>
            <a:off x="8585200" y="4719320"/>
            <a:ext cx="2951480" cy="736600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8890">
            <a:solidFill>
              <a:srgbClr val="E6DDD6"/>
            </a:solidFill>
            <a:prstDash val="solid"/>
          </a:ln>
        </p:spPr>
      </p:sp>
      <p:sp>
        <p:nvSpPr>
          <p:cNvPr id="34" name="s8-text-32"/>
          <p:cNvSpPr/>
          <p:nvPr/>
        </p:nvSpPr>
        <p:spPr>
          <a:xfrm>
            <a:off x="8676640" y="4787900"/>
            <a:ext cx="2768600" cy="622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zh-CN" altLang="en-US" sz="1320" b="1" dirty="0">
                <a:solidFill>
                  <a:srgbClr val="333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质量记录</a:t>
            </a:r>
            <a:endParaRPr lang="zh-CN" sz="1320" dirty="0"/>
          </a:p>
        </p:txBody>
      </p:sp>
      <p:sp>
        <p:nvSpPr>
          <p:cNvPr id="35" name="s8-shape-33"/>
          <p:cNvSpPr/>
          <p:nvPr/>
        </p:nvSpPr>
        <p:spPr>
          <a:xfrm>
            <a:off x="487680" y="6019800"/>
            <a:ext cx="11216640" cy="518160"/>
          </a:xfrm>
          <a:prstGeom prst="roundRect">
            <a:avLst>
              <a:gd name="adj" fmla="val 26471"/>
            </a:avLst>
          </a:prstGeom>
          <a:gradFill rotWithShape="1">
            <a:gsLst>
              <a:gs pos="0">
                <a:srgbClr val="FFFFFF"/>
              </a:gs>
              <a:gs pos="55000">
                <a:srgbClr val="F6F3F0"/>
              </a:gs>
              <a:gs pos="100000">
                <a:srgbClr val="FFF7ED"/>
              </a:gs>
            </a:gsLst>
            <a:lin ang="2700000" scaled="1"/>
          </a:gradFill>
          <a:ln w="889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603F29">
                <a:alpha val="10000"/>
              </a:srgbClr>
            </a:outerShdw>
          </a:effectLst>
        </p:spPr>
      </p:sp>
      <p:sp>
        <p:nvSpPr>
          <p:cNvPr id="36" name="s8-shape-34"/>
          <p:cNvSpPr/>
          <p:nvPr/>
        </p:nvSpPr>
        <p:spPr>
          <a:xfrm>
            <a:off x="487680" y="6019800"/>
            <a:ext cx="45720" cy="51816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F7800"/>
              </a:gs>
              <a:gs pos="30000">
                <a:srgbClr val="FF5000"/>
              </a:gs>
              <a:gs pos="60000">
                <a:srgbClr val="FF2600"/>
              </a:gs>
              <a:gs pos="80000">
                <a:srgbClr val="ED1006"/>
              </a:gs>
              <a:gs pos="100000">
                <a:srgbClr val="D90404"/>
              </a:gs>
            </a:gsLst>
            <a:lin ang="0" scaled="1"/>
          </a:gra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7" name="s8-text-35"/>
          <p:cNvSpPr/>
          <p:nvPr/>
        </p:nvSpPr>
        <p:spPr>
          <a:xfrm>
            <a:off x="678180" y="6156960"/>
            <a:ext cx="10820400" cy="2819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380" b="1" dirty="0">
                <a:solidFill>
                  <a:srgbClr val="10121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共用一份内容模型，支持后续修改与重新生成。</a:t>
            </a:r>
            <a:endParaRPr lang="zh-CN" sz="138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2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9-text-1"/>
          <p:cNvSpPr/>
          <p:nvPr/>
        </p:nvSpPr>
        <p:spPr>
          <a:xfrm>
            <a:off x="487680" y="266700"/>
            <a:ext cx="6096000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380" b="1" dirty="0">
                <a:solidFill>
                  <a:srgbClr val="B92A1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WARM GLASS</a:t>
            </a:r>
            <a:endParaRPr lang="zh-CN" sz="1380" dirty="0"/>
          </a:p>
        </p:txBody>
      </p:sp>
      <p:sp>
        <p:nvSpPr>
          <p:cNvPr id="4" name="s9-text-2"/>
          <p:cNvSpPr/>
          <p:nvPr/>
        </p:nvSpPr>
        <p:spPr>
          <a:xfrm>
            <a:off x="487680" y="594360"/>
            <a:ext cx="9525000" cy="2133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020" dirty="0">
                <a:solidFill>
                  <a:srgbClr val="6661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Clarity in narrative. Consistency in design.</a:t>
            </a:r>
            <a:endParaRPr lang="zh-CN" sz="1020" dirty="0"/>
          </a:p>
        </p:txBody>
      </p:sp>
      <p:sp>
        <p:nvSpPr>
          <p:cNvPr id="5" name="s9-text-3"/>
          <p:cNvSpPr/>
          <p:nvPr/>
        </p:nvSpPr>
        <p:spPr>
          <a:xfrm>
            <a:off x="11140440" y="266700"/>
            <a:ext cx="563880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ct val="110000"/>
              </a:lnSpc>
              <a:buNone/>
            </a:pPr>
            <a:r>
              <a:rPr lang="zh-CN" altLang="en-US" sz="1260" dirty="0">
                <a:solidFill>
                  <a:srgbClr val="6661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09</a:t>
            </a:r>
            <a:endParaRPr lang="zh-CN" sz="1260" dirty="0"/>
          </a:p>
        </p:txBody>
      </p:sp>
      <p:sp>
        <p:nvSpPr>
          <p:cNvPr id="6" name="s9-text-4"/>
          <p:cNvSpPr/>
          <p:nvPr/>
        </p:nvSpPr>
        <p:spPr>
          <a:xfrm>
            <a:off x="487680" y="853440"/>
            <a:ext cx="11049000" cy="2133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endParaRPr lang="zh-CN" sz="1080" dirty="0"/>
          </a:p>
        </p:txBody>
      </p:sp>
      <p:sp>
        <p:nvSpPr>
          <p:cNvPr id="7" name="s9-text-5"/>
          <p:cNvSpPr/>
          <p:nvPr/>
        </p:nvSpPr>
        <p:spPr>
          <a:xfrm>
            <a:off x="487680" y="1150620"/>
            <a:ext cx="11216640" cy="9372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3000" b="1" dirty="0">
                <a:solidFill>
                  <a:srgbClr val="10121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数字必须连同定义一起出现</a:t>
            </a:r>
            <a:endParaRPr lang="zh-CN" sz="3000" dirty="0"/>
          </a:p>
        </p:txBody>
      </p:sp>
      <p:sp>
        <p:nvSpPr>
          <p:cNvPr id="8" name="s9-text-6"/>
          <p:cNvSpPr/>
          <p:nvPr/>
        </p:nvSpPr>
        <p:spPr>
          <a:xfrm>
            <a:off x="487680" y="2065020"/>
            <a:ext cx="1121664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380" dirty="0">
                <a:solidFill>
                  <a:srgbClr val="6661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本页仅演示指标版式，数值不代表实际业务成果。</a:t>
            </a:r>
            <a:endParaRPr lang="zh-CN" sz="1380" dirty="0"/>
          </a:p>
        </p:txBody>
      </p:sp>
      <p:sp>
        <p:nvSpPr>
          <p:cNvPr id="9" name="s9-shape-7"/>
          <p:cNvSpPr/>
          <p:nvPr/>
        </p:nvSpPr>
        <p:spPr>
          <a:xfrm>
            <a:off x="487680" y="2644140"/>
            <a:ext cx="3596640" cy="2987040"/>
          </a:xfrm>
          <a:prstGeom prst="roundRect">
            <a:avLst>
              <a:gd name="adj" fmla="val 5612"/>
            </a:avLst>
          </a:prstGeom>
          <a:gradFill rotWithShape="1">
            <a:gsLst>
              <a:gs pos="0">
                <a:srgbClr val="FFFFFF"/>
              </a:gs>
              <a:gs pos="55000">
                <a:srgbClr val="F6F3F0"/>
              </a:gs>
              <a:gs pos="100000">
                <a:srgbClr val="FFF7ED"/>
              </a:gs>
            </a:gsLst>
            <a:lin ang="2700000" scaled="1"/>
          </a:gradFill>
          <a:ln w="889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603F29">
                <a:alpha val="10000"/>
              </a:srgbClr>
            </a:outerShdw>
          </a:effectLst>
        </p:spPr>
      </p:sp>
      <p:sp>
        <p:nvSpPr>
          <p:cNvPr id="10" name="s9-text-8"/>
          <p:cNvSpPr/>
          <p:nvPr/>
        </p:nvSpPr>
        <p:spPr>
          <a:xfrm>
            <a:off x="678180" y="2895600"/>
            <a:ext cx="3215640" cy="838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3720" b="1" dirty="0">
                <a:solidFill>
                  <a:srgbClr val="B92A1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30%</a:t>
            </a:r>
            <a:endParaRPr lang="zh-CN" sz="3720" dirty="0"/>
          </a:p>
        </p:txBody>
      </p:sp>
      <p:sp>
        <p:nvSpPr>
          <p:cNvPr id="11" name="s9-text-9"/>
          <p:cNvSpPr/>
          <p:nvPr/>
        </p:nvSpPr>
        <p:spPr>
          <a:xfrm>
            <a:off x="678180" y="3886200"/>
            <a:ext cx="3215640" cy="571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680" b="1" dirty="0">
                <a:solidFill>
                  <a:srgbClr val="10121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示例改善幅度</a:t>
            </a:r>
            <a:endParaRPr lang="zh-CN" sz="1680" dirty="0"/>
          </a:p>
        </p:txBody>
      </p:sp>
      <p:sp>
        <p:nvSpPr>
          <p:cNvPr id="12" name="s9-text-10"/>
          <p:cNvSpPr/>
          <p:nvPr/>
        </p:nvSpPr>
        <p:spPr>
          <a:xfrm>
            <a:off x="678180" y="4572000"/>
            <a:ext cx="3215640" cy="5638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320" dirty="0">
                <a:solidFill>
                  <a:srgbClr val="6661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说明基线与对比口径</a:t>
            </a:r>
            <a:endParaRPr lang="zh-CN" sz="1320" dirty="0"/>
          </a:p>
        </p:txBody>
      </p:sp>
      <p:sp>
        <p:nvSpPr>
          <p:cNvPr id="13" name="s9-text-11"/>
          <p:cNvSpPr/>
          <p:nvPr/>
        </p:nvSpPr>
        <p:spPr>
          <a:xfrm>
            <a:off x="678180" y="5280660"/>
            <a:ext cx="3215640" cy="2362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960" dirty="0">
                <a:solidFill>
                  <a:srgbClr val="6661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演示数据 / 非实际业务成果</a:t>
            </a:r>
            <a:endParaRPr lang="zh-CN" sz="960" dirty="0"/>
          </a:p>
        </p:txBody>
      </p:sp>
      <p:sp>
        <p:nvSpPr>
          <p:cNvPr id="14" name="s9-shape-12"/>
          <p:cNvSpPr/>
          <p:nvPr/>
        </p:nvSpPr>
        <p:spPr>
          <a:xfrm>
            <a:off x="4297680" y="2644140"/>
            <a:ext cx="3596640" cy="2987040"/>
          </a:xfrm>
          <a:prstGeom prst="roundRect">
            <a:avLst>
              <a:gd name="adj" fmla="val 5612"/>
            </a:avLst>
          </a:prstGeom>
          <a:gradFill rotWithShape="1">
            <a:gsLst>
              <a:gs pos="0">
                <a:srgbClr val="FFFFFF"/>
              </a:gs>
              <a:gs pos="55000">
                <a:srgbClr val="F6F3F0"/>
              </a:gs>
              <a:gs pos="100000">
                <a:srgbClr val="FFF7ED"/>
              </a:gs>
            </a:gsLst>
            <a:lin ang="2700000" scaled="1"/>
          </a:gradFill>
          <a:ln w="889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603F29">
                <a:alpha val="10000"/>
              </a:srgbClr>
            </a:outerShdw>
          </a:effectLst>
        </p:spPr>
      </p:sp>
      <p:sp>
        <p:nvSpPr>
          <p:cNvPr id="15" name="s9-text-13"/>
          <p:cNvSpPr/>
          <p:nvPr/>
        </p:nvSpPr>
        <p:spPr>
          <a:xfrm>
            <a:off x="4488180" y="2895600"/>
            <a:ext cx="3215640" cy="838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3720" b="1" dirty="0">
                <a:solidFill>
                  <a:srgbClr val="B92A1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zh-CN" sz="3720" dirty="0"/>
          </a:p>
        </p:txBody>
      </p:sp>
      <p:sp>
        <p:nvSpPr>
          <p:cNvPr id="16" name="s9-text-14"/>
          <p:cNvSpPr/>
          <p:nvPr/>
        </p:nvSpPr>
        <p:spPr>
          <a:xfrm>
            <a:off x="4488180" y="3886200"/>
            <a:ext cx="3215640" cy="571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680" b="1" dirty="0">
                <a:solidFill>
                  <a:srgbClr val="10121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示例覆盖数量</a:t>
            </a:r>
            <a:endParaRPr lang="zh-CN" sz="1680" dirty="0"/>
          </a:p>
        </p:txBody>
      </p:sp>
      <p:sp>
        <p:nvSpPr>
          <p:cNvPr id="17" name="s9-text-15"/>
          <p:cNvSpPr/>
          <p:nvPr/>
        </p:nvSpPr>
        <p:spPr>
          <a:xfrm>
            <a:off x="4488180" y="4572000"/>
            <a:ext cx="3215640" cy="5638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320" dirty="0">
                <a:solidFill>
                  <a:srgbClr val="6661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说明统计范围与时间</a:t>
            </a:r>
            <a:endParaRPr lang="zh-CN" sz="1320" dirty="0"/>
          </a:p>
        </p:txBody>
      </p:sp>
      <p:sp>
        <p:nvSpPr>
          <p:cNvPr id="18" name="s9-text-16"/>
          <p:cNvSpPr/>
          <p:nvPr/>
        </p:nvSpPr>
        <p:spPr>
          <a:xfrm>
            <a:off x="4488180" y="5280660"/>
            <a:ext cx="3215640" cy="2362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960" dirty="0">
                <a:solidFill>
                  <a:srgbClr val="6661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演示数据 / 非实际业务成果</a:t>
            </a:r>
            <a:endParaRPr lang="zh-CN" sz="960" dirty="0"/>
          </a:p>
        </p:txBody>
      </p:sp>
      <p:sp>
        <p:nvSpPr>
          <p:cNvPr id="19" name="s9-shape-17"/>
          <p:cNvSpPr/>
          <p:nvPr/>
        </p:nvSpPr>
        <p:spPr>
          <a:xfrm>
            <a:off x="8107680" y="2644140"/>
            <a:ext cx="3596640" cy="2987040"/>
          </a:xfrm>
          <a:prstGeom prst="roundRect">
            <a:avLst>
              <a:gd name="adj" fmla="val 5612"/>
            </a:avLst>
          </a:prstGeom>
          <a:gradFill rotWithShape="1">
            <a:gsLst>
              <a:gs pos="0">
                <a:srgbClr val="FFFFFF"/>
              </a:gs>
              <a:gs pos="55000">
                <a:srgbClr val="F6F3F0"/>
              </a:gs>
              <a:gs pos="100000">
                <a:srgbClr val="FFF7ED"/>
              </a:gs>
            </a:gsLst>
            <a:lin ang="2700000" scaled="1"/>
          </a:gradFill>
          <a:ln w="889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603F29">
                <a:alpha val="10000"/>
              </a:srgbClr>
            </a:outerShdw>
          </a:effectLst>
        </p:spPr>
      </p:sp>
      <p:sp>
        <p:nvSpPr>
          <p:cNvPr id="20" name="s9-text-18"/>
          <p:cNvSpPr/>
          <p:nvPr/>
        </p:nvSpPr>
        <p:spPr>
          <a:xfrm>
            <a:off x="8298180" y="2895600"/>
            <a:ext cx="3215640" cy="838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3720" b="1" dirty="0">
                <a:solidFill>
                  <a:srgbClr val="B92A1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周</a:t>
            </a:r>
            <a:endParaRPr lang="zh-CN" sz="3720" dirty="0"/>
          </a:p>
        </p:txBody>
      </p:sp>
      <p:sp>
        <p:nvSpPr>
          <p:cNvPr id="21" name="s9-text-19"/>
          <p:cNvSpPr/>
          <p:nvPr/>
        </p:nvSpPr>
        <p:spPr>
          <a:xfrm>
            <a:off x="8298180" y="3886200"/>
            <a:ext cx="3215640" cy="571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680" b="1" dirty="0">
                <a:solidFill>
                  <a:srgbClr val="10121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示例交付周期</a:t>
            </a:r>
            <a:endParaRPr lang="zh-CN" sz="1680" dirty="0"/>
          </a:p>
        </p:txBody>
      </p:sp>
      <p:sp>
        <p:nvSpPr>
          <p:cNvPr id="22" name="s9-text-20"/>
          <p:cNvSpPr/>
          <p:nvPr/>
        </p:nvSpPr>
        <p:spPr>
          <a:xfrm>
            <a:off x="8298180" y="4572000"/>
            <a:ext cx="3215640" cy="5638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320" dirty="0">
                <a:solidFill>
                  <a:srgbClr val="6661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说明起点与完成条件</a:t>
            </a:r>
            <a:endParaRPr lang="zh-CN" sz="1320" dirty="0"/>
          </a:p>
        </p:txBody>
      </p:sp>
      <p:sp>
        <p:nvSpPr>
          <p:cNvPr id="23" name="s9-text-21"/>
          <p:cNvSpPr/>
          <p:nvPr/>
        </p:nvSpPr>
        <p:spPr>
          <a:xfrm>
            <a:off x="8298180" y="5280660"/>
            <a:ext cx="3215640" cy="2362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960" dirty="0">
                <a:solidFill>
                  <a:srgbClr val="6661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演示数据 / 非实际业务成果</a:t>
            </a:r>
            <a:endParaRPr lang="zh-CN" sz="960" dirty="0"/>
          </a:p>
        </p:txBody>
      </p:sp>
      <p:sp>
        <p:nvSpPr>
          <p:cNvPr id="24" name="s9-shape-22"/>
          <p:cNvSpPr/>
          <p:nvPr/>
        </p:nvSpPr>
        <p:spPr>
          <a:xfrm>
            <a:off x="487680" y="6019800"/>
            <a:ext cx="11216640" cy="518160"/>
          </a:xfrm>
          <a:prstGeom prst="roundRect">
            <a:avLst>
              <a:gd name="adj" fmla="val 26471"/>
            </a:avLst>
          </a:prstGeom>
          <a:gradFill rotWithShape="1">
            <a:gsLst>
              <a:gs pos="0">
                <a:srgbClr val="FFFFFF"/>
              </a:gs>
              <a:gs pos="55000">
                <a:srgbClr val="F6F3F0"/>
              </a:gs>
              <a:gs pos="100000">
                <a:srgbClr val="FFF7ED"/>
              </a:gs>
            </a:gsLst>
            <a:lin ang="2700000" scaled="1"/>
          </a:gradFill>
          <a:ln w="889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603F29">
                <a:alpha val="10000"/>
              </a:srgbClr>
            </a:outerShdw>
          </a:effectLst>
        </p:spPr>
      </p:sp>
      <p:sp>
        <p:nvSpPr>
          <p:cNvPr id="25" name="s9-shape-23"/>
          <p:cNvSpPr/>
          <p:nvPr/>
        </p:nvSpPr>
        <p:spPr>
          <a:xfrm>
            <a:off x="487680" y="6019800"/>
            <a:ext cx="45720" cy="51816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F7800"/>
              </a:gs>
              <a:gs pos="30000">
                <a:srgbClr val="FF5000"/>
              </a:gs>
              <a:gs pos="60000">
                <a:srgbClr val="FF2600"/>
              </a:gs>
              <a:gs pos="80000">
                <a:srgbClr val="ED1006"/>
              </a:gs>
              <a:gs pos="100000">
                <a:srgbClr val="D90404"/>
              </a:gs>
            </a:gsLst>
            <a:lin ang="0" scaled="1"/>
          </a:gra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6" name="s9-text-24"/>
          <p:cNvSpPr/>
          <p:nvPr/>
        </p:nvSpPr>
        <p:spPr>
          <a:xfrm>
            <a:off x="678180" y="6156960"/>
            <a:ext cx="10820400" cy="2819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380" b="1" dirty="0">
                <a:solidFill>
                  <a:srgbClr val="10121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实际使用时，替换数值、定义和来源。</a:t>
            </a:r>
            <a:endParaRPr lang="zh-CN" sz="138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2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10-text-1"/>
          <p:cNvSpPr/>
          <p:nvPr/>
        </p:nvSpPr>
        <p:spPr>
          <a:xfrm>
            <a:off x="487680" y="266700"/>
            <a:ext cx="6096000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380" b="1" dirty="0">
                <a:solidFill>
                  <a:srgbClr val="B92A1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WARM GLASS</a:t>
            </a:r>
            <a:endParaRPr lang="zh-CN" sz="1380" dirty="0"/>
          </a:p>
        </p:txBody>
      </p:sp>
      <p:sp>
        <p:nvSpPr>
          <p:cNvPr id="4" name="s10-text-2"/>
          <p:cNvSpPr/>
          <p:nvPr/>
        </p:nvSpPr>
        <p:spPr>
          <a:xfrm>
            <a:off x="487680" y="594360"/>
            <a:ext cx="9525000" cy="2133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020" dirty="0">
                <a:solidFill>
                  <a:srgbClr val="6661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Clarity in narrative. Consistency in design.</a:t>
            </a:r>
            <a:endParaRPr lang="zh-CN" sz="1020" dirty="0"/>
          </a:p>
        </p:txBody>
      </p:sp>
      <p:sp>
        <p:nvSpPr>
          <p:cNvPr id="5" name="s10-text-3"/>
          <p:cNvSpPr/>
          <p:nvPr/>
        </p:nvSpPr>
        <p:spPr>
          <a:xfrm>
            <a:off x="11140440" y="266700"/>
            <a:ext cx="563880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ct val="110000"/>
              </a:lnSpc>
              <a:buNone/>
            </a:pPr>
            <a:r>
              <a:rPr lang="zh-CN" altLang="en-US" sz="1260" dirty="0">
                <a:solidFill>
                  <a:srgbClr val="6661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zh-CN" sz="1260" dirty="0"/>
          </a:p>
        </p:txBody>
      </p:sp>
      <p:sp>
        <p:nvSpPr>
          <p:cNvPr id="6" name="s10-text-4"/>
          <p:cNvSpPr/>
          <p:nvPr/>
        </p:nvSpPr>
        <p:spPr>
          <a:xfrm>
            <a:off x="487680" y="853440"/>
            <a:ext cx="11049000" cy="2133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endParaRPr lang="zh-CN" sz="1080" dirty="0"/>
          </a:p>
        </p:txBody>
      </p:sp>
      <p:sp>
        <p:nvSpPr>
          <p:cNvPr id="7" name="s10-text-5"/>
          <p:cNvSpPr/>
          <p:nvPr/>
        </p:nvSpPr>
        <p:spPr>
          <a:xfrm>
            <a:off x="487680" y="1150620"/>
            <a:ext cx="11216640" cy="9372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3000" b="1" dirty="0">
                <a:solidFill>
                  <a:srgbClr val="10121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用独立插画表达材质与空间</a:t>
            </a:r>
            <a:endParaRPr lang="zh-CN" sz="3000" dirty="0"/>
          </a:p>
        </p:txBody>
      </p:sp>
      <p:sp>
        <p:nvSpPr>
          <p:cNvPr id="8" name="s10-text-6"/>
          <p:cNvSpPr/>
          <p:nvPr/>
        </p:nvSpPr>
        <p:spPr>
          <a:xfrm>
            <a:off x="487680" y="2065020"/>
            <a:ext cx="1121664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380" dirty="0">
                <a:solidFill>
                  <a:srgbClr val="6661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文字与事实留在原生对象中，玻璃质感由单独的图片承载。</a:t>
            </a:r>
            <a:endParaRPr lang="zh-CN" sz="1380" dirty="0"/>
          </a:p>
        </p:txBody>
      </p:sp>
      <p:pic>
        <p:nvPicPr>
          <p:cNvPr id="9" name="s10-image-7" descr="无品牌暖色玻璃路径示意图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24275" y="2552700"/>
            <a:ext cx="4743450" cy="3162300"/>
          </a:xfrm>
          <a:prstGeom prst="rect">
            <a:avLst/>
          </a:prstGeom>
        </p:spPr>
      </p:pic>
      <p:sp>
        <p:nvSpPr>
          <p:cNvPr id="10" name="s10-shape-8"/>
          <p:cNvSpPr/>
          <p:nvPr/>
        </p:nvSpPr>
        <p:spPr>
          <a:xfrm>
            <a:off x="487680" y="6019800"/>
            <a:ext cx="11216640" cy="518160"/>
          </a:xfrm>
          <a:prstGeom prst="roundRect">
            <a:avLst>
              <a:gd name="adj" fmla="val 26471"/>
            </a:avLst>
          </a:prstGeom>
          <a:gradFill rotWithShape="1">
            <a:gsLst>
              <a:gs pos="0">
                <a:srgbClr val="FFFFFF"/>
              </a:gs>
              <a:gs pos="55000">
                <a:srgbClr val="F6F3F0"/>
              </a:gs>
              <a:gs pos="100000">
                <a:srgbClr val="FFF7ED"/>
              </a:gs>
            </a:gsLst>
            <a:lin ang="2700000" scaled="1"/>
          </a:gradFill>
          <a:ln w="889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603F29">
                <a:alpha val="10000"/>
              </a:srgbClr>
            </a:outerShdw>
          </a:effectLst>
        </p:spPr>
      </p:sp>
      <p:sp>
        <p:nvSpPr>
          <p:cNvPr id="11" name="s10-shape-9"/>
          <p:cNvSpPr/>
          <p:nvPr/>
        </p:nvSpPr>
        <p:spPr>
          <a:xfrm>
            <a:off x="487680" y="6019800"/>
            <a:ext cx="45720" cy="51816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F7800"/>
              </a:gs>
              <a:gs pos="30000">
                <a:srgbClr val="FF5000"/>
              </a:gs>
              <a:gs pos="60000">
                <a:srgbClr val="FF2600"/>
              </a:gs>
              <a:gs pos="80000">
                <a:srgbClr val="ED1006"/>
              </a:gs>
              <a:gs pos="100000">
                <a:srgbClr val="D90404"/>
              </a:gs>
            </a:gsLst>
            <a:lin ang="0" scaled="1"/>
          </a:gra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2" name="s10-text-10"/>
          <p:cNvSpPr/>
          <p:nvPr/>
        </p:nvSpPr>
        <p:spPr>
          <a:xfrm>
            <a:off x="678180" y="6156960"/>
            <a:ext cx="10820400" cy="2819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380" b="1" dirty="0">
                <a:solidFill>
                  <a:srgbClr val="10121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图片是视觉资产，节点名称和业务含义由内容定义。</a:t>
            </a:r>
            <a:endParaRPr lang="zh-CN" sz="138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2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11-text-1"/>
          <p:cNvSpPr/>
          <p:nvPr/>
        </p:nvSpPr>
        <p:spPr>
          <a:xfrm>
            <a:off x="487680" y="266700"/>
            <a:ext cx="6096000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380" b="1" dirty="0">
                <a:solidFill>
                  <a:srgbClr val="B92A1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WARM GLASS</a:t>
            </a:r>
            <a:endParaRPr lang="zh-CN" sz="1380" dirty="0"/>
          </a:p>
        </p:txBody>
      </p:sp>
      <p:sp>
        <p:nvSpPr>
          <p:cNvPr id="4" name="s11-text-2"/>
          <p:cNvSpPr/>
          <p:nvPr/>
        </p:nvSpPr>
        <p:spPr>
          <a:xfrm>
            <a:off x="487680" y="594360"/>
            <a:ext cx="9525000" cy="2133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020" dirty="0">
                <a:solidFill>
                  <a:srgbClr val="6661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Clarity in narrative. Consistency in design.</a:t>
            </a:r>
            <a:endParaRPr lang="zh-CN" sz="1020" dirty="0"/>
          </a:p>
        </p:txBody>
      </p:sp>
      <p:sp>
        <p:nvSpPr>
          <p:cNvPr id="5" name="s11-text-3"/>
          <p:cNvSpPr/>
          <p:nvPr/>
        </p:nvSpPr>
        <p:spPr>
          <a:xfrm>
            <a:off x="11140440" y="266700"/>
            <a:ext cx="563880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ct val="110000"/>
              </a:lnSpc>
              <a:buNone/>
            </a:pPr>
            <a:r>
              <a:rPr lang="zh-CN" altLang="en-US" sz="1260" dirty="0">
                <a:solidFill>
                  <a:srgbClr val="6661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zh-CN" sz="1260" dirty="0"/>
          </a:p>
        </p:txBody>
      </p:sp>
      <p:sp>
        <p:nvSpPr>
          <p:cNvPr id="6" name="s11-text-4"/>
          <p:cNvSpPr/>
          <p:nvPr/>
        </p:nvSpPr>
        <p:spPr>
          <a:xfrm>
            <a:off x="487680" y="1920240"/>
            <a:ext cx="6858000" cy="15773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3840" b="1" dirty="0">
                <a:solidFill>
                  <a:srgbClr val="10121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把注意力</a:t>
            </a:r>
            <a:endParaRPr lang="zh-CN" sz="3840" dirty="0"/>
          </a:p>
          <a:p>
            <a:pPr algn="l" indent="0" marL="0">
              <a:lnSpc>
                <a:spcPct val="110000"/>
              </a:lnSpc>
              <a:buNone/>
            </a:pPr>
            <a:r>
              <a:rPr lang="zh-CN" altLang="en-US" sz="3840" b="1" dirty="0">
                <a:solidFill>
                  <a:srgbClr val="10121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留给重要内容</a:t>
            </a:r>
            <a:endParaRPr lang="zh-CN" sz="3840" dirty="0"/>
          </a:p>
        </p:txBody>
      </p:sp>
      <p:sp>
        <p:nvSpPr>
          <p:cNvPr id="7" name="s11-text-5"/>
          <p:cNvSpPr/>
          <p:nvPr/>
        </p:nvSpPr>
        <p:spPr>
          <a:xfrm>
            <a:off x="487680" y="3810000"/>
            <a:ext cx="6858000" cy="1066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740" b="1" dirty="0">
                <a:solidFill>
                  <a:srgbClr val="B92A1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结构帮助理解，</a:t>
            </a:r>
            <a:endParaRPr lang="zh-CN" sz="1740" dirty="0"/>
          </a:p>
          <a:p>
            <a:pPr algn="l" indent="0" marL="0">
              <a:lnSpc>
                <a:spcPct val="110000"/>
              </a:lnSpc>
              <a:buNone/>
            </a:pPr>
            <a:r>
              <a:rPr lang="zh-CN" altLang="en-US" sz="1740" b="1" dirty="0">
                <a:solidFill>
                  <a:srgbClr val="B92A1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证据支持判断。</a:t>
            </a:r>
            <a:endParaRPr lang="zh-CN" sz="1740" dirty="0"/>
          </a:p>
        </p:txBody>
      </p:sp>
      <p:pic>
        <p:nvPicPr>
          <p:cNvPr id="8" name="s11-image-6" descr="把注意力 留给重要内容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97140" y="2180590"/>
            <a:ext cx="4168140" cy="2778760"/>
          </a:xfrm>
          <a:prstGeom prst="rect">
            <a:avLst/>
          </a:prstGeom>
        </p:spPr>
      </p:pic>
      <p:sp>
        <p:nvSpPr>
          <p:cNvPr id="9" name="s11-shape-7"/>
          <p:cNvSpPr/>
          <p:nvPr/>
        </p:nvSpPr>
        <p:spPr>
          <a:xfrm>
            <a:off x="487680" y="6019800"/>
            <a:ext cx="11216640" cy="518160"/>
          </a:xfrm>
          <a:prstGeom prst="roundRect">
            <a:avLst>
              <a:gd name="adj" fmla="val 26471"/>
            </a:avLst>
          </a:prstGeom>
          <a:gradFill rotWithShape="1">
            <a:gsLst>
              <a:gs pos="0">
                <a:srgbClr val="FFFFFF"/>
              </a:gs>
              <a:gs pos="55000">
                <a:srgbClr val="F6F3F0"/>
              </a:gs>
              <a:gs pos="100000">
                <a:srgbClr val="FFF7ED"/>
              </a:gs>
            </a:gsLst>
            <a:lin ang="2700000" scaled="1"/>
          </a:gradFill>
          <a:ln w="889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603F29">
                <a:alpha val="10000"/>
              </a:srgbClr>
            </a:outerShdw>
          </a:effectLst>
        </p:spPr>
      </p:sp>
      <p:sp>
        <p:nvSpPr>
          <p:cNvPr id="10" name="s11-shape-8"/>
          <p:cNvSpPr/>
          <p:nvPr/>
        </p:nvSpPr>
        <p:spPr>
          <a:xfrm>
            <a:off x="487680" y="6019800"/>
            <a:ext cx="45720" cy="51816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F7800"/>
              </a:gs>
              <a:gs pos="30000">
                <a:srgbClr val="FF5000"/>
              </a:gs>
              <a:gs pos="60000">
                <a:srgbClr val="FF2600"/>
              </a:gs>
              <a:gs pos="80000">
                <a:srgbClr val="ED1006"/>
              </a:gs>
              <a:gs pos="100000">
                <a:srgbClr val="D90404"/>
              </a:gs>
            </a:gsLst>
            <a:lin ang="0" scaled="1"/>
          </a:gra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1" name="s11-text-9"/>
          <p:cNvSpPr/>
          <p:nvPr/>
        </p:nvSpPr>
        <p:spPr>
          <a:xfrm>
            <a:off x="678180" y="6156960"/>
            <a:ext cx="10820400" cy="2819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380" b="1" dirty="0">
                <a:solidFill>
                  <a:srgbClr val="10121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交付的是可以继续使用和修改的工作成果。</a:t>
            </a:r>
            <a:endParaRPr lang="zh-CN" sz="138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Warm Glass PPT · 可编辑页面示例</dc:title>
  <dc:subject>Generated with Warm Glass PPT</dc:subject>
  <dc:creator>TPanic98</dc:creator>
  <cp:lastModifiedBy>TPanic98</cp:lastModifiedBy>
  <cp:revision>1</cp:revision>
  <dcterms:created xsi:type="dcterms:W3CDTF">2026-10-16T09:23:54Z</dcterms:created>
  <dcterms:modified xsi:type="dcterms:W3CDTF">2026-10-16T09:23:54Z</dcterms:modified>
</cp:coreProperties>
</file>