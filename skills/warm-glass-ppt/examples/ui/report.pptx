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d7f337d501455d" /><Relationship Type="http://schemas.openxmlformats.org/officeDocument/2006/relationships/extended-properties" Target="/docProps/app.xml" Id="R812ef77e61f045f1" /><Relationship Type="http://schemas.openxmlformats.org/officeDocument/2006/relationships/officeDocument" Target="/ppt/presentation.xml" Id="R06a57700593e4a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614d72f21d43c5"/>
  </p:sldMasterIdLst>
  <p:notesMasterIdLst>
    <p:notesMasterId xmlns:r="http://schemas.openxmlformats.org/officeDocument/2006/relationships" r:id="Rac253becc1b0498b"/>
  </p:notesMasterIdLst>
  <p:sldIdLst>
    <p:sldId xmlns:r="http://schemas.openxmlformats.org/officeDocument/2006/relationships" id="256" r:id="R32575bb3274240e7"/>
    <p:sldId xmlns:r="http://schemas.openxmlformats.org/officeDocument/2006/relationships" id="257" r:id="Rf4d19e535af24aad"/>
    <p:sldId xmlns:r="http://schemas.openxmlformats.org/officeDocument/2006/relationships" id="258" r:id="R8108efac15154057"/>
    <p:sldId xmlns:r="http://schemas.openxmlformats.org/officeDocument/2006/relationships" id="259" r:id="R7b7f4d1262f840ba"/>
    <p:sldId xmlns:r="http://schemas.openxmlformats.org/officeDocument/2006/relationships" id="260" r:id="R5c7c08bc3e874ee8"/>
    <p:sldId xmlns:r="http://schemas.openxmlformats.org/officeDocument/2006/relationships" id="261" r:id="R8ab517a17e2d461e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25c0d01c3b4e9f" /><Relationship Type="http://schemas.openxmlformats.org/officeDocument/2006/relationships/slideMaster" Target="/ppt/slideMasters/slideMaster1.xml" Id="R5d614d72f21d43c5" /><Relationship Type="http://schemas.openxmlformats.org/officeDocument/2006/relationships/notesMaster" Target="/ppt/notesMasters/notesMaster1.xml" Id="Rac253becc1b0498b" /><Relationship Type="http://schemas.openxmlformats.org/officeDocument/2006/relationships/presProps" Target="/ppt/presProps.xml" Id="Rc66b5a35a9de4e4a" /><Relationship Type="http://schemas.openxmlformats.org/officeDocument/2006/relationships/tableStyles" Target="/ppt/tableStyles.xml" Id="R381435852ea143ac" /><Relationship Type="http://schemas.openxmlformats.org/officeDocument/2006/relationships/slide" Target="/ppt/slides/slide1.xml" Id="R32575bb3274240e7" /><Relationship Type="http://schemas.openxmlformats.org/officeDocument/2006/relationships/slide" Target="/ppt/slides/slide2.xml" Id="Rf4d19e535af24aad" /><Relationship Type="http://schemas.openxmlformats.org/officeDocument/2006/relationships/slide" Target="/ppt/slides/slide3.xml" Id="R8108efac15154057" /><Relationship Type="http://schemas.openxmlformats.org/officeDocument/2006/relationships/slide" Target="/ppt/slides/slide4.xml" Id="R7b7f4d1262f840ba" /><Relationship Type="http://schemas.openxmlformats.org/officeDocument/2006/relationships/slide" Target="/ppt/slides/slide5.xml" Id="R5c7c08bc3e874ee8" /><Relationship Type="http://schemas.openxmlformats.org/officeDocument/2006/relationships/slide" Target="/ppt/slides/slide6.xml" Id="R8ab517a17e2d46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62d5a9e08747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Warm Glass">
      <a:dk1>
        <a:srgbClr val="101219"/>
      </a:dk1>
      <a:lt1>
        <a:srgbClr val="FFFFFF"/>
      </a:lt1>
      <a:dk2>
        <a:srgbClr val="333333"/>
      </a:dk2>
      <a:lt2>
        <a:srgbClr val="FFF6EC"/>
      </a:lt2>
      <a:accent1>
        <a:srgbClr val="FF3D12"/>
      </a:accent1>
      <a:accent2>
        <a:srgbClr val="B92A16"/>
      </a:accent2>
      <a:accent3>
        <a:srgbClr val="FF7800"/>
      </a:accent3>
      <a:accent4>
        <a:srgbClr val="F28662"/>
      </a:accent4>
      <a:accent5>
        <a:srgbClr val="F2CB85"/>
      </a:accent5>
      <a:accent6>
        <a:srgbClr val="66615E"/>
      </a:accent6>
      <a:hlink>
        <a:srgbClr val="B92A16"/>
      </a:hlink>
      <a:folHlink>
        <a:srgbClr val="66615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Warm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95250" dir="5400000">
              <a:srgbClr val="603F29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2090f0601d42fb" /><Relationship Type="http://schemas.openxmlformats.org/officeDocument/2006/relationships/notesMaster" Target="/ppt/notesMasters/notesMaster1.xml" Id="R39237bc7cc3f4f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aacdf7284246f2" /><Relationship Type="http://schemas.openxmlformats.org/officeDocument/2006/relationships/notesMaster" Target="/ppt/notesMasters/notesMaster1.xml" Id="Ra88fecbf11624b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ddbd4bfb5c4348" /><Relationship Type="http://schemas.openxmlformats.org/officeDocument/2006/relationships/notesMaster" Target="/ppt/notesMasters/notesMaster1.xml" Id="R286793ff22d740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8f5eaa09ee450e" /><Relationship Type="http://schemas.openxmlformats.org/officeDocument/2006/relationships/notesMaster" Target="/ppt/notesMasters/notesMaster1.xml" Id="Rcb497ffd93a443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42a89ab5cf4ff5" /><Relationship Type="http://schemas.openxmlformats.org/officeDocument/2006/relationships/notesMaster" Target="/ppt/notesMasters/notesMaster1.xml" Id="Rb4192f6019904a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30fc50a05a45d4" /><Relationship Type="http://schemas.openxmlformats.org/officeDocument/2006/relationships/notesMaster" Target="/ppt/notesMasters/notesMaster1.xml" Id="R9d214dd64b8743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虚构项目示例。所有数字、角色和计划均需替换为实际材料。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Demonstration values only: 12 completed items, 4 teams, 75% milestones. Trend [3,6,9,12] is synthetic and is not source bank data.</a:t>
            </a:r>
          </a:p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演示数据，非实际业务成果。实际汇报应同步给出统计时段、样本范围与验收记录。</a:t>
            </a:r>
          </a:p>
          <a:p xmlns:a="http://schemas.openxmlformats.org/drawingml/2006/main">
            <a:r>
              <a:t>Demonstration data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演示数据。新增问题与累计交付采用不同口径，不能相加；实际汇报需补充统计范围。</a:t>
            </a:r>
          </a:p>
          <a:p xmlns:a="http://schemas.openxmlformats.org/drawingml/2006/main">
            <a:r>
              <a:t>Demonstration data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演示数据，非真实项目进度。目标与实际采用相同单位和范围。</a:t>
            </a:r>
          </a:p>
          <a:p xmlns:a="http://schemas.openxmlformats.org/drawingml/2006/main">
            <a:r>
              <a:t>Demonstration data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定性讨论示意，象限不代表精确评分或已经批准的资源优先级。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Fictional illustrative content, not a claim about actual business or product performance.</a:t>
            </a:r>
          </a:p>
          <a:p xmlns:a="http://schemas.openxmlformats.org/drawingml/2006/main">
            <a:r>
              <a:t>计划示例。是否扩大范围取决于验证记录；角色与计划节点需按实际工作确认。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896e2983ee4f2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8e6bf103541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0b9c2784fc4e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44699662344f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4e933e236c420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9d9cc62a242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B4D059-D8CB-4BFF-ABE2-46816D6F02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386032"/>
            <a:ext cx="12740640" cy="1294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27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D9DFF92-33A1-4BEC-9E0B-8388A2795A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88870" y="4929664"/>
            <a:ext cx="11148060" cy="9958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4B6C61B-AE49-4FCE-A844-CC68CE1548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92580" y="3734594"/>
            <a:ext cx="12740640" cy="1493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48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48000C-B209-40EB-96F9-45477B8141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E158DC3-6F6E-4637-A5B9-9C722BBB4E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14134147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2F6659-D20B-42CC-B7D7-A75760D398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0FCFE86-929E-4B64-8ACF-0E5FECDD2A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53878C4-2793-4B7A-ABA6-F7B4BBE515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60581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4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3EDF15-CB85-4B54-A034-BFD99E9860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5826" y="697124"/>
            <a:ext cx="14134147" cy="1095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31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D8F011-6921-4114-B58D-8EFD307906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95826" y="2489729"/>
            <a:ext cx="6569392" cy="557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9860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1pPr>
            <a:lvl2pPr marL="69675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2pPr>
            <a:lvl3pPr marL="109489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3pPr>
            <a:lvl4pPr marL="149304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4pPr>
            <a:lvl5pPr marL="189118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5pPr>
            <a:lvl6pPr marL="228933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6pPr>
            <a:lvl7pPr marL="268747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7pPr>
            <a:lvl8pPr marL="3085624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8pPr>
            <a:lvl9pPr marL="3483769" indent="-298609">
              <a:lnSpc>
                <a:spcPct val="110000"/>
              </a:lnSpc>
              <a:spcBef>
                <a:spcPts val="0"/>
              </a:spcBef>
              <a:spcAft>
                <a:spcPts val="1568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311b47d6614275" /><Relationship Type="http://schemas.openxmlformats.org/officeDocument/2006/relationships/slideLayout" Target="/ppt/slideLayouts/slideLayout1.xml" Id="R278cc777b27e4128" /><Relationship Type="http://schemas.openxmlformats.org/officeDocument/2006/relationships/slideLayout" Target="/ppt/slideLayouts/slideLayout2.xml" Id="R28bc99aebb4c40c2" /><Relationship Type="http://schemas.openxmlformats.org/officeDocument/2006/relationships/slideLayout" Target="/ppt/slideLayouts/slideLayout3.xml" Id="R70dc30efb165483b" /><Relationship Type="http://schemas.openxmlformats.org/officeDocument/2006/relationships/slideLayout" Target="/ppt/slideLayouts/slideLayout4.xml" Id="R16e9428c863d48bc" /><Relationship Type="http://schemas.openxmlformats.org/officeDocument/2006/relationships/slideLayout" Target="/ppt/slideLayouts/slideLayout5.xml" Id="Re7da60b9ee4f4a20" /><Relationship Type="http://schemas.openxmlformats.org/officeDocument/2006/relationships/slideLayout" Target="/ppt/slideLayouts/slideLayout6.xml" Id="Rb3894abb1e8746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8cc777b27e4128"/>
    <p:sldLayoutId xmlns:r="http://schemas.openxmlformats.org/officeDocument/2006/relationships" id="2147483650" r:id="R28bc99aebb4c40c2"/>
    <p:sldLayoutId xmlns:r="http://schemas.openxmlformats.org/officeDocument/2006/relationships" id="2147483651" r:id="R70dc30efb165483b"/>
    <p:sldLayoutId xmlns:r="http://schemas.openxmlformats.org/officeDocument/2006/relationships" id="2147483652" r:id="R16e9428c863d48bc"/>
    <p:sldLayoutId xmlns:r="http://schemas.openxmlformats.org/officeDocument/2006/relationships" id="2147483653" r:id="Re7da60b9ee4f4a20"/>
    <p:sldLayoutId xmlns:r="http://schemas.openxmlformats.org/officeDocument/2006/relationships" id="2147483654" r:id="Rb3894abb1e8746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Warm Glass">
      <a:dk1>
        <a:srgbClr val="101219"/>
      </a:dk1>
      <a:lt1>
        <a:srgbClr val="FFFFFF"/>
      </a:lt1>
      <a:dk2>
        <a:srgbClr val="333333"/>
      </a:dk2>
      <a:lt2>
        <a:srgbClr val="FFF6EC"/>
      </a:lt2>
      <a:accent1>
        <a:srgbClr val="FF3D12"/>
      </a:accent1>
      <a:accent2>
        <a:srgbClr val="B92A16"/>
      </a:accent2>
      <a:accent3>
        <a:srgbClr val="FF7800"/>
      </a:accent3>
      <a:accent4>
        <a:srgbClr val="F28662"/>
      </a:accent4>
      <a:accent5>
        <a:srgbClr val="F2CB85"/>
      </a:accent5>
      <a:accent6>
        <a:srgbClr val="66615E"/>
      </a:accent6>
      <a:hlink>
        <a:srgbClr val="B92A16"/>
      </a:hlink>
      <a:folHlink>
        <a:srgbClr val="66615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Warm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95250" dir="5400000">
              <a:srgbClr val="603F29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4611bac6ef44f2" /><Relationship Type="http://schemas.openxmlformats.org/officeDocument/2006/relationships/notesSlide" Target="/ppt/notesSlides/notesSlide1.xml" Id="R139e6962697545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a6a89efcf4438c" /><Relationship Type="http://schemas.openxmlformats.org/officeDocument/2006/relationships/chart" Target="/ppt/slides/charts/chart1.xml" Id="R278502b2ad8f4354" /><Relationship Type="http://schemas.openxmlformats.org/officeDocument/2006/relationships/notesSlide" Target="/ppt/notesSlides/notesSlide2.xml" Id="R852c691ddc324d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1209e5f97848d0" /><Relationship Type="http://schemas.openxmlformats.org/officeDocument/2006/relationships/chart" Target="/ppt/slides/charts/chart2.xml" Id="Reff303b0296348c7" /><Relationship Type="http://schemas.openxmlformats.org/officeDocument/2006/relationships/notesSlide" Target="/ppt/notesSlides/notesSlide3.xml" Id="Re7c7936b35bc47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02397db9bc4563" /><Relationship Type="http://schemas.openxmlformats.org/officeDocument/2006/relationships/chart" Target="/ppt/slides/charts/chart3.xml" Id="Rf4b13cd3f6ab419b" /><Relationship Type="http://schemas.openxmlformats.org/officeDocument/2006/relationships/notesSlide" Target="/ppt/notesSlides/notesSlide4.xml" Id="R647d85c9a3a045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10732fc7cc452b" /><Relationship Type="http://schemas.openxmlformats.org/officeDocument/2006/relationships/notesSlide" Target="/ppt/notesSlides/notesSlide5.xml" Id="Rb2118466c1344c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206ed2cd274dc4" /><Relationship Type="http://schemas.openxmlformats.org/officeDocument/2006/relationships/notesSlide" Target="/ppt/notesSlides/notesSlide6.xml" Id="R6df89493b6d44da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数量</c:v>
          </c:tx>
          <c:spPr>
            <a:gradFill xmlns:a="http://schemas.openxmlformats.org/drawingml/2006/main">
              <a:gsLst>
                <a:gs pos="0">
                  <a:srgbClr val="FF7800"/>
                </a:gs>
                <a:gs pos="30000">
                  <a:srgbClr val="FF5000"/>
                </a:gs>
                <a:gs pos="60000">
                  <a:srgbClr val="FF2600"/>
                </a:gs>
                <a:gs pos="80000">
                  <a:srgbClr val="ED1006"/>
                </a:gs>
                <a:gs pos="100000">
                  <a:srgbClr val="D90404"/>
                </a:gs>
              </a:gsLst>
              <a:lin ang="0"/>
            </a:gradFill>
          </c:spPr>
          <c:invertIfNegative val="0"/>
          <c:cat>
            <c:strRef>
              <c:f>'Chart Data'!$A$2:$A$5</c:f>
              <c:strCache>
                <c:ptCount val="4"/>
                <c:pt idx="0">
                  <c:v>第1期</c:v>
                </c:pt>
                <c:pt idx="1">
                  <c:v>第2期</c:v>
                </c:pt>
                <c:pt idx="2">
                  <c:v>第3期</c:v>
                </c:pt>
                <c:pt idx="3">
                  <c:v>第4期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</c:v>
                </c:pt>
                <c:pt idx="1">
                  <c:v>6</c:v>
                </c:pt>
                <c:pt idx="2">
                  <c:v>9</c:v>
                </c:pt>
                <c:pt idx="3">
                  <c:v>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5DDD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DDD6">
                  <a:alpha val="70000"/>
                </a:srgbClr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新增问题</c:v>
          </c:tx>
          <c:spPr>
            <a:ln xmlns:a="http://schemas.openxmlformats.org/drawingml/2006/main" w="28575">
              <a:solidFill>
                <a:srgbClr val="FF3D12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FF3D12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第1期</c:v>
                </c:pt>
                <c:pt idx="1">
                  <c:v>第2期</c:v>
                </c:pt>
                <c:pt idx="2">
                  <c:v>第3期</c:v>
                </c:pt>
                <c:pt idx="3">
                  <c:v>第4期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5DDD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DDD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目标</c:v>
          </c:tx>
          <c:spPr>
            <a:solidFill xmlns:a="http://schemas.openxmlformats.org/drawingml/2006/main">
              <a:srgbClr val="D2C4B5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需求核对</c:v>
                </c:pt>
                <c:pt idx="1">
                  <c:v>场景验证</c:v>
                </c:pt>
                <c:pt idx="2">
                  <c:v>事项交付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12</c:v>
                </c:pt>
                <c:pt idx="1">
                  <c:v>10</c:v>
                </c:pt>
                <c:pt idx="2">
                  <c:v>12</c:v>
                </c:pt>
              </c:numCache>
            </c:numRef>
          </c:val>
        </c:ser>
        <c:ser>
          <c:idx val="1"/>
          <c:order val="1"/>
          <c:tx>
            <c:v>实际</c:v>
          </c:tx>
          <c:spPr>
            <a:gradFill xmlns:a="http://schemas.openxmlformats.org/drawingml/2006/main">
              <a:gsLst>
                <a:gs pos="0">
                  <a:srgbClr val="FF7800"/>
                </a:gs>
                <a:gs pos="30000">
                  <a:srgbClr val="FF5000"/>
                </a:gs>
                <a:gs pos="60000">
                  <a:srgbClr val="FF2600"/>
                </a:gs>
                <a:gs pos="80000">
                  <a:srgbClr val="ED1006"/>
                </a:gs>
                <a:gs pos="100000">
                  <a:srgbClr val="D90404"/>
                </a:gs>
              </a:gsLst>
              <a:lin ang="0"/>
            </a:gradFill>
          </c:spPr>
          <c:invertIfNegative val="0"/>
          <c:cat>
            <c:strRef>
              <c:f>'Chart Data'!$C$2:$C$4</c:f>
              <c:strCache>
                <c:ptCount val="3"/>
                <c:pt idx="0">
                  <c:v>需求核对</c:v>
                </c:pt>
                <c:pt idx="1">
                  <c:v>场景验证</c:v>
                </c:pt>
                <c:pt idx="2">
                  <c:v>事项交付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10</c:v>
                </c:pt>
                <c:pt idx="1">
                  <c:v>7</c:v>
                </c:pt>
                <c:pt idx="2">
                  <c:v>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5DDD6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DDD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66615E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532C343F-FF79-43C4-A28A-A11DDB20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88500739-4997-4366-805D-84BB59AD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E2AA1DD2-3554-43C9-816A-9BAF1F0C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E1BC4E61-5B70-42D1-BDD5-6CAFEA75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DC349BC3-B120-4851-8A8B-1D1C2C93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汇报 / 评审议题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25E33B36-5A2B-4CC7-A13B-C121663B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5011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项目阶段评审</a:t>
            </a:r>
          </a:p>
        </p:txBody>
      </p:sp>
      <p:sp>
        <p:nvSpPr>
          <p:cNvPr id="7" name="chrome--page-subtitle--7">
            <a:extLst xmlns:a="http://schemas.openxmlformats.org/drawingml/2006/main">
              <a:ext uri="{FF2B5EF4-FFF2-40B4-BE49-F238E27FC236}">
                <a16:creationId xmlns:a16="http://schemas.microsoft.com/office/drawing/2014/main" id="{394A05FF-FBA4-4462-8C5A-2EF86B1D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示例主题：协作流程试点的阶段判断。</a:t>
            </a:r>
          </a:p>
        </p:txBody>
      </p:sp>
      <p:grpSp>
        <p:nvGrpSpPr>
          <p:cNvPr id="16" name="C24-1"/>
          <p:cNvGrpSpPr/>
          <p:nvPr/>
        </p:nvGrpSpPr>
        <p:grpSpPr>
          <a:xfrm xmlns:a="http://schemas.openxmlformats.org/drawingml/2006/main">
            <a:off x="609600" y="3333750"/>
            <a:ext cx="14706600" cy="4591050"/>
            <a:chOff x="609600" y="3333750"/>
            <a:chExt cx="14706600" cy="4591050"/>
          </a:xfrm>
        </p:grpSpPr>
        <p:sp>
          <p:nvSpPr>
            <p:cNvPr id="8" name="C24-1--hero-title--8">
              <a:extLst xmlns:a="http://schemas.openxmlformats.org/drawingml/2006/main">
                <a:ext uri="{FF2B5EF4-FFF2-40B4-BE49-F238E27FC236}">
                  <a16:creationId xmlns:a16="http://schemas.microsoft.com/office/drawing/2014/main" id="{1A1D11C8-F822-42D8-A9CF-117EC0DC69D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9600" y="3600450"/>
              <a:ext cx="5242114" cy="1905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本阶段的进展与</a:t>
              </a:r>
            </a:p>
          </p:txBody>
        </p:sp>
        <p:sp>
          <p:nvSpPr>
            <p:cNvPr id="9" name="C24-1--hero-title--9">
              <a:extLst xmlns:a="http://schemas.openxmlformats.org/drawingml/2006/main">
                <a:ext uri="{FF2B5EF4-FFF2-40B4-BE49-F238E27FC236}">
                  <a16:creationId xmlns:a16="http://schemas.microsoft.com/office/drawing/2014/main" id="{8A808C0B-DED2-41FB-99B1-70ACE29EC4B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813614" y="3600450"/>
              <a:ext cx="3757974" cy="1905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5700" b="1">
                  <a:gradFill>
                    <a:gsLst>
                      <a:gs pos="0">
                        <a:srgbClr val="FF7800"/>
                      </a:gs>
                      <a:gs pos="30000">
                        <a:srgbClr val="FF5000"/>
                      </a:gs>
                      <a:gs pos="60000">
                        <a:srgbClr val="FF2600"/>
                      </a:gs>
                      <a:gs pos="80000">
                        <a:srgbClr val="ED1006"/>
                      </a:gs>
                      <a:gs pos="100000">
                        <a:srgbClr val="D90404"/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57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5700" b="1">
                  <a:gradFill>
                    <a:gsLst>
                      <a:gs pos="0">
                        <a:srgbClr val="FF7800"/>
                      </a:gs>
                      <a:gs pos="30000">
                        <a:srgbClr val="FF5000"/>
                      </a:gs>
                      <a:gs pos="60000">
                        <a:srgbClr val="FF2600"/>
                      </a:gs>
                      <a:gs pos="80000">
                        <a:srgbClr val="ED1006"/>
                      </a:gs>
                      <a:gs pos="100000">
                        <a:srgbClr val="D90404"/>
                      </a:gs>
                    </a:gsLst>
                    <a:lin ang="0"/>
                  </a:gradFill>
                  <a:latin typeface="Microsoft YaHei"/>
                  <a:ea typeface="Microsoft YaHei"/>
                  <a:cs typeface="Microsoft YaHei"/>
                </a:rPr>
                <a:t>待决策事项</a:t>
              </a:r>
            </a:p>
          </p:txBody>
        </p:sp>
        <p:sp>
          <p:nvSpPr>
            <p:cNvPr id="10" name="C24-1--hero-subtitle--10">
              <a:extLst xmlns:a="http://schemas.openxmlformats.org/drawingml/2006/main">
                <a:ext uri="{FF2B5EF4-FFF2-40B4-BE49-F238E27FC236}">
                  <a16:creationId xmlns:a16="http://schemas.microsoft.com/office/drawing/2014/main" id="{79AD482E-95BE-4C2B-9B85-87E0C1148D7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8650" y="5772150"/>
              <a:ext cx="14668500" cy="1047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2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2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2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围绕交付证据、目标差距和下一阶段范围展开讨论。</a:t>
              </a:r>
            </a:p>
          </p:txBody>
        </p:sp>
        <p:sp>
          <p:nvSpPr>
            <p:cNvPr id="11" name="C24-1--hero-action--11">
              <a:extLst xmlns:a="http://schemas.openxmlformats.org/drawingml/2006/main">
                <a:ext uri="{FF2B5EF4-FFF2-40B4-BE49-F238E27FC236}">
                  <a16:creationId xmlns:a16="http://schemas.microsoft.com/office/drawing/2014/main" id="{73CE5357-6DFE-4AD6-92DD-55D705E870B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09600" y="7038975"/>
              <a:ext cx="14706600" cy="885825"/>
            </a:xfrm>
            <a:prstGeom xmlns:a="http://schemas.openxmlformats.org/drawingml/2006/main" prst="roundRect">
              <a:avLst>
                <a:gd name="adj" fmla="val 25806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2" name="C24-1--hero-action-text--12">
              <a:extLst xmlns:a="http://schemas.openxmlformats.org/drawingml/2006/main">
                <a:ext uri="{FF2B5EF4-FFF2-40B4-BE49-F238E27FC236}">
                  <a16:creationId xmlns:a16="http://schemas.microsoft.com/office/drawing/2014/main" id="{E7BC1CD4-039F-48BB-BD27-728DFFF1762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76300" y="7286625"/>
              <a:ext cx="14173200" cy="495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本次需要确认：是否补充验证后再扩大试点范围。</a:t>
              </a:r>
            </a:p>
          </p:txBody>
        </p:sp>
      </p:grpSp>
      <p:sp>
        <p:nvSpPr>
          <p:cNvPr id="13" name="chrome--footer-rule--13">
            <a:extLst xmlns:a="http://schemas.openxmlformats.org/drawingml/2006/main">
              <a:ext uri="{FF2B5EF4-FFF2-40B4-BE49-F238E27FC236}">
                <a16:creationId xmlns:a16="http://schemas.microsoft.com/office/drawing/2014/main" id="{E6EF806F-2DC7-4A0F-800B-466B35F9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14" name="chrome--footer--14">
            <a:extLst xmlns:a="http://schemas.openxmlformats.org/drawingml/2006/main">
              <a:ext uri="{FF2B5EF4-FFF2-40B4-BE49-F238E27FC236}">
                <a16:creationId xmlns:a16="http://schemas.microsoft.com/office/drawing/2014/main" id="{416C263F-6C8F-40A2-BB70-4582FDE1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虚构项目示例。所有数字、角色和计划均需替换为实际材料。</a:t>
            </a:r>
          </a:p>
        </p:txBody>
      </p:sp>
    </p:spTree>
    <p:extLst>
      <p:ext uri="{BB962C8B-B14F-4D97-AF65-F5344CB8AC3E}">
        <p14:creationId xmlns:p14="http://schemas.microsoft.com/office/powerpoint/2010/main" val="251352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A9B894F7-4A2B-4CCC-8767-CA163558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C993D9BE-D56E-439C-94DC-4937E998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368CC66A-B995-4F50-B3BA-05C44406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8B4268FA-0466-4188-809A-F0306AE0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9ED52A60-1310-4AD8-BC3C-7ECC5C82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汇报 / 阶段成果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1A356D73-6EC2-4868-9F8C-5E9494DC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试点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2A00CA8D-1DE7-4AC6-811D-1F7398C3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471" y="1676400"/>
            <a:ext cx="1258371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8" name="chrome--page-title--8">
            <a:extLst xmlns:a="http://schemas.openxmlformats.org/drawingml/2006/main">
              <a:ext uri="{FF2B5EF4-FFF2-40B4-BE49-F238E27FC236}">
                <a16:creationId xmlns:a16="http://schemas.microsoft.com/office/drawing/2014/main" id="{8E89FE00-143E-4792-AADB-AA9DA2F1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741" y="1676400"/>
            <a:ext cx="3074489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与覆盖进展</a:t>
            </a:r>
          </a:p>
        </p:txBody>
      </p:sp>
      <p:sp>
        <p:nvSpPr>
          <p:cNvPr id="9" name="chrome--page-subtitle--9">
            <a:extLst xmlns:a="http://schemas.openxmlformats.org/drawingml/2006/main">
              <a:ext uri="{FF2B5EF4-FFF2-40B4-BE49-F238E27FC236}">
                <a16:creationId xmlns:a16="http://schemas.microsoft.com/office/drawing/2014/main" id="{4FAFEE04-6780-4EB0-B529-DB4735C1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用结果、统计口径和验证依据支持阶段判断。</a:t>
            </a:r>
          </a:p>
        </p:txBody>
      </p:sp>
      <p:grpSp>
        <p:nvGrpSpPr>
          <p:cNvPr id="37" name="C05-1"/>
          <p:cNvGrpSpPr/>
          <p:nvPr/>
        </p:nvGrpSpPr>
        <p:grpSpPr>
          <a:xfrm xmlns:a="http://schemas.openxmlformats.org/drawingml/2006/main">
            <a:off x="457200" y="3333750"/>
            <a:ext cx="8858250" cy="4629150"/>
            <a:chOff x="457200" y="3333750"/>
            <a:chExt cx="8858250" cy="4629150"/>
          </a:xfrm>
        </p:grpSpPr>
        <p:sp>
          <p:nvSpPr>
            <p:cNvPr id="10" name="C05-1--metric-surface--10">
              <a:extLst xmlns:a="http://schemas.openxmlformats.org/drawingml/2006/main">
                <a:ext uri="{FF2B5EF4-FFF2-40B4-BE49-F238E27FC236}">
                  <a16:creationId xmlns:a16="http://schemas.microsoft.com/office/drawing/2014/main" id="{8D9CEE38-8A8A-4DDA-9258-21E4F1ECEEA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333750"/>
              <a:ext cx="2813050" cy="1809750"/>
            </a:xfrm>
            <a:prstGeom xmlns:a="http://schemas.openxmlformats.org/drawingml/2006/main" prst="roundRect">
              <a:avLst>
                <a:gd name="adj" fmla="val 12632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1" name="C05-1--metric-value--11">
              <a:extLst xmlns:a="http://schemas.openxmlformats.org/drawingml/2006/main">
                <a:ext uri="{FF2B5EF4-FFF2-40B4-BE49-F238E27FC236}">
                  <a16:creationId xmlns:a16="http://schemas.microsoft.com/office/drawing/2014/main" id="{05FB321B-51D4-464A-969C-B294FCEF08D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4850" y="3543300"/>
              <a:ext cx="2317750" cy="790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4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4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4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12 项</a:t>
              </a:r>
            </a:p>
          </p:txBody>
        </p:sp>
        <p:sp>
          <p:nvSpPr>
            <p:cNvPr id="12" name="C05-1--metric-title--12">
              <a:extLst xmlns:a="http://schemas.openxmlformats.org/drawingml/2006/main">
                <a:ext uri="{FF2B5EF4-FFF2-40B4-BE49-F238E27FC236}">
                  <a16:creationId xmlns:a16="http://schemas.microsoft.com/office/drawing/2014/main" id="{77854490-9705-47AC-8439-9D8F6A020C0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4400550"/>
              <a:ext cx="2279650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已交付事项</a:t>
              </a:r>
            </a:p>
          </p:txBody>
        </p:sp>
        <p:sp>
          <p:nvSpPr>
            <p:cNvPr id="13" name="C05-1--metric-definition--13">
              <a:extLst xmlns:a="http://schemas.openxmlformats.org/drawingml/2006/main">
                <a:ext uri="{FF2B5EF4-FFF2-40B4-BE49-F238E27FC236}">
                  <a16:creationId xmlns:a16="http://schemas.microsoft.com/office/drawing/2014/main" id="{C4789927-BD47-4CBB-9E09-FD937984828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4819650"/>
              <a:ext cx="22796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本次试点范围</a:t>
              </a:r>
            </a:p>
          </p:txBody>
        </p:sp>
        <p:sp>
          <p:nvSpPr>
            <p:cNvPr id="14" name="C05-1--metric-surface--14">
              <a:extLst xmlns:a="http://schemas.openxmlformats.org/drawingml/2006/main">
                <a:ext uri="{FF2B5EF4-FFF2-40B4-BE49-F238E27FC236}">
                  <a16:creationId xmlns:a16="http://schemas.microsoft.com/office/drawing/2014/main" id="{15C67FA7-43C2-4D42-9D71-1938DC0E7E7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479800" y="3333750"/>
              <a:ext cx="2813050" cy="1809750"/>
            </a:xfrm>
            <a:prstGeom xmlns:a="http://schemas.openxmlformats.org/drawingml/2006/main" prst="roundRect">
              <a:avLst>
                <a:gd name="adj" fmla="val 12632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5" name="C05-1--metric-value--15">
              <a:extLst xmlns:a="http://schemas.openxmlformats.org/drawingml/2006/main">
                <a:ext uri="{FF2B5EF4-FFF2-40B4-BE49-F238E27FC236}">
                  <a16:creationId xmlns:a16="http://schemas.microsoft.com/office/drawing/2014/main" id="{C5C012F3-08A5-4762-AD14-FCEA9EF9D05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27450" y="3543300"/>
              <a:ext cx="2317750" cy="790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4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4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4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4 组</a:t>
              </a:r>
            </a:p>
          </p:txBody>
        </p:sp>
        <p:sp>
          <p:nvSpPr>
            <p:cNvPr id="16" name="C05-1--metric-title--16">
              <a:extLst xmlns:a="http://schemas.openxmlformats.org/drawingml/2006/main">
                <a:ext uri="{FF2B5EF4-FFF2-40B4-BE49-F238E27FC236}">
                  <a16:creationId xmlns:a16="http://schemas.microsoft.com/office/drawing/2014/main" id="{64C36857-32D5-4932-B5CE-E16C103172F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46500" y="4400550"/>
              <a:ext cx="2279650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参与团队</a:t>
              </a:r>
            </a:p>
          </p:txBody>
        </p:sp>
        <p:sp>
          <p:nvSpPr>
            <p:cNvPr id="17" name="C05-1--metric-definition--17">
              <a:extLst xmlns:a="http://schemas.openxmlformats.org/drawingml/2006/main">
                <a:ext uri="{FF2B5EF4-FFF2-40B4-BE49-F238E27FC236}">
                  <a16:creationId xmlns:a16="http://schemas.microsoft.com/office/drawing/2014/main" id="{308743AE-1A62-4401-8176-E458C29890D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746500" y="4819650"/>
              <a:ext cx="22796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口径：参与验证的团队</a:t>
              </a:r>
            </a:p>
          </p:txBody>
        </p:sp>
        <p:sp>
          <p:nvSpPr>
            <p:cNvPr id="18" name="C05-1--metric-surface--18">
              <a:extLst xmlns:a="http://schemas.openxmlformats.org/drawingml/2006/main">
                <a:ext uri="{FF2B5EF4-FFF2-40B4-BE49-F238E27FC236}">
                  <a16:creationId xmlns:a16="http://schemas.microsoft.com/office/drawing/2014/main" id="{11FB58A0-94A1-469F-8233-8A88978FC4B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502400" y="3333750"/>
              <a:ext cx="2813050" cy="1809750"/>
            </a:xfrm>
            <a:prstGeom xmlns:a="http://schemas.openxmlformats.org/drawingml/2006/main" prst="roundRect">
              <a:avLst>
                <a:gd name="adj" fmla="val 12632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9" name="C05-1--metric-value--19">
              <a:extLst xmlns:a="http://schemas.openxmlformats.org/drawingml/2006/main">
                <a:ext uri="{FF2B5EF4-FFF2-40B4-BE49-F238E27FC236}">
                  <a16:creationId xmlns:a16="http://schemas.microsoft.com/office/drawing/2014/main" id="{68587DAF-F2F0-499D-9012-6C5C78F4E22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50050" y="3543300"/>
              <a:ext cx="2317750" cy="790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4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4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4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75%</a:t>
              </a:r>
            </a:p>
          </p:txBody>
        </p:sp>
        <p:sp>
          <p:nvSpPr>
            <p:cNvPr id="20" name="C05-1--metric-title--20">
              <a:extLst xmlns:a="http://schemas.openxmlformats.org/drawingml/2006/main">
                <a:ext uri="{FF2B5EF4-FFF2-40B4-BE49-F238E27FC236}">
                  <a16:creationId xmlns:a16="http://schemas.microsoft.com/office/drawing/2014/main" id="{F1E19AE5-DD42-4BEA-885E-20920CCE156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69100" y="4400550"/>
              <a:ext cx="2279650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0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节点完成率</a:t>
              </a:r>
            </a:p>
          </p:txBody>
        </p:sp>
        <p:sp>
          <p:nvSpPr>
            <p:cNvPr id="21" name="C05-1--metric-definition--21">
              <a:extLst xmlns:a="http://schemas.openxmlformats.org/drawingml/2006/main">
                <a:ext uri="{FF2B5EF4-FFF2-40B4-BE49-F238E27FC236}">
                  <a16:creationId xmlns:a16="http://schemas.microsoft.com/office/drawing/2014/main" id="{7C14B7B0-387B-4D15-9D80-06F51CA9CF6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769100" y="4819650"/>
              <a:ext cx="22796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12 / 16 个计划节点</a:t>
              </a:r>
            </a:p>
          </p:txBody>
        </p:sp>
        <p:sp>
          <p:nvSpPr>
            <p:cNvPr id="22" name="C05-1--trend-heading--22">
              <a:extLst xmlns:a="http://schemas.openxmlformats.org/drawingml/2006/main">
                <a:ext uri="{FF2B5EF4-FFF2-40B4-BE49-F238E27FC236}">
                  <a16:creationId xmlns:a16="http://schemas.microsoft.com/office/drawing/2014/main" id="{8F03DA79-298F-4F40-9535-83E8A437C3E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76250" y="5505450"/>
              <a:ext cx="8858250" cy="3333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已交付事项累计数量（演示）</a:t>
              </a:r>
            </a:p>
          </p:txBody>
        </p:sp>
      </p:grpSp>
      <p:graphicFrame>
        <p:nvGraphicFramePr>
          <p:cNvPr id="23" name="Chart">
            <a:extLst xmlns:a="http://schemas.openxmlformats.org/drawingml/2006/main">
              <a:ext uri="{FF2B5EF4-FFF2-40B4-BE49-F238E27FC236}">
                <a16:creationId xmlns:a16="http://schemas.microsoft.com/office/drawing/2014/main" id="{096166E4-77EC-4C9B-AF67-50E56B190959}"/>
              </a:ext>
            </a:extLst>
          </p:cNvPr>
          <p:cNvGraphicFramePr/>
          <p:nvPr/>
        </p:nvGraphicFramePr>
        <p:xfrm>
          <a:off xmlns:a="http://schemas.openxmlformats.org/drawingml/2006/main" x="476250" y="5943600"/>
          <a:ext xmlns:a="http://schemas.openxmlformats.org/drawingml/2006/main" cx="8743950" cy="19240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8502b2ad8f4354"/>
          </a:graphicData>
        </a:graphic>
      </p:graphicFrame>
      <p:grpSp>
        <p:nvGrpSpPr>
          <p:cNvPr id="38" name="C11-1"/>
          <p:cNvGrpSpPr/>
          <p:nvPr/>
        </p:nvGrpSpPr>
        <p:grpSpPr>
          <a:xfrm xmlns:a="http://schemas.openxmlformats.org/drawingml/2006/main">
            <a:off x="9810750" y="3333750"/>
            <a:ext cx="5657850" cy="3105150"/>
            <a:chOff x="9810750" y="3333750"/>
            <a:chExt cx="5657850" cy="3105150"/>
          </a:xfrm>
        </p:grpSpPr>
        <p:sp>
          <p:nvSpPr>
            <p:cNvPr id="24" name="C11-1--evidence-surface--23">
              <a:extLst xmlns:a="http://schemas.openxmlformats.org/drawingml/2006/main">
                <a:ext uri="{FF2B5EF4-FFF2-40B4-BE49-F238E27FC236}">
                  <a16:creationId xmlns:a16="http://schemas.microsoft.com/office/drawing/2014/main" id="{44B91903-04A7-42C0-AD28-E1657349D8B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10750" y="3333750"/>
              <a:ext cx="5657850" cy="3105150"/>
            </a:xfrm>
            <a:prstGeom xmlns:a="http://schemas.openxmlformats.org/drawingml/2006/main" prst="roundRect">
              <a:avLst>
                <a:gd name="adj" fmla="val 7362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25" name="C11-1--evidence-anchor--24">
              <a:extLst xmlns:a="http://schemas.openxmlformats.org/drawingml/2006/main">
                <a:ext uri="{FF2B5EF4-FFF2-40B4-BE49-F238E27FC236}">
                  <a16:creationId xmlns:a16="http://schemas.microsoft.com/office/drawing/2014/main" id="{15A073C7-75A3-47F9-9C73-40FEF02764B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48875" y="3609975"/>
              <a:ext cx="438150" cy="438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131313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6" name="C11-1--evidence-number--25">
              <a:extLst xmlns:a="http://schemas.openxmlformats.org/drawingml/2006/main">
                <a:ext uri="{FF2B5EF4-FFF2-40B4-BE49-F238E27FC236}">
                  <a16:creationId xmlns:a16="http://schemas.microsoft.com/office/drawing/2014/main" id="{B9D3C207-CD70-4057-B1F0-8F51773DCF0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86975" y="3705225"/>
              <a:ext cx="361950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4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4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4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27" name="C11-1--evidence-claim--26">
              <a:extLst xmlns:a="http://schemas.openxmlformats.org/drawingml/2006/main">
                <a:ext uri="{FF2B5EF4-FFF2-40B4-BE49-F238E27FC236}">
                  <a16:creationId xmlns:a16="http://schemas.microsoft.com/office/drawing/2014/main" id="{A20A2127-1FA8-437A-82F5-9B295CA50BE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77525" y="3600450"/>
              <a:ext cx="4514850" cy="723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扩围前先核对验收记录</a:t>
              </a:r>
            </a:p>
          </p:txBody>
        </p:sp>
        <p:sp>
          <p:nvSpPr>
            <p:cNvPr id="28" name="C11-1--evidence-separator--27">
              <a:extLst xmlns:a="http://schemas.openxmlformats.org/drawingml/2006/main">
                <a:ext uri="{FF2B5EF4-FFF2-40B4-BE49-F238E27FC236}">
                  <a16:creationId xmlns:a16="http://schemas.microsoft.com/office/drawing/2014/main" id="{294726FB-11F3-40CB-ACFF-70065D0DB9D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0086975" y="4505325"/>
              <a:ext cx="51054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29" name="C11-1--evidence-basis-label--28">
              <a:extLst xmlns:a="http://schemas.openxmlformats.org/drawingml/2006/main">
                <a:ext uri="{FF2B5EF4-FFF2-40B4-BE49-F238E27FC236}">
                  <a16:creationId xmlns:a16="http://schemas.microsoft.com/office/drawing/2014/main" id="{E9A21B1F-7CF4-4C0E-B341-CEE8C12FC8C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86975" y="4724400"/>
              <a:ext cx="6096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4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4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4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口径</a:t>
              </a:r>
            </a:p>
          </p:txBody>
        </p:sp>
        <p:sp>
          <p:nvSpPr>
            <p:cNvPr id="30" name="C11-1--evidence-basis--29">
              <a:extLst xmlns:a="http://schemas.openxmlformats.org/drawingml/2006/main">
                <a:ext uri="{FF2B5EF4-FFF2-40B4-BE49-F238E27FC236}">
                  <a16:creationId xmlns:a16="http://schemas.microsoft.com/office/drawing/2014/main" id="{80A9BFAA-505A-4052-86C1-EA80872258B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58500" y="4686300"/>
              <a:ext cx="4324350" cy="914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判断需要结合统计期间、样本范围与验收记</a:t>
              </a:r>
            </a:p>
            <a:p xmlns:a="http://schemas.openxmlformats.org/drawingml/2006/main">
              <a:pPr algn="l">
                <a:def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录。完成数量之外，还应检查结果是否满足</a:t>
              </a:r>
            </a:p>
            <a:p xmlns:a="http://schemas.openxmlformats.org/drawingml/2006/main">
              <a:pPr algn="l">
                <a:def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使用条件。</a:t>
              </a:r>
            </a:p>
          </p:txBody>
        </p:sp>
        <p:sp>
          <p:nvSpPr>
            <p:cNvPr id="31" name="C11-1--evidence-source--30">
              <a:extLst xmlns:a="http://schemas.openxmlformats.org/drawingml/2006/main">
                <a:ext uri="{FF2B5EF4-FFF2-40B4-BE49-F238E27FC236}">
                  <a16:creationId xmlns:a16="http://schemas.microsoft.com/office/drawing/2014/main" id="{02159B9F-9932-44EB-9290-44E9C3FA828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86975" y="5829300"/>
              <a:ext cx="5105400" cy="409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来源：虚构演示数据，非本行业务成果</a:t>
              </a:r>
            </a:p>
          </p:txBody>
        </p:sp>
      </p:grpSp>
      <p:grpSp>
        <p:nvGrpSpPr>
          <p:cNvPr id="39" name="C03-1"/>
          <p:cNvGrpSpPr/>
          <p:nvPr/>
        </p:nvGrpSpPr>
        <p:grpSpPr>
          <a:xfrm xmlns:a="http://schemas.openxmlformats.org/drawingml/2006/main">
            <a:off x="9810750" y="6743700"/>
            <a:ext cx="5657850" cy="1219200"/>
            <a:chOff x="9810750" y="6743700"/>
            <a:chExt cx="5657850" cy="1219200"/>
          </a:xfrm>
        </p:grpSpPr>
        <p:sp>
          <p:nvSpPr>
            <p:cNvPr id="32" name="C03-1--surface--31">
              <a:extLst xmlns:a="http://schemas.openxmlformats.org/drawingml/2006/main">
                <a:ext uri="{FF2B5EF4-FFF2-40B4-BE49-F238E27FC236}">
                  <a16:creationId xmlns:a16="http://schemas.microsoft.com/office/drawing/2014/main" id="{F5B531A5-F8B4-4083-BDDF-6132B8BDA9E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810750" y="6743700"/>
              <a:ext cx="5657850" cy="1219200"/>
            </a:xfrm>
            <a:prstGeom xmlns:a="http://schemas.openxmlformats.org/drawingml/2006/main" prst="roundRect">
              <a:avLst>
                <a:gd name="adj" fmla="val 18750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33" name="C03-1--surface-body--32">
              <a:extLst xmlns:a="http://schemas.openxmlformats.org/drawingml/2006/main">
                <a:ext uri="{FF2B5EF4-FFF2-40B4-BE49-F238E27FC236}">
                  <a16:creationId xmlns:a16="http://schemas.microsoft.com/office/drawing/2014/main" id="{5BD68208-FF87-4417-8AFF-F634EC61665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077450" y="7105650"/>
              <a:ext cx="5124450" cy="6286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本次评审：是否进入下一阶段验证？</a:t>
              </a:r>
            </a:p>
          </p:txBody>
        </p:sp>
      </p:grpSp>
      <p:sp>
        <p:nvSpPr>
          <p:cNvPr id="34" name="chrome--footer-rule--33">
            <a:extLst xmlns:a="http://schemas.openxmlformats.org/drawingml/2006/main">
              <a:ext uri="{FF2B5EF4-FFF2-40B4-BE49-F238E27FC236}">
                <a16:creationId xmlns:a16="http://schemas.microsoft.com/office/drawing/2014/main" id="{BD9933C7-12CD-48E9-B4B0-4BC86974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35" name="chrome--footer--34">
            <a:extLst xmlns:a="http://schemas.openxmlformats.org/drawingml/2006/main">
              <a:ext uri="{FF2B5EF4-FFF2-40B4-BE49-F238E27FC236}">
                <a16:creationId xmlns:a16="http://schemas.microsoft.com/office/drawing/2014/main" id="{640C1D7A-A2FB-4B7C-BECA-355AE6D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演示数据，非实际业务成果。实际汇报应同步给出统计时段、样本范围与验收记录。</a:t>
            </a:r>
          </a:p>
        </p:txBody>
      </p:sp>
    </p:spTree>
    <p:extLst>
      <p:ext uri="{BB962C8B-B14F-4D97-AF65-F5344CB8AC3E}">
        <p14:creationId xmlns:p14="http://schemas.microsoft.com/office/powerpoint/2010/main" val="2880841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5537FCE8-F338-444B-8644-F39614DC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0307088E-69B2-4108-8BB4-DD914063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A15CE4DD-F685-4AE4-9637-B8240CD5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38D78F90-5232-4893-A7D9-54845D09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97256F81-0583-4ACA-83AA-2B190570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汇报 / 趋势观察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ABC90F3C-EF44-41CB-9E9C-7453C69B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5011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新增问题的时间变化</a:t>
            </a:r>
          </a:p>
        </p:txBody>
      </p:sp>
      <p:sp>
        <p:nvSpPr>
          <p:cNvPr id="7" name="chrome--page-subtitle--7">
            <a:extLst xmlns:a="http://schemas.openxmlformats.org/drawingml/2006/main">
              <a:ext uri="{FF2B5EF4-FFF2-40B4-BE49-F238E27FC236}">
                <a16:creationId xmlns:a16="http://schemas.microsoft.com/office/drawing/2014/main" id="{95A6672B-CE21-4607-90ED-2DFCFA27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按相同口径检查每期新增问题，不把数量变化直接解释为质量提升。</a:t>
            </a:r>
          </a:p>
        </p:txBody>
      </p:sp>
      <p:grpSp>
        <p:nvGrpSpPr>
          <p:cNvPr id="24" name="C14-1"/>
          <p:cNvGrpSpPr/>
          <p:nvPr/>
        </p:nvGrpSpPr>
        <p:grpSpPr>
          <a:xfrm xmlns:a="http://schemas.openxmlformats.org/drawingml/2006/main">
            <a:off x="457200" y="3333750"/>
            <a:ext cx="9620250" cy="4610100"/>
            <a:chOff x="457200" y="3333750"/>
            <a:chExt cx="9620250" cy="4610100"/>
          </a:xfrm>
        </p:grpSpPr>
        <p:sp>
          <p:nvSpPr>
            <p:cNvPr id="8" name="C14-1--trend-surface--8">
              <a:extLst xmlns:a="http://schemas.openxmlformats.org/drawingml/2006/main">
                <a:ext uri="{FF2B5EF4-FFF2-40B4-BE49-F238E27FC236}">
                  <a16:creationId xmlns:a16="http://schemas.microsoft.com/office/drawing/2014/main" id="{4FD89684-4BB7-478B-AA83-AFFC23DC117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333750"/>
              <a:ext cx="9620250" cy="4610100"/>
            </a:xfrm>
            <a:prstGeom xmlns:a="http://schemas.openxmlformats.org/drawingml/2006/main" prst="roundRect">
              <a:avLst>
                <a:gd name="adj" fmla="val 4959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9" name="C14-1--trend-title--9">
              <a:extLst xmlns:a="http://schemas.openxmlformats.org/drawingml/2006/main">
                <a:ext uri="{FF2B5EF4-FFF2-40B4-BE49-F238E27FC236}">
                  <a16:creationId xmlns:a16="http://schemas.microsoft.com/office/drawing/2014/main" id="{192F6A43-0EEA-4F4B-AC24-D991CBD5125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3543300"/>
              <a:ext cx="90868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当期新增待核对问题</a:t>
              </a:r>
            </a:p>
          </p:txBody>
        </p:sp>
        <p:sp>
          <p:nvSpPr>
            <p:cNvPr id="10" name="C14-1--trend-unit--10">
              <a:extLst xmlns:a="http://schemas.openxmlformats.org/drawingml/2006/main">
                <a:ext uri="{FF2B5EF4-FFF2-40B4-BE49-F238E27FC236}">
                  <a16:creationId xmlns:a16="http://schemas.microsoft.com/office/drawing/2014/main" id="{3336573F-B8F7-409F-A518-BB46A62B9EA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3425" y="4038600"/>
              <a:ext cx="90678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单位：条</a:t>
              </a:r>
            </a:p>
          </p:txBody>
        </p:sp>
        <p:sp>
          <p:nvSpPr>
            <p:cNvPr id="12" name="C14-1--trend-source--11">
              <a:extLst xmlns:a="http://schemas.openxmlformats.org/drawingml/2006/main">
                <a:ext uri="{FF2B5EF4-FFF2-40B4-BE49-F238E27FC236}">
                  <a16:creationId xmlns:a16="http://schemas.microsoft.com/office/drawing/2014/main" id="{23CAF1ED-BB75-49B8-A297-66AD15EF74E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3425" y="7553325"/>
              <a:ext cx="90678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演示数据，非实际业务成果</a:t>
              </a:r>
            </a:p>
          </p:txBody>
        </p:sp>
      </p:grp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23DA2C96-DC7D-4254-B90B-132DD0C8CA5E}"/>
              </a:ext>
            </a:extLst>
          </p:cNvPr>
          <p:cNvGraphicFramePr/>
          <p:nvPr/>
        </p:nvGraphicFramePr>
        <p:xfrm>
          <a:off xmlns:a="http://schemas.openxmlformats.org/drawingml/2006/main" x="704850" y="4457700"/>
          <a:ext xmlns:a="http://schemas.openxmlformats.org/drawingml/2006/main" cx="9124950" cy="2933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ff303b0296348c7"/>
          </a:graphicData>
        </a:graphic>
      </p:graphicFrame>
      <p:grpSp>
        <p:nvGrpSpPr>
          <p:cNvPr id="25" name="C11-1"/>
          <p:cNvGrpSpPr/>
          <p:nvPr/>
        </p:nvGrpSpPr>
        <p:grpSpPr>
          <a:xfrm xmlns:a="http://schemas.openxmlformats.org/drawingml/2006/main">
            <a:off x="10572750" y="3333750"/>
            <a:ext cx="4895850" cy="4610100"/>
            <a:chOff x="10572750" y="3333750"/>
            <a:chExt cx="4895850" cy="4610100"/>
          </a:xfrm>
        </p:grpSpPr>
        <p:sp>
          <p:nvSpPr>
            <p:cNvPr id="13" name="C11-1--evidence-surface--12">
              <a:extLst xmlns:a="http://schemas.openxmlformats.org/drawingml/2006/main">
                <a:ext uri="{FF2B5EF4-FFF2-40B4-BE49-F238E27FC236}">
                  <a16:creationId xmlns:a16="http://schemas.microsoft.com/office/drawing/2014/main" id="{B7A7C804-5895-4BF4-9189-0012469BF72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572750" y="3333750"/>
              <a:ext cx="4895850" cy="4610100"/>
            </a:xfrm>
            <a:prstGeom xmlns:a="http://schemas.openxmlformats.org/drawingml/2006/main" prst="roundRect">
              <a:avLst>
                <a:gd name="adj" fmla="val 4959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4" name="C11-1--evidence-anchor--13">
              <a:extLst xmlns:a="http://schemas.openxmlformats.org/drawingml/2006/main">
                <a:ext uri="{FF2B5EF4-FFF2-40B4-BE49-F238E27FC236}">
                  <a16:creationId xmlns:a16="http://schemas.microsoft.com/office/drawing/2014/main" id="{B034011E-1736-4BC1-A564-D563AA0D0EE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10875" y="3609975"/>
              <a:ext cx="438150" cy="43815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131313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5" name="C11-1--evidence-number--14">
              <a:extLst xmlns:a="http://schemas.openxmlformats.org/drawingml/2006/main">
                <a:ext uri="{FF2B5EF4-FFF2-40B4-BE49-F238E27FC236}">
                  <a16:creationId xmlns:a16="http://schemas.microsoft.com/office/drawing/2014/main" id="{B2FFE3BE-3A71-4E0D-86B5-AD4C9109074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48975" y="3705225"/>
              <a:ext cx="361950" cy="2762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4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4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42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16" name="C11-1--evidence-claim--15">
              <a:extLst xmlns:a="http://schemas.openxmlformats.org/drawingml/2006/main">
                <a:ext uri="{FF2B5EF4-FFF2-40B4-BE49-F238E27FC236}">
                  <a16:creationId xmlns:a16="http://schemas.microsoft.com/office/drawing/2014/main" id="{1247091D-BB5B-4CDC-BD5C-0E5461D6B11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439525" y="3600450"/>
              <a:ext cx="3752850" cy="723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数量之外仍需检查原因</a:t>
              </a:r>
            </a:p>
          </p:txBody>
        </p:sp>
        <p:sp>
          <p:nvSpPr>
            <p:cNvPr id="17" name="C11-1--evidence-separator--16">
              <a:extLst xmlns:a="http://schemas.openxmlformats.org/drawingml/2006/main">
                <a:ext uri="{FF2B5EF4-FFF2-40B4-BE49-F238E27FC236}">
                  <a16:creationId xmlns:a16="http://schemas.microsoft.com/office/drawing/2014/main" id="{5B593BB0-18AE-418B-9D74-31648ACF6C9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0848975" y="4505325"/>
              <a:ext cx="43434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9525">
              <a:solidFill>
                <a:srgbClr val="E5DDD6"/>
              </a:solidFill>
              <a:prstDash val="solid"/>
            </a:ln>
          </p:spPr>
        </p:sp>
        <p:sp>
          <p:nvSpPr>
            <p:cNvPr id="18" name="C11-1--evidence-basis-label--17">
              <a:extLst xmlns:a="http://schemas.openxmlformats.org/drawingml/2006/main">
                <a:ext uri="{FF2B5EF4-FFF2-40B4-BE49-F238E27FC236}">
                  <a16:creationId xmlns:a16="http://schemas.microsoft.com/office/drawing/2014/main" id="{5A94F687-CEDC-42C8-BFF5-A9D83AE82DA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48975" y="4724400"/>
              <a:ext cx="6096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4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4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425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口径</a:t>
              </a:r>
            </a:p>
          </p:txBody>
        </p:sp>
        <p:sp>
          <p:nvSpPr>
            <p:cNvPr id="19" name="C11-1--evidence-basis--18">
              <a:extLst xmlns:a="http://schemas.openxmlformats.org/drawingml/2006/main">
                <a:ext uri="{FF2B5EF4-FFF2-40B4-BE49-F238E27FC236}">
                  <a16:creationId xmlns:a16="http://schemas.microsoft.com/office/drawing/2014/main" id="{AB3D08E8-7F56-420D-B76A-FC5834EA2D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620500" y="4686300"/>
              <a:ext cx="3562350" cy="24193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本例展示当期新增问题，不是累计</a:t>
              </a:r>
            </a:p>
            <a:p xmlns:a="http://schemas.openxmlformats.org/drawingml/2006/main">
              <a:pPr algn="l">
                <a:def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交付数。样本范围可能变化，不能</a:t>
              </a:r>
            </a:p>
            <a:p xmlns:a="http://schemas.openxmlformats.org/drawingml/2006/main">
              <a:pPr algn="l">
                <a:def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72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据此直接判断质量或因果关系。</a:t>
              </a:r>
            </a:p>
          </p:txBody>
        </p:sp>
        <p:sp>
          <p:nvSpPr>
            <p:cNvPr id="20" name="C11-1--evidence-source--19">
              <a:extLst xmlns:a="http://schemas.openxmlformats.org/drawingml/2006/main">
                <a:ext uri="{FF2B5EF4-FFF2-40B4-BE49-F238E27FC236}">
                  <a16:creationId xmlns:a16="http://schemas.microsoft.com/office/drawing/2014/main" id="{7FCBFDD6-CD16-49CD-B51F-E04FA0FA7B7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48975" y="7334250"/>
              <a:ext cx="4343400" cy="4095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来源：虚构演示数据</a:t>
              </a:r>
            </a:p>
          </p:txBody>
        </p:sp>
      </p:grpSp>
      <p:sp>
        <p:nvSpPr>
          <p:cNvPr id="21" name="chrome--footer-rule--20">
            <a:extLst xmlns:a="http://schemas.openxmlformats.org/drawingml/2006/main">
              <a:ext uri="{FF2B5EF4-FFF2-40B4-BE49-F238E27FC236}">
                <a16:creationId xmlns:a16="http://schemas.microsoft.com/office/drawing/2014/main" id="{C9A9904C-02DB-4195-840D-E777B1B8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22" name="chrome--footer--21">
            <a:extLst xmlns:a="http://schemas.openxmlformats.org/drawingml/2006/main">
              <a:ext uri="{FF2B5EF4-FFF2-40B4-BE49-F238E27FC236}">
                <a16:creationId xmlns:a16="http://schemas.microsoft.com/office/drawing/2014/main" id="{D589E2EA-B7DA-443A-9A12-88FF8DF3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演示数据。新增问题与累计交付采用不同口径，不能相加；实际汇报需补充统计范围。</a:t>
            </a:r>
          </a:p>
        </p:txBody>
      </p:sp>
    </p:spTree>
    <p:extLst>
      <p:ext uri="{BB962C8B-B14F-4D97-AF65-F5344CB8AC3E}">
        <p14:creationId xmlns:p14="http://schemas.microsoft.com/office/powerpoint/2010/main" val="19705315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BD256038-9E65-41B4-8241-F8DF0854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9BC7E100-3EB9-4AC2-ADA8-33A7F6A7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83D7ACE1-E64A-4FDF-9528-267ECD23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128DEC08-ECAC-4D82-9381-4B6F1478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1673A758-50EF-4383-A38D-2193CAFE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汇报 / 偏差分析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D61DB383-68A2-4742-B834-1CD63077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5011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目标差距与补充验证</a:t>
            </a:r>
          </a:p>
        </p:txBody>
      </p:sp>
      <p:sp>
        <p:nvSpPr>
          <p:cNvPr id="7" name="chrome--page-subtitle--7">
            <a:extLst xmlns:a="http://schemas.openxmlformats.org/drawingml/2006/main">
              <a:ext uri="{FF2B5EF4-FFF2-40B4-BE49-F238E27FC236}">
                <a16:creationId xmlns:a16="http://schemas.microsoft.com/office/drawing/2014/main" id="{BDB1CD92-3F3F-4CF3-A03B-7AED2DDC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对齐阶段目标和实绩，明确仍需处理的环节。</a:t>
            </a:r>
          </a:p>
        </p:txBody>
      </p:sp>
      <p:grpSp>
        <p:nvGrpSpPr>
          <p:cNvPr id="21" name="C15-1"/>
          <p:cNvGrpSpPr/>
          <p:nvPr/>
        </p:nvGrpSpPr>
        <p:grpSpPr>
          <a:xfrm xmlns:a="http://schemas.openxmlformats.org/drawingml/2006/main">
            <a:off x="457200" y="3333750"/>
            <a:ext cx="9753600" cy="4610100"/>
            <a:chOff x="457200" y="3333750"/>
            <a:chExt cx="9753600" cy="4610100"/>
          </a:xfrm>
        </p:grpSpPr>
        <p:sp>
          <p:nvSpPr>
            <p:cNvPr id="8" name="C15-1--target-surface--8">
              <a:extLst xmlns:a="http://schemas.openxmlformats.org/drawingml/2006/main">
                <a:ext uri="{FF2B5EF4-FFF2-40B4-BE49-F238E27FC236}">
                  <a16:creationId xmlns:a16="http://schemas.microsoft.com/office/drawing/2014/main" id="{152CAB7D-8719-4EF3-AE82-06B295C2072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57200" y="3333750"/>
              <a:ext cx="9753600" cy="4610100"/>
            </a:xfrm>
            <a:prstGeom xmlns:a="http://schemas.openxmlformats.org/drawingml/2006/main" prst="roundRect">
              <a:avLst>
                <a:gd name="adj" fmla="val 4959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9" name="C15-1--target-title--9">
              <a:extLst xmlns:a="http://schemas.openxmlformats.org/drawingml/2006/main">
                <a:ext uri="{FF2B5EF4-FFF2-40B4-BE49-F238E27FC236}">
                  <a16:creationId xmlns:a16="http://schemas.microsoft.com/office/drawing/2014/main" id="{F992F64C-554D-4E48-B27A-82A01E00D30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23900" y="3543300"/>
              <a:ext cx="922020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7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阶段目标与实际完成</a:t>
              </a:r>
            </a:p>
          </p:txBody>
        </p:sp>
        <p:sp>
          <p:nvSpPr>
            <p:cNvPr id="10" name="C15-1--target-unit--10">
              <a:extLst xmlns:a="http://schemas.openxmlformats.org/drawingml/2006/main">
                <a:ext uri="{FF2B5EF4-FFF2-40B4-BE49-F238E27FC236}">
                  <a16:creationId xmlns:a16="http://schemas.microsoft.com/office/drawing/2014/main" id="{4E0BFEA8-F24A-4BB2-8D78-B0B6AE96B33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3425" y="4038600"/>
              <a:ext cx="920115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35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单位：项</a:t>
              </a:r>
            </a:p>
          </p:txBody>
        </p:sp>
        <p:sp>
          <p:nvSpPr>
            <p:cNvPr id="12" name="C15-1--target-source--11">
              <a:extLst xmlns:a="http://schemas.openxmlformats.org/drawingml/2006/main">
                <a:ext uri="{FF2B5EF4-FFF2-40B4-BE49-F238E27FC236}">
                  <a16:creationId xmlns:a16="http://schemas.microsoft.com/office/drawing/2014/main" id="{65F45390-B6ED-4B89-91B5-8755502BB26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33425" y="7553325"/>
              <a:ext cx="92011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演示数据，目标和实际采用相同口径</a:t>
              </a:r>
            </a:p>
          </p:txBody>
        </p:sp>
      </p:grp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7D900B4A-1A36-4DAF-8555-5EDD7D1B298A}"/>
              </a:ext>
            </a:extLst>
          </p:cNvPr>
          <p:cNvGraphicFramePr/>
          <p:nvPr/>
        </p:nvGraphicFramePr>
        <p:xfrm>
          <a:off xmlns:a="http://schemas.openxmlformats.org/drawingml/2006/main" x="704850" y="4400550"/>
          <a:ext xmlns:a="http://schemas.openxmlformats.org/drawingml/2006/main" cx="9258300" cy="2990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b13cd3f6ab419b"/>
          </a:graphicData>
        </a:graphic>
      </p:graphicFrame>
      <p:grpSp>
        <p:nvGrpSpPr>
          <p:cNvPr id="22" name="C03-1"/>
          <p:cNvGrpSpPr/>
          <p:nvPr/>
        </p:nvGrpSpPr>
        <p:grpSpPr>
          <a:xfrm xmlns:a="http://schemas.openxmlformats.org/drawingml/2006/main">
            <a:off x="10668000" y="3333750"/>
            <a:ext cx="4800600" cy="4610100"/>
            <a:chOff x="10668000" y="3333750"/>
            <a:chExt cx="4800600" cy="4610100"/>
          </a:xfrm>
        </p:grpSpPr>
        <p:sp>
          <p:nvSpPr>
            <p:cNvPr id="13" name="C03-1--surface--12">
              <a:extLst xmlns:a="http://schemas.openxmlformats.org/drawingml/2006/main">
                <a:ext uri="{FF2B5EF4-FFF2-40B4-BE49-F238E27FC236}">
                  <a16:creationId xmlns:a16="http://schemas.microsoft.com/office/drawing/2014/main" id="{52262145-49BA-42FE-811B-D6C36121B7F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668000" y="3333750"/>
              <a:ext cx="4800600" cy="4610100"/>
            </a:xfrm>
            <a:prstGeom xmlns:a="http://schemas.openxmlformats.org/drawingml/2006/main" prst="roundRect">
              <a:avLst>
                <a:gd name="adj" fmla="val 4959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4" name="C03-1--small-tag--13">
              <a:extLst xmlns:a="http://schemas.openxmlformats.org/drawingml/2006/main">
                <a:ext uri="{FF2B5EF4-FFF2-40B4-BE49-F238E27FC236}">
                  <a16:creationId xmlns:a16="http://schemas.microsoft.com/office/drawing/2014/main" id="{DE6E7C95-7B5A-482C-9784-6BD196E112F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915650" y="3562350"/>
              <a:ext cx="1066800" cy="323850"/>
            </a:xfrm>
            <a:prstGeom xmlns:a="http://schemas.openxmlformats.org/drawingml/2006/main" prst="roundRect">
              <a:avLst>
                <a:gd name="adj" fmla="val 50000"/>
              </a:avLst>
            </a:prstGeom>
            <a:gradFill xmlns:a="http://schemas.openxmlformats.org/drawingml/2006/main">
              <a:gsLst>
                <a:gs pos="0">
                  <a:srgbClr val="D53912"/>
                </a:gs>
                <a:gs pos="100000">
                  <a:srgbClr val="D90404"/>
                </a:gs>
              </a:gsLst>
              <a:lin ang="0"/>
            </a:gradFill>
            <a:ln xmlns:a="http://schemas.openxmlformats.org/drawingml/2006/main" w="9525">
              <a:solidFill>
                <a:srgbClr val="FFFFFF">
                  <a:alpha val="85000"/>
                </a:srgbClr>
              </a:solidFill>
              <a:prstDash val="solid"/>
            </a:ln>
          </p:spPr>
        </p:sp>
        <p:sp>
          <p:nvSpPr>
            <p:cNvPr id="15" name="C03-1--small-tag-text--14">
              <a:extLst xmlns:a="http://schemas.openxmlformats.org/drawingml/2006/main">
                <a:ext uri="{FF2B5EF4-FFF2-40B4-BE49-F238E27FC236}">
                  <a16:creationId xmlns:a16="http://schemas.microsoft.com/office/drawing/2014/main" id="{64D420FB-E867-4CFF-8BDE-E5F4D90A3568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972800" y="3619500"/>
              <a:ext cx="952500" cy="2571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2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2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2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待核对</a:t>
              </a:r>
            </a:p>
          </p:txBody>
        </p:sp>
        <p:sp>
          <p:nvSpPr>
            <p:cNvPr id="16" name="C03-1--surface-title--15">
              <a:extLst xmlns:a="http://schemas.openxmlformats.org/drawingml/2006/main">
                <a:ext uri="{FF2B5EF4-FFF2-40B4-BE49-F238E27FC236}">
                  <a16:creationId xmlns:a16="http://schemas.microsoft.com/office/drawing/2014/main" id="{9268A957-EE02-4DE1-836D-30A1EBEEF01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934700" y="4095750"/>
              <a:ext cx="4267200" cy="6000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需要说明的差距</a:t>
              </a:r>
            </a:p>
          </p:txBody>
        </p:sp>
        <p:sp>
          <p:nvSpPr>
            <p:cNvPr id="17" name="C03-1--surface-body--16">
              <a:extLst xmlns:a="http://schemas.openxmlformats.org/drawingml/2006/main">
                <a:ext uri="{FF2B5EF4-FFF2-40B4-BE49-F238E27FC236}">
                  <a16:creationId xmlns:a16="http://schemas.microsoft.com/office/drawing/2014/main" id="{53A8BA0A-BCA3-4F57-B0C1-1A99FF7843B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934700" y="4905375"/>
              <a:ext cx="4267200" cy="27813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需求核对差 2 项。</a:t>
              </a:r>
            </a:p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场景验证差 3 项。</a:t>
              </a:r>
            </a:p>
            <a:p xmlns:a="http://schemas.openxmlformats.org/drawingml/2006/main">
              <a:r>
                <a:t/>
              </a:r>
            </a:p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差距原因与处理节点，应从实际记录中</a:t>
              </a:r>
            </a:p>
            <a:p xmlns:a="http://schemas.openxmlformats.org/drawingml/2006/main">
              <a:pPr algn="l">
                <a:def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75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核实。</a:t>
              </a:r>
            </a:p>
          </p:txBody>
        </p:sp>
      </p:grpSp>
      <p:sp>
        <p:nvSpPr>
          <p:cNvPr id="18" name="chrome--footer-rule--17">
            <a:extLst xmlns:a="http://schemas.openxmlformats.org/drawingml/2006/main">
              <a:ext uri="{FF2B5EF4-FFF2-40B4-BE49-F238E27FC236}">
                <a16:creationId xmlns:a16="http://schemas.microsoft.com/office/drawing/2014/main" id="{DF770613-CA18-48F9-BA18-C2289BB4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19" name="chrome--footer--18">
            <a:extLst xmlns:a="http://schemas.openxmlformats.org/drawingml/2006/main">
              <a:ext uri="{FF2B5EF4-FFF2-40B4-BE49-F238E27FC236}">
                <a16:creationId xmlns:a16="http://schemas.microsoft.com/office/drawing/2014/main" id="{477D7F88-2937-4625-9B64-305005EA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演示数据，非真实项目进度。目标与实际采用相同单位和范围。</a:t>
            </a:r>
          </a:p>
        </p:txBody>
      </p:sp>
    </p:spTree>
    <p:extLst>
      <p:ext uri="{BB962C8B-B14F-4D97-AF65-F5344CB8AC3E}">
        <p14:creationId xmlns:p14="http://schemas.microsoft.com/office/powerpoint/2010/main" val="9307560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3E7A268F-2E41-4CB7-AA19-AAA8CBEC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A867A344-D932-48C6-BA47-AAE63E5C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4E577704-6131-4297-B7D6-5D1DFA6E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6E04A720-B4AA-4BCD-8C68-855F9AEE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30029117-291B-4C86-BA69-D5484BCD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汇报 / 范围选择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6E6CA7CF-62BF-456E-9C84-33D1D4E3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5011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后续场景的验证顺序</a:t>
            </a:r>
          </a:p>
        </p:txBody>
      </p:sp>
      <p:sp>
        <p:nvSpPr>
          <p:cNvPr id="7" name="chrome--page-subtitle--7">
            <a:extLst xmlns:a="http://schemas.openxmlformats.org/drawingml/2006/main">
              <a:ext uri="{FF2B5EF4-FFF2-40B4-BE49-F238E27FC236}">
                <a16:creationId xmlns:a16="http://schemas.microsoft.com/office/drawing/2014/main" id="{9123604D-62E8-4DFD-BE99-90AEF1EA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结合预期影响与实施准备度，讨论有限资源如何安排。</a:t>
            </a:r>
          </a:p>
        </p:txBody>
      </p:sp>
      <p:grpSp>
        <p:nvGrpSpPr>
          <p:cNvPr id="27" name="C16-1"/>
          <p:cNvGrpSpPr/>
          <p:nvPr/>
        </p:nvGrpSpPr>
        <p:grpSpPr>
          <a:xfrm xmlns:a="http://schemas.openxmlformats.org/drawingml/2006/main">
            <a:off x="457200" y="3276600"/>
            <a:ext cx="15011400" cy="4667250"/>
            <a:chOff x="457200" y="3276600"/>
            <a:chExt cx="15011400" cy="4667250"/>
          </a:xfrm>
        </p:grpSpPr>
        <p:sp>
          <p:nvSpPr>
            <p:cNvPr id="8" name="C16-1--matrix-quadrant--8">
              <a:extLst xmlns:a="http://schemas.openxmlformats.org/drawingml/2006/main">
                <a:ext uri="{FF2B5EF4-FFF2-40B4-BE49-F238E27FC236}">
                  <a16:creationId xmlns:a16="http://schemas.microsoft.com/office/drawing/2014/main" id="{56D25A43-0CA1-4622-A5D6-B8E6231313D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71575" y="3686175"/>
              <a:ext cx="6924675" cy="1719263"/>
            </a:xfrm>
            <a:prstGeom xmlns:a="http://schemas.openxmlformats.org/drawingml/2006/main" prst="roundRect">
              <a:avLst>
                <a:gd name="adj" fmla="val 9972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9" name="C16-1--quadrant-title--9">
              <a:extLst xmlns:a="http://schemas.openxmlformats.org/drawingml/2006/main">
                <a:ext uri="{FF2B5EF4-FFF2-40B4-BE49-F238E27FC236}">
                  <a16:creationId xmlns:a16="http://schemas.microsoft.com/office/drawing/2014/main" id="{16CCFBC0-F6F0-4020-8EC6-CB2C5C19EDD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1125" y="3867150"/>
              <a:ext cx="6505575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先补齐关键条件</a:t>
              </a:r>
            </a:p>
          </p:txBody>
        </p:sp>
        <p:sp>
          <p:nvSpPr>
            <p:cNvPr id="10" name="C16-1--quadrant-body--10">
              <a:extLst xmlns:a="http://schemas.openxmlformats.org/drawingml/2006/main">
                <a:ext uri="{FF2B5EF4-FFF2-40B4-BE49-F238E27FC236}">
                  <a16:creationId xmlns:a16="http://schemas.microsoft.com/office/drawing/2014/main" id="{6FBADDD4-5148-4E25-880B-20DE389818D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1125" y="4400550"/>
              <a:ext cx="6505575" cy="84296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明确数据、流程和审核要求。</a:t>
              </a:r>
            </a:p>
          </p:txBody>
        </p:sp>
        <p:sp>
          <p:nvSpPr>
            <p:cNvPr id="11" name="C16-1--matrix-quadrant--11">
              <a:extLst xmlns:a="http://schemas.openxmlformats.org/drawingml/2006/main">
                <a:ext uri="{FF2B5EF4-FFF2-40B4-BE49-F238E27FC236}">
                  <a16:creationId xmlns:a16="http://schemas.microsoft.com/office/drawing/2014/main" id="{F4BF3878-7998-41B9-A04C-37533A030E2A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67700" y="3686175"/>
              <a:ext cx="6924675" cy="1719263"/>
            </a:xfrm>
            <a:prstGeom xmlns:a="http://schemas.openxmlformats.org/drawingml/2006/main" prst="roundRect">
              <a:avLst>
                <a:gd name="adj" fmla="val 9972"/>
              </a:avLst>
            </a:prstGeom>
            <a:gradFill xmlns:a="http://schemas.openxmlformats.org/drawingml/2006/main">
              <a:gsLst>
                <a:gs pos="0">
                  <a:srgbClr val="FFB456"/>
                </a:gs>
                <a:gs pos="32000">
                  <a:srgbClr val="FF7800"/>
                </a:gs>
                <a:gs pos="68000">
                  <a:srgbClr val="FF3D12"/>
                </a:gs>
                <a:gs pos="100000">
                  <a:srgbClr val="F21916"/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2" name="C16-1--quadrant-title--12">
              <a:extLst xmlns:a="http://schemas.openxmlformats.org/drawingml/2006/main">
                <a:ext uri="{FF2B5EF4-FFF2-40B4-BE49-F238E27FC236}">
                  <a16:creationId xmlns:a16="http://schemas.microsoft.com/office/drawing/2014/main" id="{C0C8F128-43CC-4F4F-834E-4C3427A7499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77250" y="3867150"/>
              <a:ext cx="6505575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安排优先验证</a:t>
              </a:r>
            </a:p>
          </p:txBody>
        </p:sp>
        <p:sp>
          <p:nvSpPr>
            <p:cNvPr id="13" name="C16-1--quadrant-body--13">
              <a:extLst xmlns:a="http://schemas.openxmlformats.org/drawingml/2006/main">
                <a:ext uri="{FF2B5EF4-FFF2-40B4-BE49-F238E27FC236}">
                  <a16:creationId xmlns:a16="http://schemas.microsoft.com/office/drawing/2014/main" id="{16534FE7-8752-4602-9A0A-8AEE4ED1302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77250" y="4400550"/>
              <a:ext cx="6505575" cy="84296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选择已有准备且影响较大的任务。</a:t>
              </a:r>
            </a:p>
          </p:txBody>
        </p:sp>
        <p:sp>
          <p:nvSpPr>
            <p:cNvPr id="14" name="C16-1--matrix-quadrant--14">
              <a:extLst xmlns:a="http://schemas.openxmlformats.org/drawingml/2006/main">
                <a:ext uri="{FF2B5EF4-FFF2-40B4-BE49-F238E27FC236}">
                  <a16:creationId xmlns:a16="http://schemas.microsoft.com/office/drawing/2014/main" id="{687F03DF-A56B-42F0-B808-5284EF8AB31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171575" y="5576888"/>
              <a:ext cx="6924675" cy="1719263"/>
            </a:xfrm>
            <a:prstGeom xmlns:a="http://schemas.openxmlformats.org/drawingml/2006/main" prst="roundRect">
              <a:avLst>
                <a:gd name="adj" fmla="val 9972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5" name="C16-1--quadrant-title--15">
              <a:extLst xmlns:a="http://schemas.openxmlformats.org/drawingml/2006/main">
                <a:ext uri="{FF2B5EF4-FFF2-40B4-BE49-F238E27FC236}">
                  <a16:creationId xmlns:a16="http://schemas.microsoft.com/office/drawing/2014/main" id="{04D90816-5ACE-4AA0-9756-666077A8763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1125" y="5757863"/>
              <a:ext cx="6505575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继续观察</a:t>
              </a:r>
            </a:p>
          </p:txBody>
        </p:sp>
        <p:sp>
          <p:nvSpPr>
            <p:cNvPr id="16" name="C16-1--quadrant-body--16">
              <a:extLst xmlns:a="http://schemas.openxmlformats.org/drawingml/2006/main">
                <a:ext uri="{FF2B5EF4-FFF2-40B4-BE49-F238E27FC236}">
                  <a16:creationId xmlns:a16="http://schemas.microsoft.com/office/drawing/2014/main" id="{A4DBEBA8-294B-4F8D-996F-BE18E2EEA0C6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381125" y="6291263"/>
              <a:ext cx="6505575" cy="84296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暂不扩大验证范围。</a:t>
              </a:r>
            </a:p>
          </p:txBody>
        </p:sp>
        <p:sp>
          <p:nvSpPr>
            <p:cNvPr id="17" name="C16-1--matrix-quadrant--17">
              <a:extLst xmlns:a="http://schemas.openxmlformats.org/drawingml/2006/main">
                <a:ext uri="{FF2B5EF4-FFF2-40B4-BE49-F238E27FC236}">
                  <a16:creationId xmlns:a16="http://schemas.microsoft.com/office/drawing/2014/main" id="{149036AC-0F3A-409B-A723-ECF61F1CFE2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267700" y="5576888"/>
              <a:ext cx="6924675" cy="1719263"/>
            </a:xfrm>
            <a:prstGeom xmlns:a="http://schemas.openxmlformats.org/drawingml/2006/main" prst="roundRect">
              <a:avLst>
                <a:gd name="adj" fmla="val 9972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8" name="C16-1--quadrant-title--18">
              <a:extLst xmlns:a="http://schemas.openxmlformats.org/drawingml/2006/main">
                <a:ext uri="{FF2B5EF4-FFF2-40B4-BE49-F238E27FC236}">
                  <a16:creationId xmlns:a16="http://schemas.microsoft.com/office/drawing/2014/main" id="{145A6CEF-8032-47F1-8755-FF4B607082B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77250" y="5757863"/>
              <a:ext cx="6505575" cy="4191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100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小范围验证</a:t>
              </a:r>
            </a:p>
          </p:txBody>
        </p:sp>
        <p:sp>
          <p:nvSpPr>
            <p:cNvPr id="19" name="C16-1--quadrant-body--19">
              <a:extLst xmlns:a="http://schemas.openxmlformats.org/drawingml/2006/main">
                <a:ext uri="{FF2B5EF4-FFF2-40B4-BE49-F238E27FC236}">
                  <a16:creationId xmlns:a16="http://schemas.microsoft.com/office/drawing/2014/main" id="{AC957ADF-94DF-43DC-8D2B-F98BFA0945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477250" y="6291263"/>
              <a:ext cx="6505575" cy="842963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控制投入，检查实际使用价值。</a:t>
              </a:r>
            </a:p>
          </p:txBody>
        </p:sp>
        <p:sp>
          <p:nvSpPr>
            <p:cNvPr id="20" name="C16-1--matrix-x--20">
              <a:extLst xmlns:a="http://schemas.openxmlformats.org/drawingml/2006/main">
                <a:ext uri="{FF2B5EF4-FFF2-40B4-BE49-F238E27FC236}">
                  <a16:creationId xmlns:a16="http://schemas.microsoft.com/office/drawing/2014/main" id="{D191993C-2449-4AD6-B81D-DC22460FB58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085850" y="7458075"/>
              <a:ext cx="1419225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131313"/>
              </a:solidFill>
              <a:prstDash val="solid"/>
            </a:ln>
          </p:spPr>
        </p:sp>
        <p:sp>
          <p:nvSpPr>
            <p:cNvPr id="21" name="C16-1--matrix-y--21">
              <a:extLst xmlns:a="http://schemas.openxmlformats.org/drawingml/2006/main">
                <a:ext uri="{FF2B5EF4-FFF2-40B4-BE49-F238E27FC236}">
                  <a16:creationId xmlns:a16="http://schemas.microsoft.com/office/drawing/2014/main" id="{0CB36132-3616-411B-9579-CA350206C98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1">
              <a:off x="990600" y="3600450"/>
              <a:ext cx="0" cy="378142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131313"/>
              </a:solidFill>
              <a:prstDash val="solid"/>
            </a:ln>
          </p:spPr>
        </p:sp>
        <p:sp>
          <p:nvSpPr>
            <p:cNvPr id="22" name="C16-1--matrix-x-label--22">
              <a:extLst xmlns:a="http://schemas.openxmlformats.org/drawingml/2006/main">
                <a:ext uri="{FF2B5EF4-FFF2-40B4-BE49-F238E27FC236}">
                  <a16:creationId xmlns:a16="http://schemas.microsoft.com/office/drawing/2014/main" id="{4E7D3E85-9097-4E1C-80A7-ED6B9A914E7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085850" y="7620000"/>
              <a:ext cx="14192250" cy="29527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ctr">
                <a:defRPr sz="15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ctr">
                <a:defRPr sz="15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75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低  实施准备度  高</a:t>
              </a:r>
            </a:p>
          </p:txBody>
        </p:sp>
        <p:sp>
          <p:nvSpPr>
            <p:cNvPr id="23" name="C16-1--matrix-y-label--23">
              <a:extLst xmlns:a="http://schemas.openxmlformats.org/drawingml/2006/main">
                <a:ext uri="{FF2B5EF4-FFF2-40B4-BE49-F238E27FC236}">
                  <a16:creationId xmlns:a16="http://schemas.microsoft.com/office/drawing/2014/main" id="{07BA3FAF-34A4-4C9E-8D47-BE8820EAB83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14350" y="3276600"/>
              <a:ext cx="148971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500" b="0">
                  <a:solidFill>
                    <a:srgbClr val="66615E"/>
                  </a:solidFill>
                  <a:latin typeface="Microsoft YaHei"/>
                  <a:ea typeface="Microsoft YaHei"/>
                  <a:cs typeface="Microsoft YaHei"/>
                </a:rPr>
                <a:t>预期影响（上高下低）</a:t>
              </a:r>
            </a:p>
          </p:txBody>
        </p:sp>
      </p:grpSp>
      <p:sp>
        <p:nvSpPr>
          <p:cNvPr id="24" name="chrome--footer-rule--24">
            <a:extLst xmlns:a="http://schemas.openxmlformats.org/drawingml/2006/main">
              <a:ext uri="{FF2B5EF4-FFF2-40B4-BE49-F238E27FC236}">
                <a16:creationId xmlns:a16="http://schemas.microsoft.com/office/drawing/2014/main" id="{2C78B3BF-67F6-4CF8-A243-0E89DC79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25" name="chrome--footer--25">
            <a:extLst xmlns:a="http://schemas.openxmlformats.org/drawingml/2006/main">
              <a:ext uri="{FF2B5EF4-FFF2-40B4-BE49-F238E27FC236}">
                <a16:creationId xmlns:a16="http://schemas.microsoft.com/office/drawing/2014/main" id="{A3BADE86-C3F7-46E8-8FF8-0A2AFB5C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定性讨论示意，象限不代表精确评分或已经批准的资源优先级。</a:t>
            </a:r>
          </a:p>
        </p:txBody>
      </p:sp>
    </p:spTree>
    <p:extLst>
      <p:ext uri="{BB962C8B-B14F-4D97-AF65-F5344CB8AC3E}">
        <p14:creationId xmlns:p14="http://schemas.microsoft.com/office/powerpoint/2010/main" val="20002156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chrome--brand--1">
            <a:extLst xmlns:a="http://schemas.openxmlformats.org/drawingml/2006/main">
              <a:ext uri="{FF2B5EF4-FFF2-40B4-BE49-F238E27FC236}">
                <a16:creationId xmlns:a16="http://schemas.microsoft.com/office/drawing/2014/main" id="{B1D90C16-15BE-4BF2-B968-ED5C0A61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WARM GLASS</a:t>
            </a:r>
          </a:p>
        </p:txBody>
      </p:sp>
      <p:sp>
        <p:nvSpPr>
          <p:cNvPr id="2" name="chrome--header-divider--2">
            <a:extLst xmlns:a="http://schemas.openxmlformats.org/drawingml/2006/main">
              <a:ext uri="{FF2B5EF4-FFF2-40B4-BE49-F238E27FC236}">
                <a16:creationId xmlns:a16="http://schemas.microsoft.com/office/drawing/2014/main" id="{66871CB4-1A8D-468C-9C35-5312E072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05125" y="4000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3D12">
                <a:alpha val="68000"/>
              </a:srgbClr>
            </a:solidFill>
            <a:prstDash val="solid"/>
          </a:ln>
        </p:spPr>
      </p:sp>
      <p:sp>
        <p:nvSpPr>
          <p:cNvPr id="3" name="chrome--slogan-en--3">
            <a:extLst xmlns:a="http://schemas.openxmlformats.org/drawingml/2006/main">
              <a:ext uri="{FF2B5EF4-FFF2-40B4-BE49-F238E27FC236}">
                <a16:creationId xmlns:a16="http://schemas.microsoft.com/office/drawing/2014/main" id="{4A0DDA01-A857-43AB-9F56-0995F203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714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Clarity by design</a:t>
            </a:r>
          </a:p>
        </p:txBody>
      </p:sp>
      <p:sp>
        <p:nvSpPr>
          <p:cNvPr id="4" name="chrome--slogan-cn--4">
            <a:extLst xmlns:a="http://schemas.openxmlformats.org/drawingml/2006/main">
              <a:ext uri="{FF2B5EF4-FFF2-40B4-BE49-F238E27FC236}">
                <a16:creationId xmlns:a16="http://schemas.microsoft.com/office/drawing/2014/main" id="{497A0AEC-BA65-44D2-9BB5-F272536E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6572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52613"/>
                </a:solidFill>
                <a:latin typeface="Microsoft YaHei"/>
                <a:ea typeface="Microsoft YaHei"/>
                <a:cs typeface="Microsoft YaHei"/>
              </a:rPr>
              <a:t>让结构帮助理解</a:t>
            </a:r>
          </a:p>
        </p:txBody>
      </p:sp>
      <p:sp>
        <p:nvSpPr>
          <p:cNvPr id="5" name="chrome--page-label--5">
            <a:extLst xmlns:a="http://schemas.openxmlformats.org/drawingml/2006/main">
              <a:ext uri="{FF2B5EF4-FFF2-40B4-BE49-F238E27FC236}">
                <a16:creationId xmlns:a16="http://schemas.microsoft.com/office/drawing/2014/main" id="{22B97391-44CD-4D22-9E9A-E0B040C9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1485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2A16"/>
                </a:solidFill>
                <a:latin typeface="Microsoft YaHei"/>
                <a:ea typeface="Microsoft YaHei"/>
                <a:cs typeface="Microsoft YaHei"/>
              </a:rPr>
              <a:t>汇报 / 推进计划</a:t>
            </a:r>
          </a:p>
        </p:txBody>
      </p:sp>
      <p:sp>
        <p:nvSpPr>
          <p:cNvPr id="6" name="chrome--page-title--6">
            <a:extLst xmlns:a="http://schemas.openxmlformats.org/drawingml/2006/main">
              <a:ext uri="{FF2B5EF4-FFF2-40B4-BE49-F238E27FC236}">
                <a16:creationId xmlns:a16="http://schemas.microsoft.com/office/drawing/2014/main" id="{1A227E1D-8F4E-4054-A071-B745EB00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3074489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rPr>
              <a:t>下一阶段的</a:t>
            </a:r>
          </a:p>
        </p:txBody>
      </p:sp>
      <p:sp>
        <p:nvSpPr>
          <p:cNvPr id="7" name="chrome--page-title--7">
            <a:extLst xmlns:a="http://schemas.openxmlformats.org/drawingml/2006/main">
              <a:ext uri="{FF2B5EF4-FFF2-40B4-BE49-F238E27FC236}">
                <a16:creationId xmlns:a16="http://schemas.microsoft.com/office/drawing/2014/main" id="{6FDB5BA5-FB06-43DA-87E3-4A2C6913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589" y="1676400"/>
            <a:ext cx="3074489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4650" b="1">
                <a:solidFill>
                  <a:srgbClr val="1012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gradFill>
                  <a:gsLst>
                    <a:gs pos="0">
                      <a:srgbClr val="FF7800"/>
                    </a:gs>
                    <a:gs pos="30000">
                      <a:srgbClr val="FF5000"/>
                    </a:gs>
                    <a:gs pos="60000">
                      <a:srgbClr val="FF2600"/>
                    </a:gs>
                    <a:gs pos="80000">
                      <a:srgbClr val="ED1006"/>
                    </a:gs>
                    <a:gs pos="100000">
                      <a:srgbClr val="D90404"/>
                    </a:gs>
                  </a:gsLst>
                  <a:lin ang="0"/>
                </a:gradFill>
                <a:latin typeface="Microsoft YaHei"/>
                <a:ea typeface="Microsoft YaHei"/>
                <a:cs typeface="Microsoft YaHei"/>
              </a:rPr>
              <a:t>任务与责任</a:t>
            </a:r>
          </a:p>
        </p:txBody>
      </p:sp>
      <p:sp>
        <p:nvSpPr>
          <p:cNvPr id="8" name="chrome--page-subtitle--8">
            <a:extLst xmlns:a="http://schemas.openxmlformats.org/drawingml/2006/main">
              <a:ext uri="{FF2B5EF4-FFF2-40B4-BE49-F238E27FC236}">
                <a16:creationId xmlns:a16="http://schemas.microsoft.com/office/drawing/2014/main" id="{E4A46260-F7AB-4E4C-8697-D16929DD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481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将下一步工作落实到阶段、责任角色与可检查的完成节点。</a:t>
            </a:r>
          </a:p>
        </p:txBody>
      </p:sp>
      <p:grpSp>
        <p:nvGrpSpPr>
          <p:cNvPr id="36" name="C08-1"/>
          <p:cNvGrpSpPr/>
          <p:nvPr/>
        </p:nvGrpSpPr>
        <p:grpSpPr>
          <a:xfrm xmlns:a="http://schemas.openxmlformats.org/drawingml/2006/main">
            <a:off x="457200" y="3343275"/>
            <a:ext cx="8096250" cy="4619625"/>
            <a:chOff x="457200" y="3343275"/>
            <a:chExt cx="8096250" cy="4619625"/>
          </a:xfrm>
        </p:grpSpPr>
        <p:sp>
          <p:nvSpPr>
            <p:cNvPr id="9" name="C08-1--roadmap-route--9">
              <a:extLst xmlns:a="http://schemas.openxmlformats.org/drawingml/2006/main">
                <a:ext uri="{FF2B5EF4-FFF2-40B4-BE49-F238E27FC236}">
                  <a16:creationId xmlns:a16="http://schemas.microsoft.com/office/drawing/2014/main" id="{DFFCB39A-C981-455E-8331-48076C952E5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806575" y="3724275"/>
              <a:ext cx="5397500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38100">
              <a:gradFill>
                <a:gsLst>
                  <a:gs pos="0">
                    <a:srgbClr val="FF2D12"/>
                  </a:gs>
                  <a:gs pos="35000">
                    <a:srgbClr val="FF771C"/>
                  </a:gs>
                  <a:gs pos="70000">
                    <a:srgbClr val="FFB85E"/>
                  </a:gs>
                  <a:gs pos="100000">
                    <a:srgbClr val="D2C4B5"/>
                  </a:gs>
                </a:gsLst>
                <a:lin ang="0"/>
              </a:gradFill>
              <a:prstDash val="solid"/>
            </a:ln>
          </p:spPr>
        </p:sp>
        <p:sp>
          <p:nvSpPr>
            <p:cNvPr id="10" name="C08-1--milestone-halo--10">
              <a:extLst xmlns:a="http://schemas.openxmlformats.org/drawingml/2006/main">
                <a:ext uri="{FF2B5EF4-FFF2-40B4-BE49-F238E27FC236}">
                  <a16:creationId xmlns:a16="http://schemas.microsoft.com/office/drawing/2014/main" id="{9780A70B-B547-457E-90D1-E02BD815DCE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530350" y="3448050"/>
              <a:ext cx="552450" cy="55245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14288">
              <a:solidFill>
                <a:srgbClr val="FF7800">
                  <a:alpha val="35000"/>
                </a:srgbClr>
              </a:solidFill>
              <a:prstDash val="solid"/>
            </a:ln>
          </p:spPr>
        </p:sp>
        <p:sp>
          <p:nvSpPr>
            <p:cNvPr id="11" name="C08-1--milestone-node--11">
              <a:extLst xmlns:a="http://schemas.openxmlformats.org/drawingml/2006/main">
                <a:ext uri="{FF2B5EF4-FFF2-40B4-BE49-F238E27FC236}">
                  <a16:creationId xmlns:a16="http://schemas.microsoft.com/office/drawing/2014/main" id="{F8BCC60A-6920-4237-AD87-F29FBD2EBA21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1673225" y="3590925"/>
              <a:ext cx="266700" cy="26670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FF7800"/>
                </a:gs>
                <a:gs pos="30000">
                  <a:srgbClr val="FF5000"/>
                </a:gs>
                <a:gs pos="60000">
                  <a:srgbClr val="FF2600"/>
                </a:gs>
                <a:gs pos="80000">
                  <a:srgbClr val="ED1006"/>
                </a:gs>
                <a:gs pos="100000">
                  <a:srgbClr val="D90404"/>
                </a:gs>
              </a:gsLst>
              <a:lin ang="0"/>
            </a:gra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2" name="C08-1--milestone-stem--12">
              <a:extLst xmlns:a="http://schemas.openxmlformats.org/drawingml/2006/main">
                <a:ext uri="{FF2B5EF4-FFF2-40B4-BE49-F238E27FC236}">
                  <a16:creationId xmlns:a16="http://schemas.microsoft.com/office/drawing/2014/main" id="{A798A749-E2A2-4018-88D7-7758BC6FEE2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1806575" y="4010025"/>
              <a:ext cx="0" cy="3333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FF7800">
                  <a:alpha val="55000"/>
                </a:srgbClr>
              </a:solidFill>
              <a:prstDash val="solid"/>
            </a:ln>
          </p:spPr>
        </p:sp>
        <p:sp>
          <p:nvSpPr>
            <p:cNvPr id="13" name="C08-1--milestone-surface--13">
              <a:extLst xmlns:a="http://schemas.openxmlformats.org/drawingml/2006/main">
                <a:ext uri="{FF2B5EF4-FFF2-40B4-BE49-F238E27FC236}">
                  <a16:creationId xmlns:a16="http://schemas.microsoft.com/office/drawing/2014/main" id="{923A1184-BC0E-407E-8ED5-62E455CAB5C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0550" y="4352925"/>
              <a:ext cx="2432050" cy="3609975"/>
            </a:xfrm>
            <a:prstGeom xmlns:a="http://schemas.openxmlformats.org/drawingml/2006/main" prst="roundRect">
              <a:avLst>
                <a:gd name="adj" fmla="val 9399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14" name="C08-1--milestone-date--14">
              <a:extLst xmlns:a="http://schemas.openxmlformats.org/drawingml/2006/main">
                <a:ext uri="{FF2B5EF4-FFF2-40B4-BE49-F238E27FC236}">
                  <a16:creationId xmlns:a16="http://schemas.microsoft.com/office/drawing/2014/main" id="{199904D2-3678-491F-A2FE-DEF27644391C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9150" y="4600575"/>
              <a:ext cx="19748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阶段一</a:t>
              </a:r>
            </a:p>
          </p:txBody>
        </p:sp>
        <p:sp>
          <p:nvSpPr>
            <p:cNvPr id="15" name="C08-1--milestone-title--15">
              <a:extLst xmlns:a="http://schemas.openxmlformats.org/drawingml/2006/main">
                <a:ext uri="{FF2B5EF4-FFF2-40B4-BE49-F238E27FC236}">
                  <a16:creationId xmlns:a16="http://schemas.microsoft.com/office/drawing/2014/main" id="{F30888B3-FDB0-4C3B-8135-951FD5DD29DB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9150" y="5114925"/>
              <a:ext cx="1974850" cy="723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问题复核</a:t>
              </a:r>
            </a:p>
          </p:txBody>
        </p:sp>
        <p:sp>
          <p:nvSpPr>
            <p:cNvPr id="16" name="C08-1--milestone-body--16">
              <a:extLst xmlns:a="http://schemas.openxmlformats.org/drawingml/2006/main">
                <a:ext uri="{FF2B5EF4-FFF2-40B4-BE49-F238E27FC236}">
                  <a16:creationId xmlns:a16="http://schemas.microsoft.com/office/drawing/2014/main" id="{540EA43C-17FE-42BF-B549-9845EB039FD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819150" y="6048375"/>
              <a:ext cx="1974850" cy="16478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整理问题清单</a:t>
              </a:r>
            </a:p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确认处理边界</a:t>
              </a:r>
            </a:p>
          </p:txBody>
        </p:sp>
        <p:sp>
          <p:nvSpPr>
            <p:cNvPr id="17" name="C08-1--milestone-halo--17">
              <a:extLst xmlns:a="http://schemas.openxmlformats.org/drawingml/2006/main">
                <a:ext uri="{FF2B5EF4-FFF2-40B4-BE49-F238E27FC236}">
                  <a16:creationId xmlns:a16="http://schemas.microsoft.com/office/drawing/2014/main" id="{3B16FB4C-2C29-4E5A-9E8D-A4CA46646DA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229100" y="3448050"/>
              <a:ext cx="552450" cy="55245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14288">
              <a:solidFill>
                <a:srgbClr val="FF7800">
                  <a:alpha val="35000"/>
                </a:srgbClr>
              </a:solidFill>
              <a:prstDash val="solid"/>
            </a:ln>
          </p:spPr>
        </p:sp>
        <p:sp>
          <p:nvSpPr>
            <p:cNvPr id="18" name="C08-1--milestone-node--18">
              <a:extLst xmlns:a="http://schemas.openxmlformats.org/drawingml/2006/main">
                <a:ext uri="{FF2B5EF4-FFF2-40B4-BE49-F238E27FC236}">
                  <a16:creationId xmlns:a16="http://schemas.microsoft.com/office/drawing/2014/main" id="{191089ED-1DBC-426C-9FE2-9909227C3E8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4371975" y="3590925"/>
              <a:ext cx="266700" cy="2667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131313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19" name="C08-1--milestone-stem--19">
              <a:extLst xmlns:a="http://schemas.openxmlformats.org/drawingml/2006/main">
                <a:ext uri="{FF2B5EF4-FFF2-40B4-BE49-F238E27FC236}">
                  <a16:creationId xmlns:a16="http://schemas.microsoft.com/office/drawing/2014/main" id="{FDAEC20F-5932-46B4-BEEF-A3233AA8E1E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4505325" y="4010025"/>
              <a:ext cx="0" cy="3333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FF7800">
                  <a:alpha val="55000"/>
                </a:srgbClr>
              </a:solidFill>
              <a:prstDash val="solid"/>
            </a:ln>
          </p:spPr>
        </p:sp>
        <p:sp>
          <p:nvSpPr>
            <p:cNvPr id="20" name="C08-1--milestone-surface--20">
              <a:extLst xmlns:a="http://schemas.openxmlformats.org/drawingml/2006/main">
                <a:ext uri="{FF2B5EF4-FFF2-40B4-BE49-F238E27FC236}">
                  <a16:creationId xmlns:a16="http://schemas.microsoft.com/office/drawing/2014/main" id="{D12E8203-8A2F-436D-B2CB-7689CFABAE10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289300" y="4352925"/>
              <a:ext cx="2432050" cy="3609975"/>
            </a:xfrm>
            <a:prstGeom xmlns:a="http://schemas.openxmlformats.org/drawingml/2006/main" prst="roundRect">
              <a:avLst>
                <a:gd name="adj" fmla="val 9399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21" name="C08-1--milestone-date--21">
              <a:extLst xmlns:a="http://schemas.openxmlformats.org/drawingml/2006/main">
                <a:ext uri="{FF2B5EF4-FFF2-40B4-BE49-F238E27FC236}">
                  <a16:creationId xmlns:a16="http://schemas.microsoft.com/office/drawing/2014/main" id="{113A3059-CA0C-4C96-BF39-A93437E1E279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17900" y="4600575"/>
              <a:ext cx="19748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阶段二</a:t>
              </a:r>
            </a:p>
          </p:txBody>
        </p:sp>
        <p:sp>
          <p:nvSpPr>
            <p:cNvPr id="22" name="C08-1--milestone-title--22">
              <a:extLst xmlns:a="http://schemas.openxmlformats.org/drawingml/2006/main">
                <a:ext uri="{FF2B5EF4-FFF2-40B4-BE49-F238E27FC236}">
                  <a16:creationId xmlns:a16="http://schemas.microsoft.com/office/drawing/2014/main" id="{0F6158E1-79AE-4F2D-92A1-77194C0D4E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17900" y="5114925"/>
              <a:ext cx="1974850" cy="723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补充验证</a:t>
              </a:r>
            </a:p>
          </p:txBody>
        </p:sp>
        <p:sp>
          <p:nvSpPr>
            <p:cNvPr id="23" name="C08-1--milestone-body--23">
              <a:extLst xmlns:a="http://schemas.openxmlformats.org/drawingml/2006/main">
                <a:ext uri="{FF2B5EF4-FFF2-40B4-BE49-F238E27FC236}">
                  <a16:creationId xmlns:a16="http://schemas.microsoft.com/office/drawing/2014/main" id="{5D0ED341-91E3-48A4-AD12-4CC8995EB89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3517900" y="6048375"/>
              <a:ext cx="1974850" cy="16478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覆盖异常情况</a:t>
              </a:r>
            </a:p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形成反馈记录</a:t>
              </a:r>
            </a:p>
          </p:txBody>
        </p:sp>
        <p:sp>
          <p:nvSpPr>
            <p:cNvPr id="24" name="C08-1--milestone-halo--24">
              <a:extLst xmlns:a="http://schemas.openxmlformats.org/drawingml/2006/main">
                <a:ext uri="{FF2B5EF4-FFF2-40B4-BE49-F238E27FC236}">
                  <a16:creationId xmlns:a16="http://schemas.microsoft.com/office/drawing/2014/main" id="{1FEC03C8-35C8-48AD-B371-3EA46DE5B6F5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927850" y="3448050"/>
              <a:ext cx="552450" cy="552450"/>
            </a:xfrm>
            <a:prstGeom xmlns:a="http://schemas.openxmlformats.org/drawingml/2006/main" prst="ellipse">
              <a:avLst/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14288">
              <a:solidFill>
                <a:srgbClr val="FF7800">
                  <a:alpha val="35000"/>
                </a:srgbClr>
              </a:solidFill>
              <a:prstDash val="solid"/>
            </a:ln>
          </p:spPr>
        </p:sp>
        <p:sp>
          <p:nvSpPr>
            <p:cNvPr id="25" name="C08-1--milestone-node--25">
              <a:extLst xmlns:a="http://schemas.openxmlformats.org/drawingml/2006/main">
                <a:ext uri="{FF2B5EF4-FFF2-40B4-BE49-F238E27FC236}">
                  <a16:creationId xmlns:a16="http://schemas.microsoft.com/office/drawing/2014/main" id="{70EF12FD-6A01-4B30-AFFC-25B8DA8133FF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7070725" y="3590925"/>
              <a:ext cx="266700" cy="26670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131313"/>
            </a:solidFill>
            <a:ln xmlns:a="http://schemas.openxmlformats.org/drawingml/2006/main" w="0">
              <a:noFill/>
              <a:prstDash val="solid"/>
            </a:ln>
          </p:spPr>
        </p:sp>
        <p:sp>
          <p:nvSpPr>
            <p:cNvPr id="26" name="C08-1--milestone-stem--26">
              <a:extLst xmlns:a="http://schemas.openxmlformats.org/drawingml/2006/main">
                <a:ext uri="{FF2B5EF4-FFF2-40B4-BE49-F238E27FC236}">
                  <a16:creationId xmlns:a16="http://schemas.microsoft.com/office/drawing/2014/main" id="{ACBBFA03-25A7-4A93-99DF-809A7E39B043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 flipH="0" flipV="0">
              <a:off x="7204075" y="4010025"/>
              <a:ext cx="0" cy="333375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FF7800">
                  <a:alpha val="55000"/>
                </a:srgbClr>
              </a:solidFill>
              <a:prstDash val="solid"/>
            </a:ln>
          </p:spPr>
        </p:sp>
        <p:sp>
          <p:nvSpPr>
            <p:cNvPr id="27" name="C08-1--milestone-surface--27">
              <a:extLst xmlns:a="http://schemas.openxmlformats.org/drawingml/2006/main">
                <a:ext uri="{FF2B5EF4-FFF2-40B4-BE49-F238E27FC236}">
                  <a16:creationId xmlns:a16="http://schemas.microsoft.com/office/drawing/2014/main" id="{BFA0F232-CDEE-4F0A-B4A8-41D83665B64D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5988050" y="4352925"/>
              <a:ext cx="2432050" cy="3609975"/>
            </a:xfrm>
            <a:prstGeom xmlns:a="http://schemas.openxmlformats.org/drawingml/2006/main" prst="roundRect">
              <a:avLst>
                <a:gd name="adj" fmla="val 9399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  <p:sp>
          <p:nvSpPr>
            <p:cNvPr id="28" name="C08-1--milestone-date--28">
              <a:extLst xmlns:a="http://schemas.openxmlformats.org/drawingml/2006/main">
                <a:ext uri="{FF2B5EF4-FFF2-40B4-BE49-F238E27FC236}">
                  <a16:creationId xmlns:a16="http://schemas.microsoft.com/office/drawing/2014/main" id="{6FD1DEF9-00BE-47F8-BA37-1C71C9A94FEE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16650" y="4600575"/>
              <a:ext cx="1974850" cy="3238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650" b="1">
                  <a:solidFill>
                    <a:srgbClr val="B92A16"/>
                  </a:solidFill>
                  <a:latin typeface="Microsoft YaHei"/>
                  <a:ea typeface="Microsoft YaHei"/>
                  <a:cs typeface="Microsoft YaHei"/>
                </a:rPr>
                <a:t>阶段三</a:t>
              </a:r>
            </a:p>
          </p:txBody>
        </p:sp>
        <p:sp>
          <p:nvSpPr>
            <p:cNvPr id="29" name="C08-1--milestone-title--29">
              <a:extLst xmlns:a="http://schemas.openxmlformats.org/drawingml/2006/main">
                <a:ext uri="{FF2B5EF4-FFF2-40B4-BE49-F238E27FC236}">
                  <a16:creationId xmlns:a16="http://schemas.microsoft.com/office/drawing/2014/main" id="{471132C3-2C33-4D98-B20B-3D4BD37B3797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16650" y="5114925"/>
              <a:ext cx="1974850" cy="7239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2325" b="1">
                  <a:solidFill>
                    <a:srgbClr val="101219"/>
                  </a:solidFill>
                  <a:latin typeface="Microsoft YaHei"/>
                  <a:ea typeface="Microsoft YaHei"/>
                  <a:cs typeface="Microsoft YaHei"/>
                </a:rPr>
                <a:t>评审范围</a:t>
              </a:r>
            </a:p>
          </p:txBody>
        </p:sp>
        <p:sp>
          <p:nvSpPr>
            <p:cNvPr id="30" name="C08-1--milestone-body--30">
              <a:extLst xmlns:a="http://schemas.openxmlformats.org/drawingml/2006/main">
                <a:ext uri="{FF2B5EF4-FFF2-40B4-BE49-F238E27FC236}">
                  <a16:creationId xmlns:a16="http://schemas.microsoft.com/office/drawing/2014/main" id="{7BC4BCE6-A1AF-4BDB-AD44-CE8073BA5A22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6216650" y="6048375"/>
              <a:ext cx="1974850" cy="16478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</a:ln>
          </p:spPr>
          <p:txBody>
            <a:bodyPr xmlns:a="http://schemas.openxmlformats.org/drawingml/2006/main" wrap="none" lIns="0" tIns="0" rIns="0" bIns="0" anchor="t">
              <a:noAutofit/>
            </a:bodyPr>
            <a:lstStyle xmlns:a="http://schemas.openxmlformats.org/drawingml/2006/main">
              <a:def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defPPr>
            </a:lstStyle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结合验证结果</a:t>
              </a:r>
            </a:p>
            <a:p xmlns:a="http://schemas.openxmlformats.org/drawingml/2006/main">
              <a:pPr algn="l">
                <a:def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defRPr>
              </a:pPr>
              <a:r>
                <a:rPr sz="1800" b="0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</a:rPr>
                <a:t>确认后续范围</a:t>
              </a:r>
            </a:p>
          </p:txBody>
        </p:sp>
      </p:grpSp>
      <p:grpSp>
        <p:nvGrpSpPr>
          <p:cNvPr id="37" name="C12-1"/>
          <p:cNvGrpSpPr/>
          <p:nvPr/>
        </p:nvGrpSpPr>
        <p:grpSpPr>
          <a:xfrm xmlns:a="http://schemas.openxmlformats.org/drawingml/2006/main">
            <a:off x="9048750" y="3343275"/>
            <a:ext cx="6419850" cy="4619625"/>
            <a:chOff x="9048750" y="3343275"/>
            <a:chExt cx="6419850" cy="4619625"/>
          </a:xfrm>
        </p:grpSpPr>
        <p:sp>
          <p:nvSpPr>
            <p:cNvPr id="31" name="C12-1--action-table-surface--31">
              <a:extLst xmlns:a="http://schemas.openxmlformats.org/drawingml/2006/main">
                <a:ext uri="{FF2B5EF4-FFF2-40B4-BE49-F238E27FC236}">
                  <a16:creationId xmlns:a16="http://schemas.microsoft.com/office/drawing/2014/main" id="{CD7771D9-701B-4C80-BAB5-71A2F7D4A294}"/>
                </a:ext>
              </a:extLst>
            </p:cNvPr>
            <p:cNvSpPr>
              <a:spLocks xmlns:a="http://schemas.openxmlformats.org/drawingml/2006/main"/>
            </p:cNvSpPr>
            <p:nvPr/>
          </p:nvSpPr>
          <p:spPr>
            <a:xfrm xmlns:a="http://schemas.openxmlformats.org/drawingml/2006/main">
              <a:off x="9048750" y="3343275"/>
              <a:ext cx="6419850" cy="4619625"/>
            </a:xfrm>
            <a:prstGeom xmlns:a="http://schemas.openxmlformats.org/drawingml/2006/main" prst="roundRect">
              <a:avLst>
                <a:gd name="adj" fmla="val 4948"/>
              </a:avLst>
            </a:prstGeom>
            <a:gradFill xmlns:a="http://schemas.openxmlformats.org/drawingml/2006/main">
              <a:gsLst>
                <a:gs pos="0">
                  <a:srgbClr val="FFFFFF">
                    <a:alpha val="90000"/>
                  </a:srgbClr>
                </a:gs>
                <a:gs pos="55000">
                  <a:srgbClr val="F6F3F0">
                    <a:alpha val="64000"/>
                  </a:srgbClr>
                </a:gs>
                <a:gs pos="100000">
                  <a:srgbClr val="FFF7ED">
                    <a:alpha val="48000"/>
                  </a:srgbClr>
                </a:gs>
              </a:gsLst>
              <a:lin ang="2700000"/>
            </a:gradFill>
            <a:ln xmlns:a="http://schemas.openxmlformats.org/drawingml/2006/main" w="9525">
              <a:solidFill>
                <a:srgbClr val="FFFFFF">
                  <a:alpha val="90000"/>
                </a:srgbClr>
              </a:solidFill>
              <a:prstDash val="solid"/>
            </a:ln>
          </p:spPr>
          <p:style>
            <a:lnRef xmlns:a="http://schemas.openxmlformats.org/drawingml/2006/main" idx="0"/>
            <a:fillRef xmlns:a="http://schemas.openxmlformats.org/drawingml/2006/main" idx="0"/>
            <a:effectRef xmlns:a="http://schemas.openxmlformats.org/drawingml/2006/main" idx="10"/>
            <a:fontRef xmlns:a="http://schemas.openxmlformats.org/drawingml/2006/main" idx="major"/>
          </p:style>
        </p:sp>
      </p:grpSp>
      <p:graphicFrame>
        <p:nvGraphicFrame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DE0817-7E11-4EA6-8ED2-1CC1C8BB39A3}"/>
              </a:ext>
            </a:extLst>
          </p:cNvPr>
          <p:cNvGraphicFramePr/>
          <p:nvPr/>
        </p:nvGraphicFramePr>
        <p:xfrm>
          <a:off xmlns:a="http://schemas.openxmlformats.org/drawingml/2006/main" x="9220200" y="3514725"/>
          <a:ext xmlns:a="http://schemas.openxmlformats.org/drawingml/2006/main" cx="6076950" cy="42767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33700"/>
                <a:gridCol w="1619250"/>
                <a:gridCol w="1524000"/>
              </a:tblGrid>
              <a:tr h="590550">
                <a:tc>
                  <a:txBody>
                    <a:bodyPr lIns="171450" tIns="152400" rIns="152400" bIns="133350"/>
                    <a:lstStyle/>
                    <a:p>
                      <a:r>
                        <a:rPr sz="1650" b="1">
                          <a:solidFill>
                            <a:srgbClr val="B92A1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行动事项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E5DDD6"/>
                      </a:solidFill>
                      <a:prstDash val="solid"/>
                    </a:lnL>
                    <a:lnR w="7620">
                      <a:solidFill>
                        <a:srgbClr val="E5DDD6"/>
                      </a:solidFill>
                      <a:prstDash val="solid"/>
                    </a:lnR>
                    <a:lnT w="7620">
                      <a:solidFill>
                        <a:srgbClr val="E5DDD6"/>
                      </a:solidFill>
                      <a:prstDash val="solid"/>
                    </a:lnT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6EC">
                        <a:alpha val="90000"/>
                      </a:srgbClr>
                    </a:solidFill>
                  </a:tcPr>
                </a:tc>
                <a:tc>
                  <a:txBody>
                    <a:bodyPr lIns="171450" tIns="152400" rIns="152400" bIns="133350"/>
                    <a:lstStyle/>
                    <a:p>
                      <a:r>
                        <a:rPr sz="1650" b="1">
                          <a:solidFill>
                            <a:srgbClr val="B92A1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责任角色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T w="7620">
                      <a:solidFill>
                        <a:srgbClr val="E5DDD6"/>
                      </a:solidFill>
                      <a:prstDash val="solid"/>
                    </a:lnT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6EC">
                        <a:alpha val="90000"/>
                      </a:srgbClr>
                    </a:solidFill>
                  </a:tcPr>
                </a:tc>
                <a:tc>
                  <a:txBody>
                    <a:bodyPr lIns="171450" tIns="152400" rIns="152400" bIns="133350"/>
                    <a:lstStyle/>
                    <a:p>
                      <a:r>
                        <a:rPr sz="1650" b="1">
                          <a:solidFill>
                            <a:srgbClr val="B92A1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计划节点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T w="7620">
                      <a:solidFill>
                        <a:srgbClr val="E5DDD6"/>
                      </a:solidFill>
                      <a:prstDash val="solid"/>
                    </a:lnT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6EC">
                        <a:alpha val="90000"/>
                      </a:srgbClr>
                    </a:solidFill>
                  </a:tcPr>
                </a:tc>
              </a:tr>
              <a:tr h="1228725">
                <a:tc>
                  <a:txBody>
                    <a:bodyPr lIns="171450" tIns="15240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复核问题清单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E5DDD6"/>
                      </a:solidFill>
                      <a:prstDash val="solid"/>
                    </a:lnL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71450" tIns="15240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交付负责人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71450" tIns="15240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第1周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  <a:tr h="1228725">
                <a:tc>
                  <a:txBody>
                    <a:bodyPr lIns="171450" tIns="15240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补充场景验证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E5DDD6"/>
                      </a:solidFill>
                      <a:prstDash val="solid"/>
                    </a:lnL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5F2F1">
                        <a:alpha val="35000"/>
                      </a:srgbClr>
                    </a:solidFill>
                  </a:tcPr>
                </a:tc>
                <a:tc>
                  <a:txBody>
                    <a:bodyPr lIns="171450" tIns="15240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业务代表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5F2F1">
                        <a:alpha val="35000"/>
                      </a:srgbClr>
                    </a:solidFill>
                  </a:tcPr>
                </a:tc>
                <a:tc>
                  <a:txBody>
                    <a:bodyPr lIns="171450" tIns="15240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第2周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5F2F1">
                        <a:alpha val="35000"/>
                      </a:srgbClr>
                    </a:solidFill>
                  </a:tcPr>
                </a:tc>
              </a:tr>
              <a:tr h="1228725">
                <a:tc>
                  <a:txBody>
                    <a:bodyPr lIns="171450" tIns="15240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确认后续范围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E5DDD6"/>
                      </a:solidFill>
                      <a:prstDash val="solid"/>
                    </a:lnL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71450" tIns="15240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评审小组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tc>
                  <a:txBody>
                    <a:bodyPr lIns="171450" tIns="152400" rIns="152400" bIns="133350"/>
                    <a:lstStyle/>
                    <a:p>
                      <a:r>
                        <a:rPr sz="1725" b="0">
                          <a:solidFill>
                            <a:srgbClr val="33333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第3周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E5DDD6"/>
                      </a:solidFill>
                      <a:prstDash val="solid"/>
                    </a:lnR>
                    <a:lnB w="7620">
                      <a:solidFill>
                        <a:srgbClr val="E5DDD6"/>
                      </a:solidFill>
                      <a:prstDash val="solid"/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3" name="chrome--footer-rule--32">
            <a:extLst xmlns:a="http://schemas.openxmlformats.org/drawingml/2006/main">
              <a:ext uri="{FF2B5EF4-FFF2-40B4-BE49-F238E27FC236}">
                <a16:creationId xmlns:a16="http://schemas.microsoft.com/office/drawing/2014/main" id="{A70FD78D-9C64-46F8-A24B-F334ACF3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7200" y="8267700"/>
            <a:ext cx="1501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DD6"/>
            </a:solidFill>
            <a:prstDash val="solid"/>
          </a:ln>
        </p:spPr>
      </p:sp>
      <p:sp>
        <p:nvSpPr>
          <p:cNvPr id="34" name="chrome--footer--33">
            <a:extLst xmlns:a="http://schemas.openxmlformats.org/drawingml/2006/main">
              <a:ext uri="{FF2B5EF4-FFF2-40B4-BE49-F238E27FC236}">
                <a16:creationId xmlns:a16="http://schemas.microsoft.com/office/drawing/2014/main" id="{FC3F5CAF-731B-4B5C-982E-0EDA31D9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439150"/>
            <a:ext cx="1485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615E"/>
                </a:solidFill>
                <a:latin typeface="Microsoft YaHei"/>
                <a:ea typeface="Microsoft YaHei"/>
                <a:cs typeface="Microsoft YaHei"/>
              </a:rPr>
              <a:t>计划示例。是否扩大范围取决于验证记录；角色与计划节点需按实际工作确认。</a:t>
            </a:r>
          </a:p>
        </p:txBody>
      </p:sp>
    </p:spTree>
    <p:extLst>
      <p:ext uri="{BB962C8B-B14F-4D97-AF65-F5344CB8AC3E}">
        <p14:creationId xmlns:p14="http://schemas.microsoft.com/office/powerpoint/2010/main" val="723612118"/>
      </p:ext>
    </p:extLst>
  </p:cSld>
</p:sld>
</file>

<file path=ppt/theme/theme1.xml><?xml version="1.0" encoding="utf-8"?>
<a:theme xmlns:a="http://schemas.openxmlformats.org/drawingml/2006/main" name="ChatGPT">
  <a:themeElements>
    <a:clrScheme name="Warm Glass">
      <a:dk1>
        <a:srgbClr val="101219"/>
      </a:dk1>
      <a:lt1>
        <a:srgbClr val="FFFFFF"/>
      </a:lt1>
      <a:dk2>
        <a:srgbClr val="333333"/>
      </a:dk2>
      <a:lt2>
        <a:srgbClr val="FFF6EC"/>
      </a:lt2>
      <a:accent1>
        <a:srgbClr val="FF3D12"/>
      </a:accent1>
      <a:accent2>
        <a:srgbClr val="B92A16"/>
      </a:accent2>
      <a:accent3>
        <a:srgbClr val="FF7800"/>
      </a:accent3>
      <a:accent4>
        <a:srgbClr val="F28662"/>
      </a:accent4>
      <a:accent5>
        <a:srgbClr val="F2CB85"/>
      </a:accent5>
      <a:accent6>
        <a:srgbClr val="66615E"/>
      </a:accent6>
      <a:hlink>
        <a:srgbClr val="B92A16"/>
      </a:hlink>
      <a:folHlink>
        <a:srgbClr val="66615E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Warm Glas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95250" dir="5400000">
              <a:srgbClr val="603F29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2026-10-16T11:13:32.5280000Z</dcterms:created>
  <dcterms:modified xsi:type="dcterms:W3CDTF">2026-10-16T11:13:32.5290000Z</dcterms:modified>
</coreProperties>
</file>