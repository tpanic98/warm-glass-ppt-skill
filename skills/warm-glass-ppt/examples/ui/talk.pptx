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4d07b7ae07461d" /><Relationship Type="http://schemas.openxmlformats.org/officeDocument/2006/relationships/extended-properties" Target="/docProps/app.xml" Id="R591e6c0084ca444e" /><Relationship Type="http://schemas.openxmlformats.org/officeDocument/2006/relationships/officeDocument" Target="/ppt/presentation.xml" Id="R33898675bbc844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0088b4137f4f53"/>
  </p:sldMasterIdLst>
  <p:notesMasterIdLst>
    <p:notesMasterId xmlns:r="http://schemas.openxmlformats.org/officeDocument/2006/relationships" r:id="Rcd41f502e52c46ff"/>
  </p:notesMasterIdLst>
  <p:sldIdLst>
    <p:sldId xmlns:r="http://schemas.openxmlformats.org/officeDocument/2006/relationships" id="256" r:id="R0de12ecfe5a243f5"/>
    <p:sldId xmlns:r="http://schemas.openxmlformats.org/officeDocument/2006/relationships" id="257" r:id="Rfda77fb4abcc4a41"/>
    <p:sldId xmlns:r="http://schemas.openxmlformats.org/officeDocument/2006/relationships" id="258" r:id="R4639e66db5634e75"/>
    <p:sldId xmlns:r="http://schemas.openxmlformats.org/officeDocument/2006/relationships" id="259" r:id="R728cc6feda7c41c4"/>
    <p:sldId xmlns:r="http://schemas.openxmlformats.org/officeDocument/2006/relationships" id="260" r:id="R6147c77a8f8e49b9"/>
    <p:sldId xmlns:r="http://schemas.openxmlformats.org/officeDocument/2006/relationships" id="261" r:id="R4c1c81ae189b4d7f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32a3f7842249f7" /><Relationship Type="http://schemas.openxmlformats.org/officeDocument/2006/relationships/slideMaster" Target="/ppt/slideMasters/slideMaster1.xml" Id="Rac0088b4137f4f53" /><Relationship Type="http://schemas.openxmlformats.org/officeDocument/2006/relationships/notesMaster" Target="/ppt/notesMasters/notesMaster1.xml" Id="Rcd41f502e52c46ff" /><Relationship Type="http://schemas.openxmlformats.org/officeDocument/2006/relationships/presProps" Target="/ppt/presProps.xml" Id="R005821e01c804500" /><Relationship Type="http://schemas.openxmlformats.org/officeDocument/2006/relationships/tableStyles" Target="/ppt/tableStyles.xml" Id="R91138131482745ae" /><Relationship Type="http://schemas.openxmlformats.org/officeDocument/2006/relationships/slide" Target="/ppt/slides/slide1.xml" Id="R0de12ecfe5a243f5" /><Relationship Type="http://schemas.openxmlformats.org/officeDocument/2006/relationships/slide" Target="/ppt/slides/slide2.xml" Id="Rfda77fb4abcc4a41" /><Relationship Type="http://schemas.openxmlformats.org/officeDocument/2006/relationships/slide" Target="/ppt/slides/slide3.xml" Id="R4639e66db5634e75" /><Relationship Type="http://schemas.openxmlformats.org/officeDocument/2006/relationships/slide" Target="/ppt/slides/slide4.xml" Id="R728cc6feda7c41c4" /><Relationship Type="http://schemas.openxmlformats.org/officeDocument/2006/relationships/slide" Target="/ppt/slides/slide5.xml" Id="R6147c77a8f8e49b9" /><Relationship Type="http://schemas.openxmlformats.org/officeDocument/2006/relationships/slide" Target="/ppt/slides/slide6.xml" Id="R4c1c81ae189b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ec7078f8b741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87fdc9d6d14721" /><Relationship Type="http://schemas.openxmlformats.org/officeDocument/2006/relationships/notesMaster" Target="/ppt/notesMasters/notesMaster1.xml" Id="R126e03b2c2ed46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1921ac8344fcd" /><Relationship Type="http://schemas.openxmlformats.org/officeDocument/2006/relationships/notesMaster" Target="/ppt/notesMasters/notesMaster1.xml" Id="R02d53521fa8d41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5809797e6d425e" /><Relationship Type="http://schemas.openxmlformats.org/officeDocument/2006/relationships/notesMaster" Target="/ppt/notesMasters/notesMaster1.xml" Id="Rbac21f73376545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655293ce39455c" /><Relationship Type="http://schemas.openxmlformats.org/officeDocument/2006/relationships/notesMaster" Target="/ppt/notesMasters/notesMaster1.xml" Id="R9c484c868a7348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36794865f14898" /><Relationship Type="http://schemas.openxmlformats.org/officeDocument/2006/relationships/notesMaster" Target="/ppt/notesMasters/notesMaster1.xml" Id="R975f6162b8034b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1af3a76a8d4d66" /><Relationship Type="http://schemas.openxmlformats.org/officeDocument/2006/relationships/notesMaster" Target="/ppt/notesMasters/notesMaster1.xml" Id="Rfca8929f0e94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方法讨论示例，不构成对特定模型能力或企业效果的承诺。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协作方法示意。具体流程需要结合任务风险、材料条件与人的审核责任。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情境示例，不代表对模型效果的量化实验结论。审核与判断仍由使用者负责。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工作机制示意。涉及事实与重要判断时，保留人的核对和批准责任。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情境示例。案例用来解释过程，不用虚构收益证明方法有效。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方法练习建议。任务内容、工具选择和检查强度应与实际风险相匹配。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d4d47030841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79841f6414c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6b2281248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ec026ff574c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93cfeaeb048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29d22ebdb4e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5278F9-80A5-4934-9181-AA4F47248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F1F0E5-573C-4A79-A702-611C4DF33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F13EF9-018B-414A-839F-D67CBE8E5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4669EE-BB63-4AAA-B765-89ED3A727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6C8855-033A-4E7A-91E8-7EB479F81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B84622-8219-4763-94C2-B09EECF3D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147FC2-5ECB-4FD2-85C4-808D8C1E8B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801432-0D1D-4520-A5D6-11CF6B856C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066E02-0EC8-4BF5-ACAF-BDD748902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401B4A-CD8B-4A5A-851F-C1CFBAA5C2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9443c019394e9a" /><Relationship Type="http://schemas.openxmlformats.org/officeDocument/2006/relationships/slideLayout" Target="/ppt/slideLayouts/slideLayout1.xml" Id="Rc445bcdcc9894201" /><Relationship Type="http://schemas.openxmlformats.org/officeDocument/2006/relationships/slideLayout" Target="/ppt/slideLayouts/slideLayout2.xml" Id="R8ef2b2cb730b4c7d" /><Relationship Type="http://schemas.openxmlformats.org/officeDocument/2006/relationships/slideLayout" Target="/ppt/slideLayouts/slideLayout3.xml" Id="Rcd6baabaaa6f4371" /><Relationship Type="http://schemas.openxmlformats.org/officeDocument/2006/relationships/slideLayout" Target="/ppt/slideLayouts/slideLayout4.xml" Id="Rade4bb7181d84ebf" /><Relationship Type="http://schemas.openxmlformats.org/officeDocument/2006/relationships/slideLayout" Target="/ppt/slideLayouts/slideLayout5.xml" Id="R4d0bd47df0614aea" /><Relationship Type="http://schemas.openxmlformats.org/officeDocument/2006/relationships/slideLayout" Target="/ppt/slideLayouts/slideLayout6.xml" Id="R740207cffe8143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5bcdcc9894201"/>
    <p:sldLayoutId xmlns:r="http://schemas.openxmlformats.org/officeDocument/2006/relationships" id="2147483650" r:id="R8ef2b2cb730b4c7d"/>
    <p:sldLayoutId xmlns:r="http://schemas.openxmlformats.org/officeDocument/2006/relationships" id="2147483651" r:id="Rcd6baabaaa6f4371"/>
    <p:sldLayoutId xmlns:r="http://schemas.openxmlformats.org/officeDocument/2006/relationships" id="2147483652" r:id="Rade4bb7181d84ebf"/>
    <p:sldLayoutId xmlns:r="http://schemas.openxmlformats.org/officeDocument/2006/relationships" id="2147483653" r:id="R4d0bd47df0614aea"/>
    <p:sldLayoutId xmlns:r="http://schemas.openxmlformats.org/officeDocument/2006/relationships" id="2147483654" r:id="R740207cffe8143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f44cfdad84864" /><Relationship Type="http://schemas.openxmlformats.org/officeDocument/2006/relationships/notesSlide" Target="/ppt/notesSlides/notesSlide1.xml" Id="R844c22ab2f7d46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a4527a6b34251" /><Relationship Type="http://schemas.openxmlformats.org/officeDocument/2006/relationships/notesSlide" Target="/ppt/notesSlides/notesSlide2.xml" Id="R4d7ef8f8c754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64238f16f4517" /><Relationship Type="http://schemas.openxmlformats.org/officeDocument/2006/relationships/notesSlide" Target="/ppt/notesSlides/notesSlide3.xml" Id="R617551e3de5740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ccaabdbd54385" /><Relationship Type="http://schemas.openxmlformats.org/officeDocument/2006/relationships/notesSlide" Target="/ppt/notesSlides/notesSlide4.xml" Id="Rafc6e68a527949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e213438494e99" /><Relationship Type="http://schemas.openxmlformats.org/officeDocument/2006/relationships/notesSlide" Target="/ppt/notesSlides/notesSlide5.xml" Id="R9e572b04e2c14d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d14f1a9d14a97" /><Relationship Type="http://schemas.openxmlformats.org/officeDocument/2006/relationships/notesSlide" Target="/ppt/notesSlides/notesSlide6.xml" Id="R71e962f5886e4d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A83F05B3-9C83-4BB8-965F-949C1511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2317A6D8-9A5D-4C4D-A200-7AFF4E05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C1262893-B0BD-4BD0-9924-F84E5FD2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C26612CD-B734-4509-AEF4-FBB7B15D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8EE7FAAC-EDF5-4754-848A-A8F7EC0A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演讲 / 主题引入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2BAEB329-7821-47FD-A66A-B433EF36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可检查的 AI 协作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844F5DE9-E7DC-48A2-AF64-575CD881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围绕任务表达、材料依据与人的检查责任展开。</a:t>
            </a:r>
          </a:p>
        </p:txBody>
      </p:sp>
      <p:grpSp>
        <p:nvGrpSpPr>
          <p:cNvPr id="17" name="C24-1"/>
          <p:cNvGrpSpPr/>
          <p:nvPr/>
        </p:nvGrpSpPr>
        <p:grpSpPr>
          <a:xfrm xmlns:a="http://schemas.openxmlformats.org/drawingml/2006/main">
            <a:off x="609600" y="3333750"/>
            <a:ext cx="14706600" cy="4572000"/>
            <a:chOff x="609600" y="3333750"/>
            <a:chExt cx="14706600" cy="4572000"/>
          </a:xfrm>
        </p:grpSpPr>
        <p:sp>
          <p:nvSpPr>
            <p:cNvPr id="8" name="C24-1--hero-title--8">
              <a:extLst xmlns:a="http://schemas.openxmlformats.org/drawingml/2006/main">
                <a:ext uri="{FF2B5EF4-FFF2-40B4-BE49-F238E27FC236}">
                  <a16:creationId xmlns:a16="http://schemas.microsoft.com/office/drawing/2014/main" id="{443C0998-ABA3-46F0-9552-0330F66E7C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3600450"/>
              <a:ext cx="5242114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让生成结果进入</a:t>
              </a:r>
            </a:p>
          </p:txBody>
        </p:sp>
        <p:sp>
          <p:nvSpPr>
            <p:cNvPr id="9" name="C24-1--hero-title--9">
              <a:extLst xmlns:a="http://schemas.openxmlformats.org/drawingml/2006/main">
                <a:ext uri="{FF2B5EF4-FFF2-40B4-BE49-F238E27FC236}">
                  <a16:creationId xmlns:a16="http://schemas.microsoft.com/office/drawing/2014/main" id="{52BC4A96-4386-4BFC-9AD3-7F1BB8B421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3614" y="3600450"/>
              <a:ext cx="2273835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rPr>
                <a:t>可检查</a:t>
              </a:r>
            </a:p>
          </p:txBody>
        </p:sp>
        <p:sp>
          <p:nvSpPr>
            <p:cNvPr id="10" name="C24-1--hero-title--10">
              <a:extLst xmlns:a="http://schemas.openxmlformats.org/drawingml/2006/main">
                <a:ext uri="{FF2B5EF4-FFF2-40B4-BE49-F238E27FC236}">
                  <a16:creationId xmlns:a16="http://schemas.microsoft.com/office/drawing/2014/main" id="{1BB586CE-D744-4ED4-B13B-C349489A57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49349" y="3600450"/>
              <a:ext cx="2273835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的流程</a:t>
              </a:r>
            </a:p>
          </p:txBody>
        </p:sp>
        <p:sp>
          <p:nvSpPr>
            <p:cNvPr id="11" name="C24-1--hero-subtitle--11">
              <a:extLst xmlns:a="http://schemas.openxmlformats.org/drawingml/2006/main">
                <a:ext uri="{FF2B5EF4-FFF2-40B4-BE49-F238E27FC236}">
                  <a16:creationId xmlns:a16="http://schemas.microsoft.com/office/drawing/2014/main" id="{B149D2E3-1504-42AE-9482-1AEECDF665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5772150"/>
              <a:ext cx="1466850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一次输出之后，如何判断结果可以继续使用？</a:t>
              </a:r>
            </a:p>
          </p:txBody>
        </p:sp>
        <p:sp>
          <p:nvSpPr>
            <p:cNvPr id="12" name="C24-1--hero-action--12">
              <a:extLst xmlns:a="http://schemas.openxmlformats.org/drawingml/2006/main">
                <a:ext uri="{FF2B5EF4-FFF2-40B4-BE49-F238E27FC236}">
                  <a16:creationId xmlns:a16="http://schemas.microsoft.com/office/drawing/2014/main" id="{6A2220BA-5DB7-475D-954D-71064EC6C2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7019925"/>
              <a:ext cx="14706600" cy="885825"/>
            </a:xfrm>
            <a:prstGeom xmlns:a="http://schemas.openxmlformats.org/drawingml/2006/main" prst="roundRect">
              <a:avLst>
                <a:gd name="adj" fmla="val 2580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24-1--hero-action-text--13">
              <a:extLst xmlns:a="http://schemas.openxmlformats.org/drawingml/2006/main">
                <a:ext uri="{FF2B5EF4-FFF2-40B4-BE49-F238E27FC236}">
                  <a16:creationId xmlns:a16="http://schemas.microsoft.com/office/drawing/2014/main" id="{7DD7BDA6-4B14-4715-9022-AC5A5C4879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" y="7267575"/>
              <a:ext cx="141732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今天讨论的范围：任务说明、结果核对和反馈修订。</a:t>
              </a:r>
            </a:p>
          </p:txBody>
        </p:sp>
      </p:grpSp>
      <p:sp>
        <p:nvSpPr>
          <p:cNvPr id="14" name="chrome--footer-rule--14">
            <a:extLst xmlns:a="http://schemas.openxmlformats.org/drawingml/2006/main">
              <a:ext uri="{FF2B5EF4-FFF2-40B4-BE49-F238E27FC236}">
                <a16:creationId xmlns:a16="http://schemas.microsoft.com/office/drawing/2014/main" id="{D6C8C51A-BBE3-4EB2-A472-15D5B31B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5" name="chrome--footer--15">
            <a:extLst xmlns:a="http://schemas.openxmlformats.org/drawingml/2006/main">
              <a:ext uri="{FF2B5EF4-FFF2-40B4-BE49-F238E27FC236}">
                <a16:creationId xmlns:a16="http://schemas.microsoft.com/office/drawing/2014/main" id="{1EFFB338-077B-4264-9E6C-2F613D1E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方法讨论示例，不构成对特定模型能力或企业效果的承诺。</a:t>
            </a:r>
          </a:p>
        </p:txBody>
      </p:sp>
    </p:spTree>
    <p:extLst>
      <p:ext uri="{BB962C8B-B14F-4D97-AF65-F5344CB8AC3E}">
        <p14:creationId xmlns:p14="http://schemas.microsoft.com/office/powerpoint/2010/main" val="1095473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1ABAC12D-7A6C-4BA4-9F73-5622E2C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A89DCA42-321D-491D-A5EE-63F07737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5D8547A8-37A2-4345-BDCB-CCED6746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F9208B87-F796-4128-9739-387A4EAE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2AAFE032-6574-491F-B82F-4A19FF7C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演讲 / 核心观点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85B8523F-8563-47C0-9786-70652509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22286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AI 协作需要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AD35CB5D-3C34-47AE-AED2-1DB0DA25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65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可检查</a:t>
            </a:r>
          </a:p>
        </p:txBody>
      </p:sp>
      <p:sp>
        <p:nvSpPr>
          <p:cNvPr id="8" name="chrome--page-title--8">
            <a:extLst xmlns:a="http://schemas.openxmlformats.org/drawingml/2006/main">
              <a:ext uri="{FF2B5EF4-FFF2-40B4-BE49-F238E27FC236}">
                <a16:creationId xmlns:a16="http://schemas.microsoft.com/office/drawing/2014/main" id="{C981BB5A-4B72-4748-BF17-B7C92B74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608" y="1676400"/>
            <a:ext cx="307448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的工作流程</a:t>
            </a:r>
          </a:p>
        </p:txBody>
      </p:sp>
      <p:sp>
        <p:nvSpPr>
          <p:cNvPr id="9" name="chrome--page-subtitle--9">
            <a:extLst xmlns:a="http://schemas.openxmlformats.org/drawingml/2006/main">
              <a:ext uri="{FF2B5EF4-FFF2-40B4-BE49-F238E27FC236}">
                <a16:creationId xmlns:a16="http://schemas.microsoft.com/office/drawing/2014/main" id="{FCC66E2B-20E4-4759-8243-A278C108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任务目标、参考材料与检查条件，共同影响结果能否投入使用。</a:t>
            </a:r>
          </a:p>
        </p:txBody>
      </p:sp>
      <p:grpSp>
        <p:nvGrpSpPr>
          <p:cNvPr id="48" name="C01-1"/>
          <p:cNvGrpSpPr/>
          <p:nvPr/>
        </p:nvGrpSpPr>
        <p:grpSpPr>
          <a:xfrm xmlns:a="http://schemas.openxmlformats.org/drawingml/2006/main">
            <a:off x="609600" y="3514725"/>
            <a:ext cx="6819900" cy="2714625"/>
            <a:chOff x="609600" y="3514725"/>
            <a:chExt cx="6819900" cy="2714625"/>
          </a:xfrm>
        </p:grpSpPr>
        <p:sp>
          <p:nvSpPr>
            <p:cNvPr id="10" name="C01-1--heading-part--10">
              <a:extLst xmlns:a="http://schemas.openxmlformats.org/drawingml/2006/main">
                <a:ext uri="{FF2B5EF4-FFF2-40B4-BE49-F238E27FC236}">
                  <a16:creationId xmlns:a16="http://schemas.microsoft.com/office/drawing/2014/main" id="{FA9AC80E-1D93-475A-8CF2-A30C86EC41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3514725"/>
              <a:ext cx="6819900" cy="1857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产出之后，</a:t>
              </a:r>
            </a:p>
            <a:p xmlns:a="http://schemas.openxmlformats.org/drawingml/2006/main">
              <a:pPr algn="l">
                <a:defRPr sz="5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还需要检查</a:t>
              </a:r>
            </a:p>
          </p:txBody>
        </p:sp>
        <p:sp>
          <p:nvSpPr>
            <p:cNvPr id="11" name="C01-1--heading-support--11">
              <a:extLst xmlns:a="http://schemas.openxmlformats.org/drawingml/2006/main">
                <a:ext uri="{FF2B5EF4-FFF2-40B4-BE49-F238E27FC236}">
                  <a16:creationId xmlns:a16="http://schemas.microsoft.com/office/drawing/2014/main" id="{83652153-B333-4A4C-9941-54B3DB9BB1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5524500"/>
              <a:ext cx="68199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先说明任务如何完成，再判断结果是否达到要求。</a:t>
              </a:r>
            </a:p>
          </p:txBody>
        </p:sp>
      </p:grpSp>
      <p:grpSp>
        <p:nvGrpSpPr>
          <p:cNvPr id="49" name="C04-1"/>
          <p:cNvGrpSpPr/>
          <p:nvPr/>
        </p:nvGrpSpPr>
        <p:grpSpPr>
          <a:xfrm xmlns:a="http://schemas.openxmlformats.org/drawingml/2006/main">
            <a:off x="8020050" y="3676650"/>
            <a:ext cx="7239000" cy="2667000"/>
            <a:chOff x="8020050" y="3676650"/>
            <a:chExt cx="7239000" cy="2667000"/>
          </a:xfrm>
        </p:grpSpPr>
        <p:sp>
          <p:nvSpPr>
            <p:cNvPr id="12" name="C04-1--node-halo--12">
              <a:extLst xmlns:a="http://schemas.openxmlformats.org/drawingml/2006/main">
                <a:ext uri="{FF2B5EF4-FFF2-40B4-BE49-F238E27FC236}">
                  <a16:creationId xmlns:a16="http://schemas.microsoft.com/office/drawing/2014/main" id="{3030F465-4AC5-4B19-A1A7-AB1A5FCDEF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40775" y="37433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13" name="C04-1--node-face--13">
              <a:extLst xmlns:a="http://schemas.openxmlformats.org/drawingml/2006/main">
                <a:ext uri="{FF2B5EF4-FFF2-40B4-BE49-F238E27FC236}">
                  <a16:creationId xmlns:a16="http://schemas.microsoft.com/office/drawing/2014/main" id="{AFA0BC0F-96C9-4BDB-B485-78F507DA8D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36025" y="38385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14" name="C04-1--target-outer--14">
              <a:extLst xmlns:a="http://schemas.openxmlformats.org/drawingml/2006/main">
                <a:ext uri="{FF2B5EF4-FFF2-40B4-BE49-F238E27FC236}">
                  <a16:creationId xmlns:a16="http://schemas.microsoft.com/office/drawing/2014/main" id="{7802ED38-76C4-4582-A7D2-D6199BF0B1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38034" y="4040584"/>
              <a:ext cx="377031" cy="377031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5" name="C04-1--target-inner--15">
              <a:extLst xmlns:a="http://schemas.openxmlformats.org/drawingml/2006/main">
                <a:ext uri="{FF2B5EF4-FFF2-40B4-BE49-F238E27FC236}">
                  <a16:creationId xmlns:a16="http://schemas.microsoft.com/office/drawing/2014/main" id="{12EBDCA4-B9E0-489C-81F9-C253517F89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27331" y="4129881"/>
              <a:ext cx="198438" cy="198438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6" name="C04-1--icon-line--16">
              <a:extLst xmlns:a="http://schemas.openxmlformats.org/drawingml/2006/main">
                <a:ext uri="{FF2B5EF4-FFF2-40B4-BE49-F238E27FC236}">
                  <a16:creationId xmlns:a16="http://schemas.microsoft.com/office/drawing/2014/main" id="{2BF94A43-9FAA-483A-B6E7-5062BBCE98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1">
              <a:off x="9226550" y="4040584"/>
              <a:ext cx="188516" cy="18851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7" name="C04-1--icon-line--17">
              <a:extLst xmlns:a="http://schemas.openxmlformats.org/drawingml/2006/main">
                <a:ext uri="{FF2B5EF4-FFF2-40B4-BE49-F238E27FC236}">
                  <a16:creationId xmlns:a16="http://schemas.microsoft.com/office/drawing/2014/main" id="{FFDED75F-4FFF-4975-804B-51A212129E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9325769" y="4040584"/>
              <a:ext cx="89297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8" name="C04-1--icon-line--18">
              <a:extLst xmlns:a="http://schemas.openxmlformats.org/drawingml/2006/main">
                <a:ext uri="{FF2B5EF4-FFF2-40B4-BE49-F238E27FC236}">
                  <a16:creationId xmlns:a16="http://schemas.microsoft.com/office/drawing/2014/main" id="{8663D1BC-2B18-425F-BB0D-A754E30DF8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9415066" y="4040584"/>
              <a:ext cx="0" cy="892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9" name="C04-1--pin-stem--19">
              <a:extLst xmlns:a="http://schemas.openxmlformats.org/drawingml/2006/main">
                <a:ext uri="{FF2B5EF4-FFF2-40B4-BE49-F238E27FC236}">
                  <a16:creationId xmlns:a16="http://schemas.microsoft.com/office/drawing/2014/main" id="{5067800D-476C-449C-9A7E-0CA9A5E507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9226550" y="46482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20" name="C04-1--pin-base--20">
              <a:extLst xmlns:a="http://schemas.openxmlformats.org/drawingml/2006/main">
                <a:ext uri="{FF2B5EF4-FFF2-40B4-BE49-F238E27FC236}">
                  <a16:creationId xmlns:a16="http://schemas.microsoft.com/office/drawing/2014/main" id="{75AC67A4-BBCB-4B20-8243-7D69DF1DAB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07475" y="49244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21" name="C04-1--pin-center--21">
              <a:extLst xmlns:a="http://schemas.openxmlformats.org/drawingml/2006/main">
                <a:ext uri="{FF2B5EF4-FFF2-40B4-BE49-F238E27FC236}">
                  <a16:creationId xmlns:a16="http://schemas.microsoft.com/office/drawing/2014/main" id="{BADCB4BD-3506-4896-AD47-3A9D6DE203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59875" y="49530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2" name="C04-1--node-label--22">
              <a:extLst xmlns:a="http://schemas.openxmlformats.org/drawingml/2006/main">
                <a:ext uri="{FF2B5EF4-FFF2-40B4-BE49-F238E27FC236}">
                  <a16:creationId xmlns:a16="http://schemas.microsoft.com/office/drawing/2014/main" id="{FA72BF0E-93CA-4AD3-919D-03806F72E8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67675" y="5238750"/>
              <a:ext cx="23177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任务目标</a:t>
              </a:r>
            </a:p>
          </p:txBody>
        </p:sp>
        <p:sp>
          <p:nvSpPr>
            <p:cNvPr id="23" name="C04-1--node-halo--23">
              <a:extLst xmlns:a="http://schemas.openxmlformats.org/drawingml/2006/main">
                <a:ext uri="{FF2B5EF4-FFF2-40B4-BE49-F238E27FC236}">
                  <a16:creationId xmlns:a16="http://schemas.microsoft.com/office/drawing/2014/main" id="{4DAD1242-37C0-4208-975E-103F4AD582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53775" y="37433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24" name="C04-1--node-face--24">
              <a:extLst xmlns:a="http://schemas.openxmlformats.org/drawingml/2006/main">
                <a:ext uri="{FF2B5EF4-FFF2-40B4-BE49-F238E27FC236}">
                  <a16:creationId xmlns:a16="http://schemas.microsoft.com/office/drawing/2014/main" id="{05DBFDBC-DDA0-4103-8977-DB6E58D377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49025" y="38385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25" name="C04-1--document--25">
              <a:extLst xmlns:a="http://schemas.openxmlformats.org/drawingml/2006/main">
                <a:ext uri="{FF2B5EF4-FFF2-40B4-BE49-F238E27FC236}">
                  <a16:creationId xmlns:a16="http://schemas.microsoft.com/office/drawing/2014/main" id="{1128A4B0-E1A3-40C2-B859-29A7CCA8CD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00644" y="4030663"/>
              <a:ext cx="287734" cy="396875"/>
            </a:xfrm>
            <a:prstGeom xmlns:a="http://schemas.openxmlformats.org/drawingml/2006/main" prst="roundRect">
              <a:avLst>
                <a:gd name="adj" fmla="val 13793"/>
              </a:avLst>
            </a:prstGeom>
            <a:noFill xmlns:a="http://schemas.openxmlformats.org/drawingml/2006/main"/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26" name="C04-1--icon-line--26">
              <a:extLst xmlns:a="http://schemas.openxmlformats.org/drawingml/2006/main">
                <a:ext uri="{FF2B5EF4-FFF2-40B4-BE49-F238E27FC236}">
                  <a16:creationId xmlns:a16="http://schemas.microsoft.com/office/drawing/2014/main" id="{EDFCBF7B-6399-43A4-8F86-D930B4BED5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1570097" y="4149725"/>
              <a:ext cx="13890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27" name="C04-1--icon-line--27">
              <a:extLst xmlns:a="http://schemas.openxmlformats.org/drawingml/2006/main">
                <a:ext uri="{FF2B5EF4-FFF2-40B4-BE49-F238E27FC236}">
                  <a16:creationId xmlns:a16="http://schemas.microsoft.com/office/drawing/2014/main" id="{1DCF5D81-71DC-4819-A5ED-8175CB840B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1570097" y="4229100"/>
              <a:ext cx="13890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28" name="C04-1--icon-line--28">
              <a:extLst xmlns:a="http://schemas.openxmlformats.org/drawingml/2006/main">
                <a:ext uri="{FF2B5EF4-FFF2-40B4-BE49-F238E27FC236}">
                  <a16:creationId xmlns:a16="http://schemas.microsoft.com/office/drawing/2014/main" id="{8D3F2437-6A64-4FE6-9916-6E86F0C582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1570097" y="4308475"/>
              <a:ext cx="99219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29" name="C04-1--pin-stem--29">
              <a:extLst xmlns:a="http://schemas.openxmlformats.org/drawingml/2006/main">
                <a:ext uri="{FF2B5EF4-FFF2-40B4-BE49-F238E27FC236}">
                  <a16:creationId xmlns:a16="http://schemas.microsoft.com/office/drawing/2014/main" id="{E080866D-09C4-413F-9AF7-00F06EADA8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1639550" y="46482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30" name="C04-1--pin-base--30">
              <a:extLst xmlns:a="http://schemas.openxmlformats.org/drawingml/2006/main">
                <a:ext uri="{FF2B5EF4-FFF2-40B4-BE49-F238E27FC236}">
                  <a16:creationId xmlns:a16="http://schemas.microsoft.com/office/drawing/2014/main" id="{9BF4C2CD-5CFC-4F98-9332-7BB9633A69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20475" y="49244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31" name="C04-1--pin-center--31">
              <a:extLst xmlns:a="http://schemas.openxmlformats.org/drawingml/2006/main">
                <a:ext uri="{FF2B5EF4-FFF2-40B4-BE49-F238E27FC236}">
                  <a16:creationId xmlns:a16="http://schemas.microsoft.com/office/drawing/2014/main" id="{B9D1ACB4-C6B6-4743-9862-8F6606C419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72875" y="49530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2" name="C04-1--node-label--32">
              <a:extLst xmlns:a="http://schemas.openxmlformats.org/drawingml/2006/main">
                <a:ext uri="{FF2B5EF4-FFF2-40B4-BE49-F238E27FC236}">
                  <a16:creationId xmlns:a16="http://schemas.microsoft.com/office/drawing/2014/main" id="{BC81BD8A-149B-473E-876E-7D3BB9D361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80675" y="5238750"/>
              <a:ext cx="23177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参考材料</a:t>
              </a:r>
            </a:p>
          </p:txBody>
        </p:sp>
        <p:sp>
          <p:nvSpPr>
            <p:cNvPr id="33" name="C04-1--node-halo--33">
              <a:extLst xmlns:a="http://schemas.openxmlformats.org/drawingml/2006/main">
                <a:ext uri="{FF2B5EF4-FFF2-40B4-BE49-F238E27FC236}">
                  <a16:creationId xmlns:a16="http://schemas.microsoft.com/office/drawing/2014/main" id="{B917E218-959D-4D1F-AB81-2E05EF240D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66775" y="37433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34" name="C04-1--node-face--34">
              <a:extLst xmlns:a="http://schemas.openxmlformats.org/drawingml/2006/main">
                <a:ext uri="{FF2B5EF4-FFF2-40B4-BE49-F238E27FC236}">
                  <a16:creationId xmlns:a16="http://schemas.microsoft.com/office/drawing/2014/main" id="{265D903A-8E0B-4D3A-9C3D-7F50A5FD2E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62025" y="38385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35" name="C04-1--check-ring--35">
              <a:extLst xmlns:a="http://schemas.openxmlformats.org/drawingml/2006/main">
                <a:ext uri="{FF2B5EF4-FFF2-40B4-BE49-F238E27FC236}">
                  <a16:creationId xmlns:a16="http://schemas.microsoft.com/office/drawing/2014/main" id="{4ABA5FE1-AC9C-40C1-B337-C91CECBF1D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54113" y="4030663"/>
              <a:ext cx="396875" cy="396875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36" name="C04-1--icon-line--36">
              <a:extLst xmlns:a="http://schemas.openxmlformats.org/drawingml/2006/main">
                <a:ext uri="{FF2B5EF4-FFF2-40B4-BE49-F238E27FC236}">
                  <a16:creationId xmlns:a16="http://schemas.microsoft.com/office/drawing/2014/main" id="{D5193B2A-C38E-42F7-962B-6C0512B00A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3943409" y="4229100"/>
              <a:ext cx="79375" cy="79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37" name="C04-1--icon-line--37">
              <a:extLst xmlns:a="http://schemas.openxmlformats.org/drawingml/2006/main">
                <a:ext uri="{FF2B5EF4-FFF2-40B4-BE49-F238E27FC236}">
                  <a16:creationId xmlns:a16="http://schemas.microsoft.com/office/drawing/2014/main" id="{E78C6092-B03C-4480-9532-2567B0F574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1">
              <a:off x="14022784" y="4149725"/>
              <a:ext cx="148828" cy="1587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38" name="C04-1--pin-stem--38">
              <a:extLst xmlns:a="http://schemas.openxmlformats.org/drawingml/2006/main">
                <a:ext uri="{FF2B5EF4-FFF2-40B4-BE49-F238E27FC236}">
                  <a16:creationId xmlns:a16="http://schemas.microsoft.com/office/drawing/2014/main" id="{10A20A27-DBB2-4FFC-B710-99184B3CE8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4052550" y="46482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39" name="C04-1--pin-base--39">
              <a:extLst xmlns:a="http://schemas.openxmlformats.org/drawingml/2006/main">
                <a:ext uri="{FF2B5EF4-FFF2-40B4-BE49-F238E27FC236}">
                  <a16:creationId xmlns:a16="http://schemas.microsoft.com/office/drawing/2014/main" id="{F98A301F-6D0A-4BD2-B11E-6BB3DC5CC0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33475" y="49244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40" name="C04-1--pin-center--40">
              <a:extLst xmlns:a="http://schemas.openxmlformats.org/drawingml/2006/main">
                <a:ext uri="{FF2B5EF4-FFF2-40B4-BE49-F238E27FC236}">
                  <a16:creationId xmlns:a16="http://schemas.microsoft.com/office/drawing/2014/main" id="{A6AD9D27-7C42-45E2-B190-AA5F514353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85875" y="49530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41" name="C04-1--node-label--41">
              <a:extLst xmlns:a="http://schemas.openxmlformats.org/drawingml/2006/main">
                <a:ext uri="{FF2B5EF4-FFF2-40B4-BE49-F238E27FC236}">
                  <a16:creationId xmlns:a16="http://schemas.microsoft.com/office/drawing/2014/main" id="{8A288476-DBCB-4AB4-B6B0-5486343908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3675" y="5238750"/>
              <a:ext cx="23177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检查条件</a:t>
              </a:r>
            </a:p>
          </p:txBody>
        </p:sp>
      </p:grpSp>
      <p:grpSp>
        <p:nvGrpSpPr>
          <p:cNvPr id="50" name="C02-1"/>
          <p:cNvGrpSpPr/>
          <p:nvPr/>
        </p:nvGrpSpPr>
        <p:grpSpPr>
          <a:xfrm xmlns:a="http://schemas.openxmlformats.org/drawingml/2006/main">
            <a:off x="457200" y="7219950"/>
            <a:ext cx="15011400" cy="819150"/>
            <a:chOff x="457200" y="7219950"/>
            <a:chExt cx="15011400" cy="819150"/>
          </a:xfrm>
        </p:grpSpPr>
        <p:sp>
          <p:nvSpPr>
            <p:cNvPr id="42" name="C02-1--conclusion--42">
              <a:extLst xmlns:a="http://schemas.openxmlformats.org/drawingml/2006/main">
                <a:ext uri="{FF2B5EF4-FFF2-40B4-BE49-F238E27FC236}">
                  <a16:creationId xmlns:a16="http://schemas.microsoft.com/office/drawing/2014/main" id="{D5CFA636-1D13-4162-875D-647DF9D4FA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7219950"/>
              <a:ext cx="15011400" cy="819150"/>
            </a:xfrm>
            <a:prstGeom xmlns:a="http://schemas.openxmlformats.org/drawingml/2006/main" prst="roundRect">
              <a:avLst>
                <a:gd name="adj" fmla="val 2500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43" name="C02-1--accent-edge--43">
              <a:extLst xmlns:a="http://schemas.openxmlformats.org/drawingml/2006/main">
                <a:ext uri="{FF2B5EF4-FFF2-40B4-BE49-F238E27FC236}">
                  <a16:creationId xmlns:a16="http://schemas.microsoft.com/office/drawing/2014/main" id="{4AEAC9C4-50FB-4C8A-B3AA-D083BD1A94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7219950"/>
              <a:ext cx="57150" cy="8191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44" name="C02-1--conclusion-text--44">
              <a:extLst xmlns:a="http://schemas.openxmlformats.org/drawingml/2006/main">
                <a:ext uri="{FF2B5EF4-FFF2-40B4-BE49-F238E27FC236}">
                  <a16:creationId xmlns:a16="http://schemas.microsoft.com/office/drawing/2014/main" id="{AEC753DD-9469-45EA-8233-A556499A6B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2950" y="7429500"/>
              <a:ext cx="144399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先定义完成标准，再判断生成结果是否可用。</a:t>
              </a:r>
            </a:p>
          </p:txBody>
        </p:sp>
      </p:grpSp>
      <p:sp>
        <p:nvSpPr>
          <p:cNvPr id="45" name="chrome--footer-rule--45">
            <a:extLst xmlns:a="http://schemas.openxmlformats.org/drawingml/2006/main">
              <a:ext uri="{FF2B5EF4-FFF2-40B4-BE49-F238E27FC236}">
                <a16:creationId xmlns:a16="http://schemas.microsoft.com/office/drawing/2014/main" id="{7A09F7F9-3C7D-40D1-BC75-CDD044C0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46" name="chrome--footer--46">
            <a:extLst xmlns:a="http://schemas.openxmlformats.org/drawingml/2006/main">
              <a:ext uri="{FF2B5EF4-FFF2-40B4-BE49-F238E27FC236}">
                <a16:creationId xmlns:a16="http://schemas.microsoft.com/office/drawing/2014/main" id="{7D284FE4-7189-4655-9C97-ECA8D476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协作方法示意。具体流程需要结合任务风险、材料条件与人的审核责任。</a:t>
            </a:r>
          </a:p>
        </p:txBody>
      </p:sp>
    </p:spTree>
    <p:extLst>
      <p:ext uri="{BB962C8B-B14F-4D97-AF65-F5344CB8AC3E}">
        <p14:creationId xmlns:p14="http://schemas.microsoft.com/office/powerpoint/2010/main" val="659295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6ACD6D7F-5293-42E8-BD65-E3706202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8449AEF8-2AF4-4DD3-8ECA-106A58F4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0BED639E-952F-4347-91D5-8DC2FDEE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BF2E4BFE-2DF9-4778-981B-CE5599AE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3413AB24-EED4-45E1-90B1-FE6CE9BB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演讲 / 情境展开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6B917C16-35E6-4643-A355-FD61E4BD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07448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相同任务，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325F8285-9EC0-4F2F-BA67-F3A1A70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589" y="1676400"/>
            <a:ext cx="2469116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不同输入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30FD944A-34B5-48DE-A82B-B76E6FD4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用一个具体情境说明：补充背景与标准，会怎样改变后续协作。</a:t>
            </a:r>
          </a:p>
        </p:txBody>
      </p:sp>
      <p:grpSp>
        <p:nvGrpSpPr>
          <p:cNvPr id="32" name="C06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06-1--compare-surface--9">
              <a:extLst xmlns:a="http://schemas.openxmlformats.org/drawingml/2006/main">
                <a:ext uri="{FF2B5EF4-FFF2-40B4-BE49-F238E27FC236}">
                  <a16:creationId xmlns:a16="http://schemas.microsoft.com/office/drawing/2014/main" id="{3338A171-B5A8-4C4C-9C45-3E49FA1A86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7277100" cy="4667250"/>
            </a:xfrm>
            <a:prstGeom xmlns:a="http://schemas.openxmlformats.org/drawingml/2006/main" prst="roundRect">
              <a:avLst>
                <a:gd name="adj" fmla="val 489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06-1--compare-top--10">
              <a:extLst xmlns:a="http://schemas.openxmlformats.org/drawingml/2006/main">
                <a:ext uri="{FF2B5EF4-FFF2-40B4-BE49-F238E27FC236}">
                  <a16:creationId xmlns:a16="http://schemas.microsoft.com/office/drawing/2014/main" id="{BA985709-D1BB-4C61-AC5A-520891A57A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533775"/>
              <a:ext cx="41910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E5DDD6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1" name="C06-1--compare-heading--11">
              <a:extLst xmlns:a="http://schemas.openxmlformats.org/drawingml/2006/main">
                <a:ext uri="{FF2B5EF4-FFF2-40B4-BE49-F238E27FC236}">
                  <a16:creationId xmlns:a16="http://schemas.microsoft.com/office/drawing/2014/main" id="{E982D937-60B2-4304-A41E-3AC2A5412A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771900"/>
              <a:ext cx="674370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一个模糊要求</a:t>
              </a:r>
            </a:p>
          </p:txBody>
        </p:sp>
        <p:sp>
          <p:nvSpPr>
            <p:cNvPr id="12" name="C06-1--compare-divider--12">
              <a:extLst xmlns:a="http://schemas.openxmlformats.org/drawingml/2006/main">
                <a:ext uri="{FF2B5EF4-FFF2-40B4-BE49-F238E27FC236}">
                  <a16:creationId xmlns:a16="http://schemas.microsoft.com/office/drawing/2014/main" id="{95D1394A-1B06-4C80-8D2C-E86747CC67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723900" y="4486275"/>
              <a:ext cx="67437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3" name="C06-1--compare-index--13">
              <a:extLst xmlns:a="http://schemas.openxmlformats.org/drawingml/2006/main">
                <a:ext uri="{FF2B5EF4-FFF2-40B4-BE49-F238E27FC236}">
                  <a16:creationId xmlns:a16="http://schemas.microsoft.com/office/drawing/2014/main" id="{2B39B014-BD43-41FF-9EF7-F3C60E13D4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4752975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4" name="C06-1--compare-item--14">
              <a:extLst xmlns:a="http://schemas.openxmlformats.org/drawingml/2006/main">
                <a:ext uri="{FF2B5EF4-FFF2-40B4-BE49-F238E27FC236}">
                  <a16:creationId xmlns:a16="http://schemas.microsoft.com/office/drawing/2014/main" id="{EFEC8188-A668-42EC-A200-1205A1ED7A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5076825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“帮我写一份汇报。”</a:t>
              </a:r>
            </a:p>
          </p:txBody>
        </p:sp>
        <p:sp>
          <p:nvSpPr>
            <p:cNvPr id="15" name="C06-1--compare-index--15">
              <a:extLst xmlns:a="http://schemas.openxmlformats.org/drawingml/2006/main">
                <a:ext uri="{FF2B5EF4-FFF2-40B4-BE49-F238E27FC236}">
                  <a16:creationId xmlns:a16="http://schemas.microsoft.com/office/drawing/2014/main" id="{65AA0E8F-EC8C-46AB-BC49-A170916F4D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5695950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6" name="C06-1--compare-item--16">
              <a:extLst xmlns:a="http://schemas.openxmlformats.org/drawingml/2006/main">
                <a:ext uri="{FF2B5EF4-FFF2-40B4-BE49-F238E27FC236}">
                  <a16:creationId xmlns:a16="http://schemas.microsoft.com/office/drawing/2014/main" id="{1FAD3E34-4503-435F-B45E-A7694EC2FF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6019800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缺少受众、参考材料和完成条件</a:t>
              </a:r>
            </a:p>
          </p:txBody>
        </p:sp>
        <p:sp>
          <p:nvSpPr>
            <p:cNvPr id="17" name="C06-1--compare-index--17">
              <a:extLst xmlns:a="http://schemas.openxmlformats.org/drawingml/2006/main">
                <a:ext uri="{FF2B5EF4-FFF2-40B4-BE49-F238E27FC236}">
                  <a16:creationId xmlns:a16="http://schemas.microsoft.com/office/drawing/2014/main" id="{7C4584E5-E9EB-4A96-ADA2-94D326EBE4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6638925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8" name="C06-1--compare-item--18">
              <a:extLst xmlns:a="http://schemas.openxmlformats.org/drawingml/2006/main">
                <a:ext uri="{FF2B5EF4-FFF2-40B4-BE49-F238E27FC236}">
                  <a16:creationId xmlns:a16="http://schemas.microsoft.com/office/drawing/2014/main" id="{4C2163DF-21E7-474D-8FA1-022DCECE28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6962775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结果是否可用，仍需反复澄清</a:t>
              </a:r>
            </a:p>
          </p:txBody>
        </p:sp>
        <p:sp>
          <p:nvSpPr>
            <p:cNvPr id="19" name="C06-1--compare-surface--19">
              <a:extLst xmlns:a="http://schemas.openxmlformats.org/drawingml/2006/main">
                <a:ext uri="{FF2B5EF4-FFF2-40B4-BE49-F238E27FC236}">
                  <a16:creationId xmlns:a16="http://schemas.microsoft.com/office/drawing/2014/main" id="{2B814087-D427-4F36-99E4-69794A2391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0" y="3276600"/>
              <a:ext cx="7277100" cy="4667250"/>
            </a:xfrm>
            <a:prstGeom xmlns:a="http://schemas.openxmlformats.org/drawingml/2006/main" prst="roundRect">
              <a:avLst>
                <a:gd name="adj" fmla="val 489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0" name="C06-1--compare-top--20">
              <a:extLst xmlns:a="http://schemas.openxmlformats.org/drawingml/2006/main">
                <a:ext uri="{FF2B5EF4-FFF2-40B4-BE49-F238E27FC236}">
                  <a16:creationId xmlns:a16="http://schemas.microsoft.com/office/drawing/2014/main" id="{9F01A658-EB82-4BE2-9AE3-3D3D02F691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3533775"/>
              <a:ext cx="41910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1" name="C06-1--compare-heading--21">
              <a:extLst xmlns:a="http://schemas.openxmlformats.org/drawingml/2006/main">
                <a:ext uri="{FF2B5EF4-FFF2-40B4-BE49-F238E27FC236}">
                  <a16:creationId xmlns:a16="http://schemas.microsoft.com/office/drawing/2014/main" id="{50FEACE0-5BFC-4856-817F-D8AF31EABA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3771900"/>
              <a:ext cx="674370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一份明确任务</a:t>
              </a:r>
            </a:p>
          </p:txBody>
        </p:sp>
        <p:sp>
          <p:nvSpPr>
            <p:cNvPr id="22" name="C06-1--compare-divider--22">
              <a:extLst xmlns:a="http://schemas.openxmlformats.org/drawingml/2006/main">
                <a:ext uri="{FF2B5EF4-FFF2-40B4-BE49-F238E27FC236}">
                  <a16:creationId xmlns:a16="http://schemas.microsoft.com/office/drawing/2014/main" id="{AF5F4E76-985C-4D35-B612-A335438419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8458200" y="4486275"/>
              <a:ext cx="67437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3" name="C06-1--compare-index--23">
              <a:extLst xmlns:a="http://schemas.openxmlformats.org/drawingml/2006/main">
                <a:ext uri="{FF2B5EF4-FFF2-40B4-BE49-F238E27FC236}">
                  <a16:creationId xmlns:a16="http://schemas.microsoft.com/office/drawing/2014/main" id="{5D78D545-AE2E-4624-A570-10CBF50E18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25" y="4752975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24" name="C06-1--compare-item--24">
              <a:extLst xmlns:a="http://schemas.openxmlformats.org/drawingml/2006/main">
                <a:ext uri="{FF2B5EF4-FFF2-40B4-BE49-F238E27FC236}">
                  <a16:creationId xmlns:a16="http://schemas.microsoft.com/office/drawing/2014/main" id="{857DD25C-5752-42C0-89EF-702BAAE8D3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5076825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根据项目记录，向评审组说明进展、风险和下一阶段计划。</a:t>
              </a:r>
            </a:p>
          </p:txBody>
        </p:sp>
        <p:sp>
          <p:nvSpPr>
            <p:cNvPr id="25" name="C06-1--compare-index--25">
              <a:extLst xmlns:a="http://schemas.openxmlformats.org/drawingml/2006/main">
                <a:ext uri="{FF2B5EF4-FFF2-40B4-BE49-F238E27FC236}">
                  <a16:creationId xmlns:a16="http://schemas.microsoft.com/office/drawing/2014/main" id="{F05EC38F-2E46-497C-8CC2-05A6997DF6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25" y="5695950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6" name="C06-1--compare-item--26">
              <a:extLst xmlns:a="http://schemas.openxmlformats.org/drawingml/2006/main">
                <a:ext uri="{FF2B5EF4-FFF2-40B4-BE49-F238E27FC236}">
                  <a16:creationId xmlns:a16="http://schemas.microsoft.com/office/drawing/2014/main" id="{4279D9C5-E46F-47C6-BD3B-A05CB20505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6019800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附上验收记录，标明待确认事项。</a:t>
              </a:r>
            </a:p>
          </p:txBody>
        </p:sp>
        <p:sp>
          <p:nvSpPr>
            <p:cNvPr id="27" name="C06-1--compare-index--27">
              <a:extLst xmlns:a="http://schemas.openxmlformats.org/drawingml/2006/main">
                <a:ext uri="{FF2B5EF4-FFF2-40B4-BE49-F238E27FC236}">
                  <a16:creationId xmlns:a16="http://schemas.microsoft.com/office/drawing/2014/main" id="{45FDE25A-DDF5-4595-A55E-BF38346946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25" y="6638925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8" name="C06-1--compare-item--28">
              <a:extLst xmlns:a="http://schemas.openxmlformats.org/drawingml/2006/main">
                <a:ext uri="{FF2B5EF4-FFF2-40B4-BE49-F238E27FC236}">
                  <a16:creationId xmlns:a16="http://schemas.microsoft.com/office/drawing/2014/main" id="{04308591-3E1A-4B4E-B8F2-F6865D9ABC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6962775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按约定结构交付，再逐项复核。</a:t>
              </a:r>
            </a:p>
          </p:txBody>
        </p:sp>
      </p:grpSp>
      <p:sp>
        <p:nvSpPr>
          <p:cNvPr id="29" name="chrome--footer-rule--29">
            <a:extLst xmlns:a="http://schemas.openxmlformats.org/drawingml/2006/main">
              <a:ext uri="{FF2B5EF4-FFF2-40B4-BE49-F238E27FC236}">
                <a16:creationId xmlns:a16="http://schemas.microsoft.com/office/drawing/2014/main" id="{0B79CFB1-650D-42BD-ABA4-325A5F26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0" name="chrome--footer--30">
            <a:extLst xmlns:a="http://schemas.openxmlformats.org/drawingml/2006/main">
              <a:ext uri="{FF2B5EF4-FFF2-40B4-BE49-F238E27FC236}">
                <a16:creationId xmlns:a16="http://schemas.microsoft.com/office/drawing/2014/main" id="{681CDAD8-DD22-472C-AAEB-2D11667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情境示例，不代表对模型效果的量化实验结论。审核与判断仍由使用者负责。</a:t>
            </a:r>
          </a:p>
        </p:txBody>
      </p:sp>
    </p:spTree>
    <p:extLst>
      <p:ext uri="{BB962C8B-B14F-4D97-AF65-F5344CB8AC3E}">
        <p14:creationId xmlns:p14="http://schemas.microsoft.com/office/powerpoint/2010/main" val="683012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67B5F-0BA0-472B-A909-2623D1D5755E}"/>
              </a:ext>
            </a:extLst>
          </p:cNvPr>
          <p:cNvCxnSpPr>
            <a:stCxn xmlns:a="http://schemas.openxmlformats.org/drawingml/2006/main" id="17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3095625" y="4724400"/>
            <a:ext cx="0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93227-FC5D-4262-A950-B198D33661BA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143500" y="7077075"/>
            <a:ext cx="5638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18D286-71A3-4B44-800A-39FFE933CAF8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2830175" y="4724400"/>
            <a:ext cx="0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D8D13-236D-43BE-B3FA-0B49339E5A7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43500" y="4048125"/>
            <a:ext cx="5638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27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B99F1B1C-B884-458B-89FC-D3F793CA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46F56F0C-8017-4C56-994F-74AD6BA9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32F8F2F6-0575-4508-B984-242CEF8A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A5C550E6-1EEE-4ABB-A9B0-F6C5AE80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78F592E9-4C7D-4220-9E01-8FFD0AA0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演讲 / 工作机制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D7479EBA-7D96-4921-B4CA-2CF9041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反馈如何进入下一轮任务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13757879-7570-4704-9BD1-3F7064B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把检查发现的问题转回任务说明，形成有记录的修订。</a:t>
            </a:r>
          </a:p>
        </p:txBody>
      </p:sp>
      <p:grpSp>
        <p:nvGrpSpPr>
          <p:cNvPr id="28" name="C17-1"/>
          <p:cNvGrpSpPr/>
          <p:nvPr/>
        </p:nvGrpSpPr>
        <p:grpSpPr>
          <a:xfrm xmlns:a="http://schemas.openxmlformats.org/drawingml/2006/main">
            <a:off x="1047750" y="3371850"/>
            <a:ext cx="13830300" cy="4381500"/>
            <a:chOff x="1047750" y="3371850"/>
            <a:chExt cx="13830300" cy="4381500"/>
          </a:xfrm>
        </p:grpSpPr>
        <p:sp>
          <p:nvSpPr>
            <p:cNvPr id="8" name="C17-1--cycle-node--8">
              <a:extLst xmlns:a="http://schemas.openxmlformats.org/drawingml/2006/main">
                <a:ext uri="{FF2B5EF4-FFF2-40B4-BE49-F238E27FC236}">
                  <a16:creationId xmlns:a16="http://schemas.microsoft.com/office/drawing/2014/main" id="{59F9C58A-1DFD-44EE-AA9A-AB3BB8C2F0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" y="3371850"/>
              <a:ext cx="4095750" cy="1352550"/>
            </a:xfrm>
            <a:prstGeom xmlns:a="http://schemas.openxmlformats.org/drawingml/2006/main" prst="roundRect">
              <a:avLst>
                <a:gd name="adj" fmla="val 16901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17-1--cycle-title--9">
              <a:extLst xmlns:a="http://schemas.openxmlformats.org/drawingml/2006/main">
                <a:ext uri="{FF2B5EF4-FFF2-40B4-BE49-F238E27FC236}">
                  <a16:creationId xmlns:a16="http://schemas.microsoft.com/office/drawing/2014/main" id="{1760775E-3B15-4756-8BC5-C2D030E44B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3552825"/>
              <a:ext cx="36385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说明任务</a:t>
              </a:r>
            </a:p>
          </p:txBody>
        </p:sp>
        <p:sp>
          <p:nvSpPr>
            <p:cNvPr id="10" name="C17-1--cycle-body--10">
              <a:extLst xmlns:a="http://schemas.openxmlformats.org/drawingml/2006/main">
                <a:ext uri="{FF2B5EF4-FFF2-40B4-BE49-F238E27FC236}">
                  <a16:creationId xmlns:a16="http://schemas.microsoft.com/office/drawing/2014/main" id="{1917C2D5-42FD-4914-AC95-862170BEF4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4095750"/>
              <a:ext cx="363855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写出材料和完成条件</a:t>
              </a:r>
            </a:p>
          </p:txBody>
        </p:sp>
        <p:sp>
          <p:nvSpPr>
            <p:cNvPr id="11" name="C17-1--cycle-node--11">
              <a:extLst xmlns:a="http://schemas.openxmlformats.org/drawingml/2006/main">
                <a:ext uri="{FF2B5EF4-FFF2-40B4-BE49-F238E27FC236}">
                  <a16:creationId xmlns:a16="http://schemas.microsoft.com/office/drawing/2014/main" id="{A3CDD1AE-7CCC-45B7-864D-DAB64428AA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82300" y="3371850"/>
              <a:ext cx="4095750" cy="1352550"/>
            </a:xfrm>
            <a:prstGeom xmlns:a="http://schemas.openxmlformats.org/drawingml/2006/main" prst="roundRect">
              <a:avLst>
                <a:gd name="adj" fmla="val 1690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2" name="C17-1--cycle-title--12">
              <a:extLst xmlns:a="http://schemas.openxmlformats.org/drawingml/2006/main">
                <a:ext uri="{FF2B5EF4-FFF2-40B4-BE49-F238E27FC236}">
                  <a16:creationId xmlns:a16="http://schemas.microsoft.com/office/drawing/2014/main" id="{ED89A546-DF8C-408C-A889-42BE085F36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3552825"/>
              <a:ext cx="36385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组织结果</a:t>
              </a:r>
            </a:p>
          </p:txBody>
        </p:sp>
        <p:sp>
          <p:nvSpPr>
            <p:cNvPr id="13" name="C17-1--cycle-body--13">
              <a:extLst xmlns:a="http://schemas.openxmlformats.org/drawingml/2006/main">
                <a:ext uri="{FF2B5EF4-FFF2-40B4-BE49-F238E27FC236}">
                  <a16:creationId xmlns:a16="http://schemas.microsoft.com/office/drawing/2014/main" id="{9841B397-A9A5-4099-9F58-5D25AF33EE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4095750"/>
              <a:ext cx="363855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保留草稿与参考依据</a:t>
              </a:r>
            </a:p>
          </p:txBody>
        </p:sp>
        <p:sp>
          <p:nvSpPr>
            <p:cNvPr id="14" name="C17-1--cycle-node--14">
              <a:extLst xmlns:a="http://schemas.openxmlformats.org/drawingml/2006/main">
                <a:ext uri="{FF2B5EF4-FFF2-40B4-BE49-F238E27FC236}">
                  <a16:creationId xmlns:a16="http://schemas.microsoft.com/office/drawing/2014/main" id="{2817E8BA-051E-49ED-8070-0F1E98E565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82300" y="6400800"/>
              <a:ext cx="4095750" cy="1352550"/>
            </a:xfrm>
            <a:prstGeom xmlns:a="http://schemas.openxmlformats.org/drawingml/2006/main" prst="roundRect">
              <a:avLst>
                <a:gd name="adj" fmla="val 1690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5" name="C17-1--cycle-title--15">
              <a:extLst xmlns:a="http://schemas.openxmlformats.org/drawingml/2006/main">
                <a:ext uri="{FF2B5EF4-FFF2-40B4-BE49-F238E27FC236}">
                  <a16:creationId xmlns:a16="http://schemas.microsoft.com/office/drawing/2014/main" id="{6DAB9F7E-7D78-4198-9213-47265685E8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6581775"/>
              <a:ext cx="36385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核对结果</a:t>
              </a:r>
            </a:p>
          </p:txBody>
        </p:sp>
        <p:sp>
          <p:nvSpPr>
            <p:cNvPr id="16" name="C17-1--cycle-body--16">
              <a:extLst xmlns:a="http://schemas.openxmlformats.org/drawingml/2006/main">
                <a:ext uri="{FF2B5EF4-FFF2-40B4-BE49-F238E27FC236}">
                  <a16:creationId xmlns:a16="http://schemas.microsoft.com/office/drawing/2014/main" id="{84F99EBA-1413-4750-86D6-F212FCC68F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7124700"/>
              <a:ext cx="363855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识别遗漏和待确认事项</a:t>
              </a:r>
            </a:p>
          </p:txBody>
        </p:sp>
        <p:sp>
          <p:nvSpPr>
            <p:cNvPr id="17" name="C17-1--cycle-node--17">
              <a:extLst xmlns:a="http://schemas.openxmlformats.org/drawingml/2006/main">
                <a:ext uri="{FF2B5EF4-FFF2-40B4-BE49-F238E27FC236}">
                  <a16:creationId xmlns:a16="http://schemas.microsoft.com/office/drawing/2014/main" id="{1469ECFE-0C25-4FC6-A02F-1EE797C5D9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" y="6400800"/>
              <a:ext cx="4095750" cy="1352550"/>
            </a:xfrm>
            <a:prstGeom xmlns:a="http://schemas.openxmlformats.org/drawingml/2006/main" prst="roundRect">
              <a:avLst>
                <a:gd name="adj" fmla="val 1690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8" name="C17-1--cycle-title--18">
              <a:extLst xmlns:a="http://schemas.openxmlformats.org/drawingml/2006/main">
                <a:ext uri="{FF2B5EF4-FFF2-40B4-BE49-F238E27FC236}">
                  <a16:creationId xmlns:a16="http://schemas.microsoft.com/office/drawing/2014/main" id="{7B80407C-E890-4E19-B34E-A6D763DB0F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6581775"/>
              <a:ext cx="36385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修订说明</a:t>
              </a:r>
            </a:p>
          </p:txBody>
        </p:sp>
        <p:sp>
          <p:nvSpPr>
            <p:cNvPr id="19" name="C17-1--cycle-body--19">
              <a:extLst xmlns:a="http://schemas.openxmlformats.org/drawingml/2006/main">
                <a:ext uri="{FF2B5EF4-FFF2-40B4-BE49-F238E27FC236}">
                  <a16:creationId xmlns:a16="http://schemas.microsoft.com/office/drawing/2014/main" id="{2B5E9BC9-513E-469D-92AE-0AB2BA8B8B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7124700"/>
              <a:ext cx="363855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把反馈带入下一轮</a:t>
              </a:r>
            </a:p>
          </p:txBody>
        </p:sp>
        <p:sp>
          <p:nvSpPr>
            <p:cNvPr id="20" name="C17-1--cycle-center--20">
              <a:extLst xmlns:a="http://schemas.openxmlformats.org/drawingml/2006/main">
                <a:ext uri="{FF2B5EF4-FFF2-40B4-BE49-F238E27FC236}">
                  <a16:creationId xmlns:a16="http://schemas.microsoft.com/office/drawing/2014/main" id="{1A59E158-5E42-49BF-8C64-DEE2F2C981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20234" y="5295900"/>
              <a:ext cx="6085332" cy="714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检查推动修订</a:t>
              </a:r>
            </a:p>
          </p:txBody>
        </p:sp>
      </p:grpSp>
      <p:sp>
        <p:nvSpPr>
          <p:cNvPr id="21" name="chrome--footer-rule--21">
            <a:extLst xmlns:a="http://schemas.openxmlformats.org/drawingml/2006/main">
              <a:ext uri="{FF2B5EF4-FFF2-40B4-BE49-F238E27FC236}">
                <a16:creationId xmlns:a16="http://schemas.microsoft.com/office/drawing/2014/main" id="{DECA8E4C-EA07-4AEA-A78B-4AFAFE4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2" name="chrome--footer--22">
            <a:extLst xmlns:a="http://schemas.openxmlformats.org/drawingml/2006/main">
              <a:ext uri="{FF2B5EF4-FFF2-40B4-BE49-F238E27FC236}">
                <a16:creationId xmlns:a16="http://schemas.microsoft.com/office/drawing/2014/main" id="{B6B0736A-0EF5-4EB8-B99F-D176467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工作机制示意。涉及事实与重要判断时，保留人的核对和批准责任。</a:t>
            </a:r>
          </a:p>
        </p:txBody>
      </p:sp>
    </p:spTree>
    <p:extLst>
      <p:ext uri="{BB962C8B-B14F-4D97-AF65-F5344CB8AC3E}">
        <p14:creationId xmlns:p14="http://schemas.microsoft.com/office/powerpoint/2010/main" val="1386602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1645959B-0066-4DDA-BB7A-5AB9E702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1F02DC21-0093-4D7E-A5BF-F3B0B91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0831A2CC-58A2-477D-AC1B-A18A531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CA39D752-FB37-4792-B949-3695D4E3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B1666A16-67EB-45CB-936F-6A0483C2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演讲 / 案例解释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5A925920-1AC2-45F4-ADEC-31FB6F40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一份评审材料的协作情境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E7760F78-300A-41C4-A7A2-62BEDA8D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通过可追踪的任务说明，展开协作过程。</a:t>
            </a:r>
          </a:p>
        </p:txBody>
      </p:sp>
      <p:grpSp>
        <p:nvGrpSpPr>
          <p:cNvPr id="21" name="C21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8" name="C21-1--case-context--8">
              <a:extLst xmlns:a="http://schemas.openxmlformats.org/drawingml/2006/main">
                <a:ext uri="{FF2B5EF4-FFF2-40B4-BE49-F238E27FC236}">
                  <a16:creationId xmlns:a16="http://schemas.microsoft.com/office/drawing/2014/main" id="{D46AE5BE-3123-45D3-B32F-9B43989307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1066800"/>
            </a:xfrm>
            <a:prstGeom xmlns:a="http://schemas.openxmlformats.org/drawingml/2006/main" prst="roundRect">
              <a:avLst>
                <a:gd name="adj" fmla="val 2142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21-1--case-context-label--9">
              <a:extLst xmlns:a="http://schemas.openxmlformats.org/drawingml/2006/main">
                <a:ext uri="{FF2B5EF4-FFF2-40B4-BE49-F238E27FC236}">
                  <a16:creationId xmlns:a16="http://schemas.microsoft.com/office/drawing/2014/main" id="{A264136F-1CE9-4468-B7B4-02AB898D57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495675"/>
              <a:ext cx="95250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情境</a:t>
              </a:r>
            </a:p>
          </p:txBody>
        </p:sp>
        <p:sp>
          <p:nvSpPr>
            <p:cNvPr id="10" name="C21-1--case-context-body--10">
              <a:extLst xmlns:a="http://schemas.openxmlformats.org/drawingml/2006/main">
                <a:ext uri="{FF2B5EF4-FFF2-40B4-BE49-F238E27FC236}">
                  <a16:creationId xmlns:a16="http://schemas.microsoft.com/office/drawing/2014/main" id="{D91BDDD8-AFBA-4CEA-8032-68D7FD74B5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33550" y="3486150"/>
              <a:ext cx="13439775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项目组需要根据记录，解释交付进展和未解决问题。</a:t>
              </a:r>
            </a:p>
          </p:txBody>
        </p:sp>
        <p:sp>
          <p:nvSpPr>
            <p:cNvPr id="11" name="C21-1--case-detail--11">
              <a:extLst xmlns:a="http://schemas.openxmlformats.org/drawingml/2006/main">
                <a:ext uri="{FF2B5EF4-FFF2-40B4-BE49-F238E27FC236}">
                  <a16:creationId xmlns:a16="http://schemas.microsoft.com/office/drawing/2014/main" id="{6E2E910B-B432-4EC6-A9E9-BF2DDF977A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572000"/>
              <a:ext cx="7362825" cy="2628900"/>
            </a:xfrm>
            <a:prstGeom xmlns:a="http://schemas.openxmlformats.org/drawingml/2006/main" prst="roundRect">
              <a:avLst>
                <a:gd name="adj" fmla="val 869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2" name="C21-1--case-detail-label--12">
              <a:extLst xmlns:a="http://schemas.openxmlformats.org/drawingml/2006/main">
                <a:ext uri="{FF2B5EF4-FFF2-40B4-BE49-F238E27FC236}">
                  <a16:creationId xmlns:a16="http://schemas.microsoft.com/office/drawing/2014/main" id="{F1B8136A-DA5D-4B61-9F3D-80D7995855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4791075"/>
              <a:ext cx="690562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采取的行动</a:t>
              </a:r>
            </a:p>
          </p:txBody>
        </p:sp>
        <p:sp>
          <p:nvSpPr>
            <p:cNvPr id="13" name="C21-1--case-detail-body--13">
              <a:extLst xmlns:a="http://schemas.openxmlformats.org/drawingml/2006/main">
                <a:ext uri="{FF2B5EF4-FFF2-40B4-BE49-F238E27FC236}">
                  <a16:creationId xmlns:a16="http://schemas.microsoft.com/office/drawing/2014/main" id="{BF9E7C3D-E61B-4AD1-98FE-81F5FA43EC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391150"/>
              <a:ext cx="6905625" cy="1619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先列出可用材料，按评审议题组织草稿，再检查数字和引用是否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一致。</a:t>
              </a:r>
            </a:p>
          </p:txBody>
        </p:sp>
        <p:sp>
          <p:nvSpPr>
            <p:cNvPr id="14" name="C21-1--case-detail--14">
              <a:extLst xmlns:a="http://schemas.openxmlformats.org/drawingml/2006/main">
                <a:ext uri="{FF2B5EF4-FFF2-40B4-BE49-F238E27FC236}">
                  <a16:creationId xmlns:a16="http://schemas.microsoft.com/office/drawing/2014/main" id="{66B3607B-24C3-4DB9-9C2E-D5040CCC0E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05775" y="4572000"/>
              <a:ext cx="7362825" cy="2628900"/>
            </a:xfrm>
            <a:prstGeom xmlns:a="http://schemas.openxmlformats.org/drawingml/2006/main" prst="roundRect">
              <a:avLst>
                <a:gd name="adj" fmla="val 869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5" name="C21-1--case-detail-label--15">
              <a:extLst xmlns:a="http://schemas.openxmlformats.org/drawingml/2006/main">
                <a:ext uri="{FF2B5EF4-FFF2-40B4-BE49-F238E27FC236}">
                  <a16:creationId xmlns:a16="http://schemas.microsoft.com/office/drawing/2014/main" id="{6C44F7BB-4AC1-4099-A255-85D58E6C38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34375" y="4791075"/>
              <a:ext cx="690562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观察与结果</a:t>
              </a:r>
            </a:p>
          </p:txBody>
        </p:sp>
        <p:sp>
          <p:nvSpPr>
            <p:cNvPr id="16" name="C21-1--case-detail-body--16">
              <a:extLst xmlns:a="http://schemas.openxmlformats.org/drawingml/2006/main">
                <a:ext uri="{FF2B5EF4-FFF2-40B4-BE49-F238E27FC236}">
                  <a16:creationId xmlns:a16="http://schemas.microsoft.com/office/drawing/2014/main" id="{AFB083D3-E3DD-4B89-8ED3-E6C0CBD0EC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34375" y="5391150"/>
              <a:ext cx="6905625" cy="1619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示例文稿将已确认事实与待确认问题分开，便于评审者继续追问。</a:t>
              </a:r>
            </a:p>
          </p:txBody>
        </p:sp>
        <p:sp>
          <p:nvSpPr>
            <p:cNvPr id="17" name="C21-1--case-limit--17">
              <a:extLst xmlns:a="http://schemas.openxmlformats.org/drawingml/2006/main">
                <a:ext uri="{FF2B5EF4-FFF2-40B4-BE49-F238E27FC236}">
                  <a16:creationId xmlns:a16="http://schemas.microsoft.com/office/drawing/2014/main" id="{823FB3E2-297A-4358-907A-650ADC5727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7486650"/>
              <a:ext cx="1497330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适用边界：虚构案例，未测量效率改善，也不代表真实项目成果。</a:t>
              </a:r>
            </a:p>
          </p:txBody>
        </p:sp>
      </p:grpSp>
      <p:sp>
        <p:nvSpPr>
          <p:cNvPr id="18" name="chrome--footer-rule--18">
            <a:extLst xmlns:a="http://schemas.openxmlformats.org/drawingml/2006/main">
              <a:ext uri="{FF2B5EF4-FFF2-40B4-BE49-F238E27FC236}">
                <a16:creationId xmlns:a16="http://schemas.microsoft.com/office/drawing/2014/main" id="{830E6454-CC8B-496B-A54F-5F901D64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9" name="chrome--footer--19">
            <a:extLst xmlns:a="http://schemas.openxmlformats.org/drawingml/2006/main">
              <a:ext uri="{FF2B5EF4-FFF2-40B4-BE49-F238E27FC236}">
                <a16:creationId xmlns:a16="http://schemas.microsoft.com/office/drawing/2014/main" id="{41E08957-44AB-4B0A-8025-F4024656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情境示例。案例用来解释过程，不用虚构收益证明方法有效。</a:t>
            </a:r>
          </a:p>
        </p:txBody>
      </p:sp>
    </p:spTree>
    <p:extLst>
      <p:ext uri="{BB962C8B-B14F-4D97-AF65-F5344CB8AC3E}">
        <p14:creationId xmlns:p14="http://schemas.microsoft.com/office/powerpoint/2010/main" val="259027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54332357-5D81-4A5B-88BC-AB0C08F8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CCD99BA0-0CD9-434E-9211-E420AC46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D7F3D689-D8AD-400C-A41B-600B052D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AB9D4D4D-C5E8-4766-99D3-EC9C9247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ABE4F40F-ED31-4F8F-BD40-A56C0966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演讲 / 收束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01F25BA1-43C5-4D87-A1C3-10401C9A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下一次协作的具体起点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9C9D08B2-EA82-4229-9A44-E530C8E0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把讨论落实到一个可以尝试的小任务。</a:t>
            </a:r>
          </a:p>
        </p:txBody>
      </p:sp>
      <p:grpSp>
        <p:nvGrpSpPr>
          <p:cNvPr id="16" name="C24-1"/>
          <p:cNvGrpSpPr/>
          <p:nvPr/>
        </p:nvGrpSpPr>
        <p:grpSpPr>
          <a:xfrm xmlns:a="http://schemas.openxmlformats.org/drawingml/2006/main">
            <a:off x="609600" y="3333750"/>
            <a:ext cx="14706600" cy="4572000"/>
            <a:chOff x="609600" y="3333750"/>
            <a:chExt cx="14706600" cy="4572000"/>
          </a:xfrm>
        </p:grpSpPr>
        <p:sp>
          <p:nvSpPr>
            <p:cNvPr id="8" name="C24-1--hero-title--8">
              <a:extLst xmlns:a="http://schemas.openxmlformats.org/drawingml/2006/main">
                <a:ext uri="{FF2B5EF4-FFF2-40B4-BE49-F238E27FC236}">
                  <a16:creationId xmlns:a16="http://schemas.microsoft.com/office/drawing/2014/main" id="{1EDCAD52-4ADD-4FB9-9E9D-A412A98881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3600450"/>
              <a:ext cx="3757974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先写清一份</a:t>
              </a:r>
            </a:p>
          </p:txBody>
        </p:sp>
        <p:sp>
          <p:nvSpPr>
            <p:cNvPr id="9" name="C24-1--hero-title--9">
              <a:extLst xmlns:a="http://schemas.openxmlformats.org/drawingml/2006/main">
                <a:ext uri="{FF2B5EF4-FFF2-40B4-BE49-F238E27FC236}">
                  <a16:creationId xmlns:a16="http://schemas.microsoft.com/office/drawing/2014/main" id="{2ACFB7D8-7528-4A60-AB2C-8F6135BC2F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29474" y="3600450"/>
              <a:ext cx="3757974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rPr>
                <a:t>可验收任务</a:t>
              </a:r>
            </a:p>
          </p:txBody>
        </p:sp>
        <p:sp>
          <p:nvSpPr>
            <p:cNvPr id="10" name="C24-1--hero-subtitle--10">
              <a:extLst xmlns:a="http://schemas.openxmlformats.org/drawingml/2006/main">
                <a:ext uri="{FF2B5EF4-FFF2-40B4-BE49-F238E27FC236}">
                  <a16:creationId xmlns:a16="http://schemas.microsoft.com/office/drawing/2014/main" id="{669DDF47-6209-4FD0-9FB4-DAF58AF91F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5772150"/>
              <a:ext cx="1466850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选择一个低风险任务，写出对象、材料范围和完成标准。</a:t>
              </a:r>
            </a:p>
          </p:txBody>
        </p:sp>
        <p:sp>
          <p:nvSpPr>
            <p:cNvPr id="11" name="C24-1--hero-action--11">
              <a:extLst xmlns:a="http://schemas.openxmlformats.org/drawingml/2006/main">
                <a:ext uri="{FF2B5EF4-FFF2-40B4-BE49-F238E27FC236}">
                  <a16:creationId xmlns:a16="http://schemas.microsoft.com/office/drawing/2014/main" id="{39E46D83-6B8F-4D0F-9F64-FA094F0B3D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7019925"/>
              <a:ext cx="14706600" cy="885825"/>
            </a:xfrm>
            <a:prstGeom xmlns:a="http://schemas.openxmlformats.org/drawingml/2006/main" prst="roundRect">
              <a:avLst>
                <a:gd name="adj" fmla="val 2580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2" name="C24-1--hero-action-text--12">
              <a:extLst xmlns:a="http://schemas.openxmlformats.org/drawingml/2006/main">
                <a:ext uri="{FF2B5EF4-FFF2-40B4-BE49-F238E27FC236}">
                  <a16:creationId xmlns:a16="http://schemas.microsoft.com/office/drawing/2014/main" id="{D8DC7791-59A4-44BE-AF47-904F2753C1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" y="7267575"/>
              <a:ext cx="141732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尝试后记录一项遗漏，再据此修订任务说明。</a:t>
              </a:r>
            </a:p>
          </p:txBody>
        </p:sp>
      </p:grpSp>
      <p:sp>
        <p:nvSpPr>
          <p:cNvPr id="13" name="chrome--footer-rule--13">
            <a:extLst xmlns:a="http://schemas.openxmlformats.org/drawingml/2006/main">
              <a:ext uri="{FF2B5EF4-FFF2-40B4-BE49-F238E27FC236}">
                <a16:creationId xmlns:a16="http://schemas.microsoft.com/office/drawing/2014/main" id="{7C7C2421-A611-482C-B963-102E5EA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4" name="chrome--footer--14">
            <a:extLst xmlns:a="http://schemas.openxmlformats.org/drawingml/2006/main">
              <a:ext uri="{FF2B5EF4-FFF2-40B4-BE49-F238E27FC236}">
                <a16:creationId xmlns:a16="http://schemas.microsoft.com/office/drawing/2014/main" id="{8B6EAE2E-428F-43D5-B65C-AAE49AA0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方法练习建议。任务内容、工具选择和检查强度应与实际风险相匹配。</a:t>
            </a:r>
          </a:p>
        </p:txBody>
      </p:sp>
    </p:spTree>
    <p:extLst>
      <p:ext uri="{BB962C8B-B14F-4D97-AF65-F5344CB8AC3E}">
        <p14:creationId xmlns:p14="http://schemas.microsoft.com/office/powerpoint/2010/main" val="1322293285"/>
      </p:ext>
    </p:extLst>
  </p:cSld>
</p:sld>
</file>

<file path=ppt/theme/theme1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2026-10-16T10:57:25.7530000Z</dcterms:created>
  <dcterms:modified xsi:type="dcterms:W3CDTF">2026-10-16T10:57:25.7530000Z</dcterms:modified>
</coreProperties>
</file>