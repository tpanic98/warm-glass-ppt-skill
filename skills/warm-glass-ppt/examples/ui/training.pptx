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acbc6ada214d28" /><Relationship Type="http://schemas.openxmlformats.org/officeDocument/2006/relationships/extended-properties" Target="/docProps/app.xml" Id="Rb5cd179c144a49f6" /><Relationship Type="http://schemas.openxmlformats.org/officeDocument/2006/relationships/officeDocument" Target="/ppt/presentation.xml" Id="R918bf58bf25e45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7ecb8b753549e4"/>
  </p:sldMasterIdLst>
  <p:notesMasterIdLst>
    <p:notesMasterId xmlns:r="http://schemas.openxmlformats.org/officeDocument/2006/relationships" r:id="Rfa00a9de0f884157"/>
  </p:notesMasterIdLst>
  <p:sldIdLst>
    <p:sldId xmlns:r="http://schemas.openxmlformats.org/officeDocument/2006/relationships" id="256" r:id="Rc92533a2b9274669"/>
    <p:sldId xmlns:r="http://schemas.openxmlformats.org/officeDocument/2006/relationships" id="257" r:id="R397f0822077849e5"/>
    <p:sldId xmlns:r="http://schemas.openxmlformats.org/officeDocument/2006/relationships" id="258" r:id="R6964e0dd2dfc4a21"/>
    <p:sldId xmlns:r="http://schemas.openxmlformats.org/officeDocument/2006/relationships" id="259" r:id="R3ff0268fb6d847d6"/>
    <p:sldId xmlns:r="http://schemas.openxmlformats.org/officeDocument/2006/relationships" id="260" r:id="R5459a29a77c641db"/>
    <p:sldId xmlns:r="http://schemas.openxmlformats.org/officeDocument/2006/relationships" id="261" r:id="R137fcd154baa4071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fa8c6008354393" /><Relationship Type="http://schemas.openxmlformats.org/officeDocument/2006/relationships/slideMaster" Target="/ppt/slideMasters/slideMaster1.xml" Id="Rde7ecb8b753549e4" /><Relationship Type="http://schemas.openxmlformats.org/officeDocument/2006/relationships/notesMaster" Target="/ppt/notesMasters/notesMaster1.xml" Id="Rfa00a9de0f884157" /><Relationship Type="http://schemas.openxmlformats.org/officeDocument/2006/relationships/presProps" Target="/ppt/presProps.xml" Id="R7665ae3c3df64c92" /><Relationship Type="http://schemas.openxmlformats.org/officeDocument/2006/relationships/tableStyles" Target="/ppt/tableStyles.xml" Id="Rcd81bca1d55444ed" /><Relationship Type="http://schemas.openxmlformats.org/officeDocument/2006/relationships/slide" Target="/ppt/slides/slide1.xml" Id="Rc92533a2b9274669" /><Relationship Type="http://schemas.openxmlformats.org/officeDocument/2006/relationships/slide" Target="/ppt/slides/slide2.xml" Id="R397f0822077849e5" /><Relationship Type="http://schemas.openxmlformats.org/officeDocument/2006/relationships/slide" Target="/ppt/slides/slide3.xml" Id="R6964e0dd2dfc4a21" /><Relationship Type="http://schemas.openxmlformats.org/officeDocument/2006/relationships/slide" Target="/ppt/slides/slide4.xml" Id="R3ff0268fb6d847d6" /><Relationship Type="http://schemas.openxmlformats.org/officeDocument/2006/relationships/slide" Target="/ppt/slides/slide5.xml" Id="R5459a29a77c641db" /><Relationship Type="http://schemas.openxmlformats.org/officeDocument/2006/relationships/slide" Target="/ppt/slides/slide6.xml" Id="R137fcd154baa40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e9f65abc094d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Warm Glass">
      <a:dk1>
        <a:srgbClr val="101219"/>
      </a:dk1>
      <a:lt1>
        <a:srgbClr val="FFFFFF"/>
      </a:lt1>
      <a:dk2>
        <a:srgbClr val="333333"/>
      </a:dk2>
      <a:lt2>
        <a:srgbClr val="FFF6EC"/>
      </a:lt2>
      <a:accent1>
        <a:srgbClr val="FF3D12"/>
      </a:accent1>
      <a:accent2>
        <a:srgbClr val="B92A16"/>
      </a:accent2>
      <a:accent3>
        <a:srgbClr val="FF7800"/>
      </a:accent3>
      <a:accent4>
        <a:srgbClr val="F28662"/>
      </a:accent4>
      <a:accent5>
        <a:srgbClr val="F2CB85"/>
      </a:accent5>
      <a:accent6>
        <a:srgbClr val="66615E"/>
      </a:accent6>
      <a:hlink>
        <a:srgbClr val="B92A16"/>
      </a:hlink>
      <a:folHlink>
        <a:srgbClr val="66615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Warm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5250" dir="5400000">
              <a:srgbClr val="603F29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66e142aca64729" /><Relationship Type="http://schemas.openxmlformats.org/officeDocument/2006/relationships/notesMaster" Target="/ppt/notesMasters/notesMaster1.xml" Id="R814fc0e5e4d343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a38deb71c943e3" /><Relationship Type="http://schemas.openxmlformats.org/officeDocument/2006/relationships/notesMaster" Target="/ppt/notesMasters/notesMaster1.xml" Id="R560ab936e22a40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7be1e264f8430f" /><Relationship Type="http://schemas.openxmlformats.org/officeDocument/2006/relationships/notesMaster" Target="/ppt/notesMasters/notesMaster1.xml" Id="Rcf1d17e1454e47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0ff58ab2de4758" /><Relationship Type="http://schemas.openxmlformats.org/officeDocument/2006/relationships/notesMaster" Target="/ppt/notesMasters/notesMaster1.xml" Id="Rd3e45555bb0c47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f0aae10b12496f" /><Relationship Type="http://schemas.openxmlformats.org/officeDocument/2006/relationships/notesMaster" Target="/ppt/notesMasters/notesMaster1.xml" Id="Rd7f54c5380fc47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259ea10cf64a29" /><Relationship Type="http://schemas.openxmlformats.org/officeDocument/2006/relationships/notesMaster" Target="/ppt/notesMasters/notesMaster1.xml" Id="R4ce554dbac9541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教学示例。学习目标通过任务说明和同伴检查结果评估。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简化教学示意。这里讨论以深度学习为基础的大模型，并非完整技术分类图。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教学情境。不得为填补示例而编造事实、来源或实际项目数字。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练习建议：先独立改写，再两人互换检查，指出一项仍需澄清的内容。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练习流程示意。检查者提出问题，任务提出者负责核实后修订。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学习评估建议：提交一份任务说明，以及一次同伴检查的反馈记录。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e078b0efd4e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24e28847542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f41f2c25b43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40d9a6718045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7c3d37c9cf47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90580702e48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9FA571-71FD-41E0-A0F0-CE48638C4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386032"/>
            <a:ext cx="12740640" cy="1294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924A4F-35C4-4C22-94A4-E9D746DEF9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88870" y="4929664"/>
            <a:ext cx="11148060" cy="995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E00974-3C05-4719-AD60-73084B747C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734594"/>
            <a:ext cx="12740640" cy="1493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75CACE-BDB9-4C32-BDE6-FEBCA80DEB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19493A8-DB03-4567-B2BB-3F5139A768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14134147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F30DBA-9403-42F1-86B4-FF5294BACD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896637-43EE-4261-94FC-BEB6C2B431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BF3B84E-602F-4357-90D9-13B52FB538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60581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F1850B-701B-452A-BAAF-710CC32F44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64C04A-95D5-45C4-811C-6281BB0B89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8dc128f4aa4cc3" /><Relationship Type="http://schemas.openxmlformats.org/officeDocument/2006/relationships/slideLayout" Target="/ppt/slideLayouts/slideLayout1.xml" Id="Rb0f6698af3c74960" /><Relationship Type="http://schemas.openxmlformats.org/officeDocument/2006/relationships/slideLayout" Target="/ppt/slideLayouts/slideLayout2.xml" Id="Rafc8b292270a4255" /><Relationship Type="http://schemas.openxmlformats.org/officeDocument/2006/relationships/slideLayout" Target="/ppt/slideLayouts/slideLayout3.xml" Id="R5871829023cf4f52" /><Relationship Type="http://schemas.openxmlformats.org/officeDocument/2006/relationships/slideLayout" Target="/ppt/slideLayouts/slideLayout4.xml" Id="R77eeca202fe64530" /><Relationship Type="http://schemas.openxmlformats.org/officeDocument/2006/relationships/slideLayout" Target="/ppt/slideLayouts/slideLayout5.xml" Id="R2ec7c958780e476f" /><Relationship Type="http://schemas.openxmlformats.org/officeDocument/2006/relationships/slideLayout" Target="/ppt/slideLayouts/slideLayout6.xml" Id="Rc546973f5bef46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f6698af3c74960"/>
    <p:sldLayoutId xmlns:r="http://schemas.openxmlformats.org/officeDocument/2006/relationships" id="2147483650" r:id="Rafc8b292270a4255"/>
    <p:sldLayoutId xmlns:r="http://schemas.openxmlformats.org/officeDocument/2006/relationships" id="2147483651" r:id="R5871829023cf4f52"/>
    <p:sldLayoutId xmlns:r="http://schemas.openxmlformats.org/officeDocument/2006/relationships" id="2147483652" r:id="R77eeca202fe64530"/>
    <p:sldLayoutId xmlns:r="http://schemas.openxmlformats.org/officeDocument/2006/relationships" id="2147483653" r:id="R2ec7c958780e476f"/>
    <p:sldLayoutId xmlns:r="http://schemas.openxmlformats.org/officeDocument/2006/relationships" id="2147483654" r:id="Rc546973f5bef46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Warm Glass">
      <a:dk1>
        <a:srgbClr val="101219"/>
      </a:dk1>
      <a:lt1>
        <a:srgbClr val="FFFFFF"/>
      </a:lt1>
      <a:dk2>
        <a:srgbClr val="333333"/>
      </a:dk2>
      <a:lt2>
        <a:srgbClr val="FFF6EC"/>
      </a:lt2>
      <a:accent1>
        <a:srgbClr val="FF3D12"/>
      </a:accent1>
      <a:accent2>
        <a:srgbClr val="B92A16"/>
      </a:accent2>
      <a:accent3>
        <a:srgbClr val="FF7800"/>
      </a:accent3>
      <a:accent4>
        <a:srgbClr val="F28662"/>
      </a:accent4>
      <a:accent5>
        <a:srgbClr val="F2CB85"/>
      </a:accent5>
      <a:accent6>
        <a:srgbClr val="66615E"/>
      </a:accent6>
      <a:hlink>
        <a:srgbClr val="B92A16"/>
      </a:hlink>
      <a:folHlink>
        <a:srgbClr val="66615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Warm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5250" dir="5400000">
              <a:srgbClr val="603F29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f1dde83f3b47c7" /><Relationship Type="http://schemas.openxmlformats.org/officeDocument/2006/relationships/notesSlide" Target="/ppt/notesSlides/notesSlide1.xml" Id="Rd70d88b55b104b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322c122b904b7a" /><Relationship Type="http://schemas.openxmlformats.org/officeDocument/2006/relationships/notesSlide" Target="/ppt/notesSlides/notesSlide2.xml" Id="Ref63e16fcfa246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b0499cff3641cc" /><Relationship Type="http://schemas.openxmlformats.org/officeDocument/2006/relationships/notesSlide" Target="/ppt/notesSlides/notesSlide3.xml" Id="R9b56aa0ba7304c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f8203bee4c4056" /><Relationship Type="http://schemas.openxmlformats.org/officeDocument/2006/relationships/notesSlide" Target="/ppt/notesSlides/notesSlide4.xml" Id="Ra0b072f6df6a4e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d9349e0c894267" /><Relationship Type="http://schemas.openxmlformats.org/officeDocument/2006/relationships/notesSlide" Target="/ppt/notesSlides/notesSlide5.xml" Id="Rc2d29d6f831443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6cbf222f36423d" /><Relationship Type="http://schemas.openxmlformats.org/officeDocument/2006/relationships/notesSlide" Target="/ppt/notesSlides/notesSlide6.xml" Id="R20387e8f097648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2697E9EE-0BBB-47DA-B5E3-5D925E28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C1DA4DDA-4DC0-4478-8E6D-7975C6B7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D0313BB8-F907-4B86-9D15-727B5FE9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118691BE-70B2-4D54-9265-9EE8470F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60AEAF00-6427-4A0A-B43D-44ADA069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培训 / 学习目标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4DC5BA4C-8D39-4415-BF2E-19A9C469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5011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任务表达与结果核对</a:t>
            </a:r>
          </a:p>
        </p:txBody>
      </p:sp>
      <p:sp>
        <p:nvSpPr>
          <p:cNvPr id="7" name="chrome--page-subtitle--7">
            <a:extLst xmlns:a="http://schemas.openxmlformats.org/drawingml/2006/main">
              <a:ext uri="{FF2B5EF4-FFF2-40B4-BE49-F238E27FC236}">
                <a16:creationId xmlns:a16="http://schemas.microsoft.com/office/drawing/2014/main" id="{5BC5C8D7-B7C7-4A3C-91B2-4355CE7F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完成本节后，能够写出任务说明，并用同伴检查发现一项缺口。</a:t>
            </a:r>
          </a:p>
        </p:txBody>
      </p:sp>
      <p:grpSp>
        <p:nvGrpSpPr>
          <p:cNvPr id="27" name="C23-1"/>
          <p:cNvGrpSpPr/>
          <p:nvPr/>
        </p:nvGrpSpPr>
        <p:grpSpPr>
          <a:xfrm xmlns:a="http://schemas.openxmlformats.org/drawingml/2006/main">
            <a:off x="609600" y="3438525"/>
            <a:ext cx="6191250" cy="4286250"/>
            <a:chOff x="609600" y="3438525"/>
            <a:chExt cx="6191250" cy="4286250"/>
          </a:xfrm>
        </p:grpSpPr>
        <p:sp>
          <p:nvSpPr>
            <p:cNvPr id="8" name="C23-1--chapter-number--8">
              <a:extLst xmlns:a="http://schemas.openxmlformats.org/drawingml/2006/main">
                <a:ext uri="{FF2B5EF4-FFF2-40B4-BE49-F238E27FC236}">
                  <a16:creationId xmlns:a16="http://schemas.microsoft.com/office/drawing/2014/main" id="{4D2D8CEB-85DA-4D2C-A224-8AB57CB381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" y="3438525"/>
              <a:ext cx="1619250" cy="1000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60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60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60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9" name="C23-1--chapter-rule--9">
              <a:extLst xmlns:a="http://schemas.openxmlformats.org/drawingml/2006/main">
                <a:ext uri="{FF2B5EF4-FFF2-40B4-BE49-F238E27FC236}">
                  <a16:creationId xmlns:a16="http://schemas.microsoft.com/office/drawing/2014/main" id="{8F025C6A-5F23-4B70-B551-5E31FB894F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2552700" y="3800475"/>
              <a:ext cx="42481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gradFill>
                <a:gsLst>
                  <a:gs pos="0">
                    <a:srgbClr val="FF2D12"/>
                  </a:gs>
                  <a:gs pos="35000">
                    <a:srgbClr val="FF771C"/>
                  </a:gs>
                  <a:gs pos="70000">
                    <a:srgbClr val="FFB85E"/>
                  </a:gs>
                  <a:gs pos="100000">
                    <a:srgbClr val="D2C4B5"/>
                  </a:gs>
                </a:gsLst>
                <a:lin ang="0"/>
              </a:gradFill>
              <a:prstDash val="solid"/>
            </a:ln>
          </p:spPr>
        </p:sp>
        <p:sp>
          <p:nvSpPr>
            <p:cNvPr id="10" name="C23-1--chapter-title--10">
              <a:extLst xmlns:a="http://schemas.openxmlformats.org/drawingml/2006/main">
                <a:ext uri="{FF2B5EF4-FFF2-40B4-BE49-F238E27FC236}">
                  <a16:creationId xmlns:a16="http://schemas.microsoft.com/office/drawing/2014/main" id="{2968B013-3CFC-4BB7-BA3B-61D0C2A806F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" y="4953000"/>
              <a:ext cx="6191250" cy="1295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协作任务练习</a:t>
              </a:r>
            </a:p>
          </p:txBody>
        </p:sp>
        <p:sp>
          <p:nvSpPr>
            <p:cNvPr id="11" name="C23-1--chapter-subtitle--11">
              <a:extLst xmlns:a="http://schemas.openxmlformats.org/drawingml/2006/main">
                <a:ext uri="{FF2B5EF4-FFF2-40B4-BE49-F238E27FC236}">
                  <a16:creationId xmlns:a16="http://schemas.microsoft.com/office/drawing/2014/main" id="{50E3FBFE-FE3D-4A93-9DAE-F959261CFE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8650" y="6572250"/>
              <a:ext cx="6153150" cy="1095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以低风险文字任务为例，学习如何定义完成。</a:t>
              </a:r>
            </a:p>
          </p:txBody>
        </p:sp>
      </p:grpSp>
      <p:grpSp>
        <p:nvGrpSpPr>
          <p:cNvPr id="28" name="C13-1"/>
          <p:cNvGrpSpPr/>
          <p:nvPr/>
        </p:nvGrpSpPr>
        <p:grpSpPr>
          <a:xfrm xmlns:a="http://schemas.openxmlformats.org/drawingml/2006/main">
            <a:off x="7524750" y="3371850"/>
            <a:ext cx="7943850" cy="4572000"/>
            <a:chOff x="7524750" y="3371850"/>
            <a:chExt cx="7943850" cy="4572000"/>
          </a:xfrm>
        </p:grpSpPr>
        <p:sp>
          <p:nvSpPr>
            <p:cNvPr id="12" name="C13-1--agenda-row--12">
              <a:extLst xmlns:a="http://schemas.openxmlformats.org/drawingml/2006/main">
                <a:ext uri="{FF2B5EF4-FFF2-40B4-BE49-F238E27FC236}">
                  <a16:creationId xmlns:a16="http://schemas.microsoft.com/office/drawing/2014/main" id="{640B105F-0EDC-43D7-981A-5A552D73BB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24750" y="3371850"/>
              <a:ext cx="7943850" cy="1447800"/>
            </a:xfrm>
            <a:prstGeom xmlns:a="http://schemas.openxmlformats.org/drawingml/2006/main" prst="roundRect">
              <a:avLst>
                <a:gd name="adj" fmla="val 1052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3" name="C13-1--agenda-index--13">
              <a:extLst xmlns:a="http://schemas.openxmlformats.org/drawingml/2006/main">
                <a:ext uri="{FF2B5EF4-FFF2-40B4-BE49-F238E27FC236}">
                  <a16:creationId xmlns:a16="http://schemas.microsoft.com/office/drawing/2014/main" id="{B6C29B61-C101-4FE4-AD8A-C75AFEDA11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53350" y="3524250"/>
              <a:ext cx="666750" cy="1257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2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2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2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4" name="C13-1--agenda-title--14">
              <a:extLst xmlns:a="http://schemas.openxmlformats.org/drawingml/2006/main">
                <a:ext uri="{FF2B5EF4-FFF2-40B4-BE49-F238E27FC236}">
                  <a16:creationId xmlns:a16="http://schemas.microsoft.com/office/drawing/2014/main" id="{6F29E017-9CD2-40A5-8B1B-907B9961CE6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91550" y="3533775"/>
              <a:ext cx="2542032" cy="1257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理解范围</a:t>
              </a:r>
            </a:p>
          </p:txBody>
        </p:sp>
        <p:sp>
          <p:nvSpPr>
            <p:cNvPr id="15" name="C13-1--agenda-description--15">
              <a:extLst xmlns:a="http://schemas.openxmlformats.org/drawingml/2006/main">
                <a:ext uri="{FF2B5EF4-FFF2-40B4-BE49-F238E27FC236}">
                  <a16:creationId xmlns:a16="http://schemas.microsoft.com/office/drawing/2014/main" id="{E3C4DFDC-0B12-4D0B-95C6-48192E5C8D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20044" y="3562350"/>
              <a:ext cx="4210241" cy="12287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说出本节讨论对象</a:t>
              </a:r>
            </a:p>
          </p:txBody>
        </p:sp>
        <p:sp>
          <p:nvSpPr>
            <p:cNvPr id="16" name="C13-1--agenda-row--16">
              <a:extLst xmlns:a="http://schemas.openxmlformats.org/drawingml/2006/main">
                <a:ext uri="{FF2B5EF4-FFF2-40B4-BE49-F238E27FC236}">
                  <a16:creationId xmlns:a16="http://schemas.microsoft.com/office/drawing/2014/main" id="{25BD003C-4CB3-483B-8CC3-77F4B82CE2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24750" y="4933950"/>
              <a:ext cx="7943850" cy="1447800"/>
            </a:xfrm>
            <a:prstGeom xmlns:a="http://schemas.openxmlformats.org/drawingml/2006/main" prst="roundRect">
              <a:avLst>
                <a:gd name="adj" fmla="val 1052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7" name="C13-1--agenda-index--17">
              <a:extLst xmlns:a="http://schemas.openxmlformats.org/drawingml/2006/main">
                <a:ext uri="{FF2B5EF4-FFF2-40B4-BE49-F238E27FC236}">
                  <a16:creationId xmlns:a16="http://schemas.microsoft.com/office/drawing/2014/main" id="{7ECBAFD4-5CE9-49A9-A8B7-AB0C04442A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53350" y="5086350"/>
              <a:ext cx="666750" cy="1257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250" b="1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250" b="1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250" b="1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8" name="C13-1--agenda-title--18">
              <a:extLst xmlns:a="http://schemas.openxmlformats.org/drawingml/2006/main">
                <a:ext uri="{FF2B5EF4-FFF2-40B4-BE49-F238E27FC236}">
                  <a16:creationId xmlns:a16="http://schemas.microsoft.com/office/drawing/2014/main" id="{79926D27-0860-4A83-B825-482673FEB8E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91550" y="5095875"/>
              <a:ext cx="2542032" cy="1257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写清任务</a:t>
              </a:r>
            </a:p>
          </p:txBody>
        </p:sp>
        <p:sp>
          <p:nvSpPr>
            <p:cNvPr id="19" name="C13-1--agenda-description--19">
              <a:extLst xmlns:a="http://schemas.openxmlformats.org/drawingml/2006/main">
                <a:ext uri="{FF2B5EF4-FFF2-40B4-BE49-F238E27FC236}">
                  <a16:creationId xmlns:a16="http://schemas.microsoft.com/office/drawing/2014/main" id="{E8E0000F-DBE0-4F7C-95C4-74235B668E7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20044" y="5124450"/>
              <a:ext cx="4210241" cy="12287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补充材料与完成标准</a:t>
              </a:r>
            </a:p>
          </p:txBody>
        </p:sp>
        <p:sp>
          <p:nvSpPr>
            <p:cNvPr id="20" name="C13-1--agenda-row--20">
              <a:extLst xmlns:a="http://schemas.openxmlformats.org/drawingml/2006/main">
                <a:ext uri="{FF2B5EF4-FFF2-40B4-BE49-F238E27FC236}">
                  <a16:creationId xmlns:a16="http://schemas.microsoft.com/office/drawing/2014/main" id="{59847AB1-96B0-4B96-AEF8-76CD6ACFB04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24750" y="6496050"/>
              <a:ext cx="7943850" cy="1447800"/>
            </a:xfrm>
            <a:prstGeom xmlns:a="http://schemas.openxmlformats.org/drawingml/2006/main" prst="roundRect">
              <a:avLst>
                <a:gd name="adj" fmla="val 1052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1" name="C13-1--agenda-index--21">
              <a:extLst xmlns:a="http://schemas.openxmlformats.org/drawingml/2006/main">
                <a:ext uri="{FF2B5EF4-FFF2-40B4-BE49-F238E27FC236}">
                  <a16:creationId xmlns:a16="http://schemas.microsoft.com/office/drawing/2014/main" id="{5538E31F-F5B7-48D1-B046-AD894710DF1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53350" y="6648450"/>
              <a:ext cx="666750" cy="1257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250" b="1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250" b="1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250" b="1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22" name="C13-1--agenda-title--22">
              <a:extLst xmlns:a="http://schemas.openxmlformats.org/drawingml/2006/main">
                <a:ext uri="{FF2B5EF4-FFF2-40B4-BE49-F238E27FC236}">
                  <a16:creationId xmlns:a16="http://schemas.microsoft.com/office/drawing/2014/main" id="{E2B256CF-7A7D-45EA-896A-B675EC27BE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91550" y="6657975"/>
              <a:ext cx="2542032" cy="1257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交换检查</a:t>
              </a:r>
            </a:p>
          </p:txBody>
        </p:sp>
        <p:sp>
          <p:nvSpPr>
            <p:cNvPr id="23" name="C13-1--agenda-description--23">
              <a:extLst xmlns:a="http://schemas.openxmlformats.org/drawingml/2006/main">
                <a:ext uri="{FF2B5EF4-FFF2-40B4-BE49-F238E27FC236}">
                  <a16:creationId xmlns:a16="http://schemas.microsoft.com/office/drawing/2014/main" id="{E3505A8D-17F9-49D5-B0EE-2D76310EEA1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20044" y="6686550"/>
              <a:ext cx="4210241" cy="12287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指出一项待澄清内容</a:t>
              </a:r>
            </a:p>
          </p:txBody>
        </p:sp>
      </p:grpSp>
      <p:sp>
        <p:nvSpPr>
          <p:cNvPr id="24" name="chrome--footer-rule--24">
            <a:extLst xmlns:a="http://schemas.openxmlformats.org/drawingml/2006/main">
              <a:ext uri="{FF2B5EF4-FFF2-40B4-BE49-F238E27FC236}">
                <a16:creationId xmlns:a16="http://schemas.microsoft.com/office/drawing/2014/main" id="{FF57B622-BFCE-42D8-BC59-F5FEAFE8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25" name="chrome--footer--25">
            <a:extLst xmlns:a="http://schemas.openxmlformats.org/drawingml/2006/main">
              <a:ext uri="{FF2B5EF4-FFF2-40B4-BE49-F238E27FC236}">
                <a16:creationId xmlns:a16="http://schemas.microsoft.com/office/drawing/2014/main" id="{420DCE92-80CC-4AE4-AB1B-230F3834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教学示例。学习目标通过任务说明和同伴检查结果评估。</a:t>
            </a:r>
          </a:p>
        </p:txBody>
      </p:sp>
    </p:spTree>
    <p:extLst>
      <p:ext uri="{BB962C8B-B14F-4D97-AF65-F5344CB8AC3E}">
        <p14:creationId xmlns:p14="http://schemas.microsoft.com/office/powerpoint/2010/main" val="7258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675566D7-8DD9-4B87-A245-39C73647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BA692BDD-0782-4F54-9F93-D77EDC11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E46F5667-144D-419F-BB8C-20E67FFA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98435C65-D833-46A6-972D-022E69DD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DC4BF746-88B0-4663-A84B-F28F9EF2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培训 / 概念解释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E57023BF-14E0-42DC-BDD8-339F1C79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4255559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AI、机器学习与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FABEC2A2-D54D-44C2-BD8F-E9DF8109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659" y="1676400"/>
            <a:ext cx="2469116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深度学习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12AA94F9-D81E-428E-846D-EC19C8CB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先理解概念的范围关系，再明确本次学习聚焦的对象。</a:t>
            </a:r>
          </a:p>
        </p:txBody>
      </p:sp>
      <p:grpSp>
        <p:nvGrpSpPr>
          <p:cNvPr id="34" name="C09-1"/>
          <p:cNvGrpSpPr/>
          <p:nvPr/>
        </p:nvGrpSpPr>
        <p:grpSpPr>
          <a:xfrm xmlns:a="http://schemas.openxmlformats.org/drawingml/2006/main">
            <a:off x="457200" y="3343275"/>
            <a:ext cx="9429750" cy="4619625"/>
            <a:chOff x="457200" y="3343275"/>
            <a:chExt cx="9429750" cy="4619625"/>
          </a:xfrm>
        </p:grpSpPr>
        <p:sp>
          <p:nvSpPr>
            <p:cNvPr id="9" name="C09-1--nested-layer--9">
              <a:extLst xmlns:a="http://schemas.openxmlformats.org/drawingml/2006/main">
                <a:ext uri="{FF2B5EF4-FFF2-40B4-BE49-F238E27FC236}">
                  <a16:creationId xmlns:a16="http://schemas.microsoft.com/office/drawing/2014/main" id="{5D8E23E5-0132-4C17-892C-CC49CC19139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343275"/>
              <a:ext cx="9429750" cy="4619625"/>
            </a:xfrm>
            <a:prstGeom xmlns:a="http://schemas.openxmlformats.org/drawingml/2006/main" prst="roundRect">
              <a:avLst>
                <a:gd name="adj" fmla="val 4948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0" name="C09-1--nested-title--10">
              <a:extLst xmlns:a="http://schemas.openxmlformats.org/drawingml/2006/main">
                <a:ext uri="{FF2B5EF4-FFF2-40B4-BE49-F238E27FC236}">
                  <a16:creationId xmlns:a16="http://schemas.microsoft.com/office/drawing/2014/main" id="{DFE45E58-FD93-42C4-B190-5E47796549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" y="3552825"/>
              <a:ext cx="1561393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人工智能 AI</a:t>
              </a:r>
            </a:p>
          </p:txBody>
        </p:sp>
        <p:sp>
          <p:nvSpPr>
            <p:cNvPr id="11" name="C09-1--nested-body--11">
              <a:extLst xmlns:a="http://schemas.openxmlformats.org/drawingml/2006/main">
                <a:ext uri="{FF2B5EF4-FFF2-40B4-BE49-F238E27FC236}">
                  <a16:creationId xmlns:a16="http://schemas.microsoft.com/office/drawing/2014/main" id="{DD6A2D77-17A7-42A1-B252-878CABFF788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56743" y="3629025"/>
              <a:ext cx="7163507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涉及让系统完成需要智能的任务</a:t>
              </a:r>
            </a:p>
          </p:txBody>
        </p:sp>
        <p:sp>
          <p:nvSpPr>
            <p:cNvPr id="12" name="C09-1--nested-layer--12">
              <a:extLst xmlns:a="http://schemas.openxmlformats.org/drawingml/2006/main">
                <a:ext uri="{FF2B5EF4-FFF2-40B4-BE49-F238E27FC236}">
                  <a16:creationId xmlns:a16="http://schemas.microsoft.com/office/drawing/2014/main" id="{AE2F5C16-04FC-4CDF-996A-A37B74CC7A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" y="4286250"/>
              <a:ext cx="8934450" cy="3467100"/>
            </a:xfrm>
            <a:prstGeom xmlns:a="http://schemas.openxmlformats.org/drawingml/2006/main" prst="roundRect">
              <a:avLst>
                <a:gd name="adj" fmla="val 6593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3" name="C09-1--nested-title--13">
              <a:extLst xmlns:a="http://schemas.openxmlformats.org/drawingml/2006/main">
                <a:ext uri="{FF2B5EF4-FFF2-40B4-BE49-F238E27FC236}">
                  <a16:creationId xmlns:a16="http://schemas.microsoft.com/office/drawing/2014/main" id="{8CE5A571-9DD0-458E-9052-943E085F34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52500" y="4495800"/>
              <a:ext cx="1727956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机器学习 ML</a:t>
              </a:r>
            </a:p>
          </p:txBody>
        </p:sp>
        <p:sp>
          <p:nvSpPr>
            <p:cNvPr id="14" name="C09-1--nested-body--14">
              <a:extLst xmlns:a="http://schemas.openxmlformats.org/drawingml/2006/main">
                <a:ext uri="{FF2B5EF4-FFF2-40B4-BE49-F238E27FC236}">
                  <a16:creationId xmlns:a16="http://schemas.microsoft.com/office/drawing/2014/main" id="{49E3F802-C255-4641-AE9B-B08F8CCE18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70956" y="4572000"/>
              <a:ext cx="6501644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通过数据学习规律的方法</a:t>
              </a:r>
            </a:p>
          </p:txBody>
        </p:sp>
        <p:sp>
          <p:nvSpPr>
            <p:cNvPr id="15" name="C09-1--nested-layer--15">
              <a:extLst xmlns:a="http://schemas.openxmlformats.org/drawingml/2006/main">
                <a:ext uri="{FF2B5EF4-FFF2-40B4-BE49-F238E27FC236}">
                  <a16:creationId xmlns:a16="http://schemas.microsoft.com/office/drawing/2014/main" id="{E07F148E-8B72-4373-B13E-3C649F57E1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52500" y="5229225"/>
              <a:ext cx="8439150" cy="2314575"/>
            </a:xfrm>
            <a:prstGeom xmlns:a="http://schemas.openxmlformats.org/drawingml/2006/main" prst="roundRect">
              <a:avLst>
                <a:gd name="adj" fmla="val 9877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6" name="C09-1--nested-title--16">
              <a:extLst xmlns:a="http://schemas.openxmlformats.org/drawingml/2006/main">
                <a:ext uri="{FF2B5EF4-FFF2-40B4-BE49-F238E27FC236}">
                  <a16:creationId xmlns:a16="http://schemas.microsoft.com/office/drawing/2014/main" id="{DFB183EB-5054-4AF7-A8B8-BE26B689F0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0150" y="5438775"/>
              <a:ext cx="1664107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深度学习 DL</a:t>
              </a:r>
            </a:p>
          </p:txBody>
        </p:sp>
        <p:sp>
          <p:nvSpPr>
            <p:cNvPr id="17" name="C09-1--nested-body--17">
              <a:extLst xmlns:a="http://schemas.openxmlformats.org/drawingml/2006/main">
                <a:ext uri="{FF2B5EF4-FFF2-40B4-BE49-F238E27FC236}">
                  <a16:creationId xmlns:a16="http://schemas.microsoft.com/office/drawing/2014/main" id="{89D8926D-9307-4498-9684-804F16FF56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54757" y="5514975"/>
              <a:ext cx="6070193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以多层神经网络学习表示</a:t>
              </a:r>
            </a:p>
          </p:txBody>
        </p:sp>
        <p:sp>
          <p:nvSpPr>
            <p:cNvPr id="18" name="C09-1--nested-layer--18">
              <a:extLst xmlns:a="http://schemas.openxmlformats.org/drawingml/2006/main">
                <a:ext uri="{FF2B5EF4-FFF2-40B4-BE49-F238E27FC236}">
                  <a16:creationId xmlns:a16="http://schemas.microsoft.com/office/drawing/2014/main" id="{3326571F-7009-4E76-9130-80B5AB8F7A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0150" y="6172200"/>
              <a:ext cx="7943850" cy="1162050"/>
            </a:xfrm>
            <a:prstGeom xmlns:a="http://schemas.openxmlformats.org/drawingml/2006/main" prst="roundRect">
              <a:avLst>
                <a:gd name="adj" fmla="val 19672"/>
              </a:avLst>
            </a:prstGeom>
            <a:gradFill xmlns:a="http://schemas.openxmlformats.org/drawingml/2006/main">
              <a:gsLst>
                <a:gs pos="0">
                  <a:srgbClr val="FFB456"/>
                </a:gs>
                <a:gs pos="32000">
                  <a:srgbClr val="FF7800"/>
                </a:gs>
                <a:gs pos="68000">
                  <a:srgbClr val="FF3D12"/>
                </a:gs>
                <a:gs pos="100000">
                  <a:srgbClr val="F21916"/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9" name="C09-1--nested-title--19">
              <a:extLst xmlns:a="http://schemas.openxmlformats.org/drawingml/2006/main">
                <a:ext uri="{FF2B5EF4-FFF2-40B4-BE49-F238E27FC236}">
                  <a16:creationId xmlns:a16="http://schemas.microsoft.com/office/drawing/2014/main" id="{F3C8F4E6-00A1-4859-9123-816E3B43E19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47800" y="6381750"/>
              <a:ext cx="744855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4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4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大模型（示例）</a:t>
              </a:r>
            </a:p>
          </p:txBody>
        </p:sp>
        <p:sp>
          <p:nvSpPr>
            <p:cNvPr id="20" name="C09-1--nested-body--20">
              <a:extLst xmlns:a="http://schemas.openxmlformats.org/drawingml/2006/main">
                <a:ext uri="{FF2B5EF4-FFF2-40B4-BE49-F238E27FC236}">
                  <a16:creationId xmlns:a16="http://schemas.microsoft.com/office/drawing/2014/main" id="{122A279A-87C6-4EA7-BEFD-E0976E3789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47800" y="6867525"/>
              <a:ext cx="744855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本次聚焦：任务表达与结果检查</a:t>
              </a:r>
            </a:p>
          </p:txBody>
        </p:sp>
      </p:grpSp>
      <p:grpSp>
        <p:nvGrpSpPr>
          <p:cNvPr id="35" name="C11-1"/>
          <p:cNvGrpSpPr/>
          <p:nvPr/>
        </p:nvGrpSpPr>
        <p:grpSpPr>
          <a:xfrm xmlns:a="http://schemas.openxmlformats.org/drawingml/2006/main">
            <a:off x="10325100" y="3343275"/>
            <a:ext cx="5143500" cy="3181350"/>
            <a:chOff x="10325100" y="3343275"/>
            <a:chExt cx="5143500" cy="3181350"/>
          </a:xfrm>
        </p:grpSpPr>
        <p:sp>
          <p:nvSpPr>
            <p:cNvPr id="21" name="C11-1--evidence-surface--21">
              <a:extLst xmlns:a="http://schemas.openxmlformats.org/drawingml/2006/main">
                <a:ext uri="{FF2B5EF4-FFF2-40B4-BE49-F238E27FC236}">
                  <a16:creationId xmlns:a16="http://schemas.microsoft.com/office/drawing/2014/main" id="{937E8672-8DC3-4B92-AC30-429190638A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25100" y="3343275"/>
              <a:ext cx="5143500" cy="3181350"/>
            </a:xfrm>
            <a:prstGeom xmlns:a="http://schemas.openxmlformats.org/drawingml/2006/main" prst="roundRect">
              <a:avLst>
                <a:gd name="adj" fmla="val 718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2" name="C11-1--evidence-anchor--22">
              <a:extLst xmlns:a="http://schemas.openxmlformats.org/drawingml/2006/main">
                <a:ext uri="{FF2B5EF4-FFF2-40B4-BE49-F238E27FC236}">
                  <a16:creationId xmlns:a16="http://schemas.microsoft.com/office/drawing/2014/main" id="{D0B60FAE-4B98-4D78-BDE6-FA9703C2901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63225" y="3619500"/>
              <a:ext cx="438150" cy="438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3" name="C11-1--evidence-number--23">
              <a:extLst xmlns:a="http://schemas.openxmlformats.org/drawingml/2006/main">
                <a:ext uri="{FF2B5EF4-FFF2-40B4-BE49-F238E27FC236}">
                  <a16:creationId xmlns:a16="http://schemas.microsoft.com/office/drawing/2014/main" id="{64A2893B-9CB6-4796-8F51-C8BDBB14701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01325" y="3714750"/>
              <a:ext cx="36195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4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4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4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24" name="C11-1--evidence-claim--24">
              <a:extLst xmlns:a="http://schemas.openxmlformats.org/drawingml/2006/main">
                <a:ext uri="{FF2B5EF4-FFF2-40B4-BE49-F238E27FC236}">
                  <a16:creationId xmlns:a16="http://schemas.microsoft.com/office/drawing/2014/main" id="{6EB83B83-361A-4791-BC4F-EA978E6975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191875" y="3609975"/>
              <a:ext cx="4000500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关注概念的范围关系</a:t>
              </a:r>
            </a:p>
          </p:txBody>
        </p:sp>
        <p:sp>
          <p:nvSpPr>
            <p:cNvPr id="25" name="C11-1--evidence-separator--25">
              <a:extLst xmlns:a="http://schemas.openxmlformats.org/drawingml/2006/main">
                <a:ext uri="{FF2B5EF4-FFF2-40B4-BE49-F238E27FC236}">
                  <a16:creationId xmlns:a16="http://schemas.microsoft.com/office/drawing/2014/main" id="{7002EC7A-8E0A-4B47-8625-ACD1CB9F692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0601325" y="4514850"/>
              <a:ext cx="45910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26" name="C11-1--evidence-basis-label--26">
              <a:extLst xmlns:a="http://schemas.openxmlformats.org/drawingml/2006/main">
                <a:ext uri="{FF2B5EF4-FFF2-40B4-BE49-F238E27FC236}">
                  <a16:creationId xmlns:a16="http://schemas.microsoft.com/office/drawing/2014/main" id="{2E2F77F0-1CED-4663-9CB2-CDD684D4BB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01325" y="4733925"/>
              <a:ext cx="6096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4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4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4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口径</a:t>
              </a:r>
            </a:p>
          </p:txBody>
        </p:sp>
        <p:sp>
          <p:nvSpPr>
            <p:cNvPr id="27" name="C11-1--evidence-basis--27">
              <a:extLst xmlns:a="http://schemas.openxmlformats.org/drawingml/2006/main">
                <a:ext uri="{FF2B5EF4-FFF2-40B4-BE49-F238E27FC236}">
                  <a16:creationId xmlns:a16="http://schemas.microsoft.com/office/drawing/2014/main" id="{75E6D7D4-7DC7-43C3-B1BA-4B05FB5AFA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372850" y="4695825"/>
              <a:ext cx="3810000" cy="990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本图只展示一条用于学习的简化路径，</a:t>
              </a:r>
            </a:p>
            <a:p xmlns:a="http://schemas.openxmlformats.org/drawingml/2006/main">
              <a: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不能代表人工智能技术的完整分类。</a:t>
              </a:r>
            </a:p>
          </p:txBody>
        </p:sp>
        <p:sp>
          <p:nvSpPr>
            <p:cNvPr id="28" name="C11-1--evidence-source--28">
              <a:extLst xmlns:a="http://schemas.openxmlformats.org/drawingml/2006/main">
                <a:ext uri="{FF2B5EF4-FFF2-40B4-BE49-F238E27FC236}">
                  <a16:creationId xmlns:a16="http://schemas.microsoft.com/office/drawing/2014/main" id="{32BB26F3-2B26-4FFD-B2F2-C56D985235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01325" y="5915025"/>
              <a:ext cx="4591050" cy="409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来源：教学概念示意</a:t>
              </a:r>
            </a:p>
          </p:txBody>
        </p:sp>
      </p:grpSp>
      <p:grpSp>
        <p:nvGrpSpPr>
          <p:cNvPr id="36" name="C03-1"/>
          <p:cNvGrpSpPr/>
          <p:nvPr/>
        </p:nvGrpSpPr>
        <p:grpSpPr>
          <a:xfrm xmlns:a="http://schemas.openxmlformats.org/drawingml/2006/main">
            <a:off x="10325100" y="6753225"/>
            <a:ext cx="5143500" cy="1209675"/>
            <a:chOff x="10325100" y="6753225"/>
            <a:chExt cx="5143500" cy="1209675"/>
          </a:xfrm>
        </p:grpSpPr>
        <p:sp>
          <p:nvSpPr>
            <p:cNvPr id="29" name="C03-1--surface--29">
              <a:extLst xmlns:a="http://schemas.openxmlformats.org/drawingml/2006/main">
                <a:ext uri="{FF2B5EF4-FFF2-40B4-BE49-F238E27FC236}">
                  <a16:creationId xmlns:a16="http://schemas.microsoft.com/office/drawing/2014/main" id="{CCDA5DFA-1195-41D9-863A-B813B5A343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25100" y="6753225"/>
              <a:ext cx="5143500" cy="1209675"/>
            </a:xfrm>
            <a:prstGeom xmlns:a="http://schemas.openxmlformats.org/drawingml/2006/main" prst="roundRect">
              <a:avLst>
                <a:gd name="adj" fmla="val 18898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30" name="C03-1--surface-body--30">
              <a:extLst xmlns:a="http://schemas.openxmlformats.org/drawingml/2006/main">
                <a:ext uri="{FF2B5EF4-FFF2-40B4-BE49-F238E27FC236}">
                  <a16:creationId xmlns:a16="http://schemas.microsoft.com/office/drawing/2014/main" id="{161D540C-8704-45FD-95A4-5844228C31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91800" y="7115175"/>
              <a:ext cx="46101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学习目标：解释范围关系，并说出一个大</a:t>
              </a:r>
            </a:p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模型协作任务。</a:t>
              </a:r>
            </a:p>
          </p:txBody>
        </p:sp>
      </p:grpSp>
      <p:sp>
        <p:nvSpPr>
          <p:cNvPr id="31" name="chrome--footer-rule--31">
            <a:extLst xmlns:a="http://schemas.openxmlformats.org/drawingml/2006/main">
              <a:ext uri="{FF2B5EF4-FFF2-40B4-BE49-F238E27FC236}">
                <a16:creationId xmlns:a16="http://schemas.microsoft.com/office/drawing/2014/main" id="{2D1F7015-6219-49DF-B996-1E327A4C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32" name="chrome--footer--32">
            <a:extLst xmlns:a="http://schemas.openxmlformats.org/drawingml/2006/main">
              <a:ext uri="{FF2B5EF4-FFF2-40B4-BE49-F238E27FC236}">
                <a16:creationId xmlns:a16="http://schemas.microsoft.com/office/drawing/2014/main" id="{7A9BAE08-2775-400D-B13C-2B8692A4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简化教学示意。这里讨论以深度学习为基础的大模型，并非完整技术分类图。</a:t>
            </a:r>
          </a:p>
        </p:txBody>
      </p:sp>
    </p:spTree>
    <p:extLst>
      <p:ext uri="{BB962C8B-B14F-4D97-AF65-F5344CB8AC3E}">
        <p14:creationId xmlns:p14="http://schemas.microsoft.com/office/powerpoint/2010/main" val="16844859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E86C95-5AD2-44F9-88E9-A6B9782D8205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0198100" y="54292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B4AE22-90B4-4746-832B-BCB3A2FBCF6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927600" y="54292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sp>
        <p:nvSpPr>
          <p:cNvPr id="24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254A5E67-FD35-472D-98BD-49A4004A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6657CE75-BA97-45A0-96A8-674326FC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E8B58716-91A6-4F09-BE18-FA4FD824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4A067C77-0C08-497A-A3F1-F97B2F6F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BBEC700F-CF25-4B2C-B12D-B41EC3C8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培训 / 示例拆解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153523E6-D5CA-43FA-84C6-FC08ABD5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5011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协作任务的输入与交付物</a:t>
            </a:r>
          </a:p>
        </p:txBody>
      </p:sp>
      <p:sp>
        <p:nvSpPr>
          <p:cNvPr id="7" name="chrome--page-subtitle--7">
            <a:extLst xmlns:a="http://schemas.openxmlformats.org/drawingml/2006/main">
              <a:ext uri="{FF2B5EF4-FFF2-40B4-BE49-F238E27FC236}">
                <a16:creationId xmlns:a16="http://schemas.microsoft.com/office/drawing/2014/main" id="{603F8538-00FA-4568-9CD6-C8AEE238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先定义材料范围，再说明处理方式与输出标准。</a:t>
            </a:r>
          </a:p>
        </p:txBody>
      </p:sp>
      <p:grpSp>
        <p:nvGrpSpPr>
          <p:cNvPr id="25" name="C19-1"/>
          <p:cNvGrpSpPr/>
          <p:nvPr/>
        </p:nvGrpSpPr>
        <p:grpSpPr>
          <a:xfrm xmlns:a="http://schemas.openxmlformats.org/drawingml/2006/main">
            <a:off x="457200" y="3476625"/>
            <a:ext cx="15011400" cy="3905250"/>
            <a:chOff x="457200" y="3476625"/>
            <a:chExt cx="15011400" cy="3905250"/>
          </a:xfrm>
        </p:grpSpPr>
        <p:sp>
          <p:nvSpPr>
            <p:cNvPr id="8" name="C19-1--io-surface--8">
              <a:extLst xmlns:a="http://schemas.openxmlformats.org/drawingml/2006/main">
                <a:ext uri="{FF2B5EF4-FFF2-40B4-BE49-F238E27FC236}">
                  <a16:creationId xmlns:a16="http://schemas.microsoft.com/office/drawing/2014/main" id="{DDCB252B-6DA4-43F1-BE4F-4B529C0130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476625"/>
              <a:ext cx="4470400" cy="3905250"/>
            </a:xfrm>
            <a:prstGeom xmlns:a="http://schemas.openxmlformats.org/drawingml/2006/main" prst="roundRect">
              <a:avLst>
                <a:gd name="adj" fmla="val 5854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9" name="C19-1--io-type--9">
              <a:extLst xmlns:a="http://schemas.openxmlformats.org/drawingml/2006/main">
                <a:ext uri="{FF2B5EF4-FFF2-40B4-BE49-F238E27FC236}">
                  <a16:creationId xmlns:a16="http://schemas.microsoft.com/office/drawing/2014/main" id="{9EC32148-79FE-40E4-AF6C-E03B9DB1EFB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3705225"/>
              <a:ext cx="40132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输入</a:t>
              </a:r>
            </a:p>
          </p:txBody>
        </p:sp>
        <p:sp>
          <p:nvSpPr>
            <p:cNvPr id="10" name="C19-1--io-title--10">
              <a:extLst xmlns:a="http://schemas.openxmlformats.org/drawingml/2006/main">
                <a:ext uri="{FF2B5EF4-FFF2-40B4-BE49-F238E27FC236}">
                  <a16:creationId xmlns:a16="http://schemas.microsoft.com/office/drawing/2014/main" id="{CDB4E1AA-B3C5-480E-8E9D-BE92B56A44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4305300"/>
              <a:ext cx="4013200" cy="781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项目记录</a:t>
              </a:r>
            </a:p>
          </p:txBody>
        </p:sp>
        <p:sp>
          <p:nvSpPr>
            <p:cNvPr id="11" name="C19-1--io-body--11">
              <a:extLst xmlns:a="http://schemas.openxmlformats.org/drawingml/2006/main">
                <a:ext uri="{FF2B5EF4-FFF2-40B4-BE49-F238E27FC236}">
                  <a16:creationId xmlns:a16="http://schemas.microsoft.com/office/drawing/2014/main" id="{20591441-8E82-4F6E-8147-48C42E49B3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5362575"/>
              <a:ext cx="4013200" cy="1771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经确认的进展与问题</a:t>
              </a:r>
            </a:p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允许使用的参考文件</a:t>
              </a:r>
            </a:p>
          </p:txBody>
        </p:sp>
        <p:sp>
          <p:nvSpPr>
            <p:cNvPr id="12" name="C19-1--io-surface--12">
              <a:extLst xmlns:a="http://schemas.openxmlformats.org/drawingml/2006/main">
                <a:ext uri="{FF2B5EF4-FFF2-40B4-BE49-F238E27FC236}">
                  <a16:creationId xmlns:a16="http://schemas.microsoft.com/office/drawing/2014/main" id="{06E89C47-194C-4E46-9E73-0AC6752DF10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27700" y="3476625"/>
              <a:ext cx="4470400" cy="3905250"/>
            </a:xfrm>
            <a:prstGeom xmlns:a="http://schemas.openxmlformats.org/drawingml/2006/main" prst="roundRect">
              <a:avLst>
                <a:gd name="adj" fmla="val 5854"/>
              </a:avLst>
            </a:prstGeom>
            <a:gradFill xmlns:a="http://schemas.openxmlformats.org/drawingml/2006/main">
              <a:gsLst>
                <a:gs pos="0">
                  <a:srgbClr val="FFB456"/>
                </a:gs>
                <a:gs pos="32000">
                  <a:srgbClr val="FF7800"/>
                </a:gs>
                <a:gs pos="68000">
                  <a:srgbClr val="FF3D12"/>
                </a:gs>
                <a:gs pos="100000">
                  <a:srgbClr val="F21916"/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3" name="C19-1--io-type--13">
              <a:extLst xmlns:a="http://schemas.openxmlformats.org/drawingml/2006/main">
                <a:ext uri="{FF2B5EF4-FFF2-40B4-BE49-F238E27FC236}">
                  <a16:creationId xmlns:a16="http://schemas.microsoft.com/office/drawing/2014/main" id="{8677E0A7-E145-47CD-B9E9-3C8304E86BF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56300" y="3705225"/>
              <a:ext cx="40132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处理</a:t>
              </a:r>
            </a:p>
          </p:txBody>
        </p:sp>
        <p:sp>
          <p:nvSpPr>
            <p:cNvPr id="14" name="C19-1--io-title--14">
              <a:extLst xmlns:a="http://schemas.openxmlformats.org/drawingml/2006/main">
                <a:ext uri="{FF2B5EF4-FFF2-40B4-BE49-F238E27FC236}">
                  <a16:creationId xmlns:a16="http://schemas.microsoft.com/office/drawing/2014/main" id="{1019E61C-8C3E-4FE1-A579-240D70E5FF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56300" y="4305300"/>
              <a:ext cx="4013200" cy="781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组织说明</a:t>
              </a:r>
            </a:p>
          </p:txBody>
        </p:sp>
        <p:sp>
          <p:nvSpPr>
            <p:cNvPr id="15" name="C19-1--io-body--15">
              <a:extLst xmlns:a="http://schemas.openxmlformats.org/drawingml/2006/main">
                <a:ext uri="{FF2B5EF4-FFF2-40B4-BE49-F238E27FC236}">
                  <a16:creationId xmlns:a16="http://schemas.microsoft.com/office/drawing/2014/main" id="{2CB9F41A-AA40-4F13-ABAA-45D1BFB1A82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56300" y="5362575"/>
              <a:ext cx="4013200" cy="1771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按评审议题整理</a:t>
              </a:r>
            </a:p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保留材料依据</a:t>
              </a:r>
            </a:p>
          </p:txBody>
        </p:sp>
        <p:sp>
          <p:nvSpPr>
            <p:cNvPr id="16" name="C19-1--io-surface--16">
              <a:extLst xmlns:a="http://schemas.openxmlformats.org/drawingml/2006/main">
                <a:ext uri="{FF2B5EF4-FFF2-40B4-BE49-F238E27FC236}">
                  <a16:creationId xmlns:a16="http://schemas.microsoft.com/office/drawing/2014/main" id="{DA5BA8D3-745A-4827-AA21-4AD2C6C3039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98200" y="3476625"/>
              <a:ext cx="4470400" cy="3905250"/>
            </a:xfrm>
            <a:prstGeom xmlns:a="http://schemas.openxmlformats.org/drawingml/2006/main" prst="roundRect">
              <a:avLst>
                <a:gd name="adj" fmla="val 5854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7" name="C19-1--io-type--17">
              <a:extLst xmlns:a="http://schemas.openxmlformats.org/drawingml/2006/main">
                <a:ext uri="{FF2B5EF4-FFF2-40B4-BE49-F238E27FC236}">
                  <a16:creationId xmlns:a16="http://schemas.microsoft.com/office/drawing/2014/main" id="{3CEFDEDE-7FF2-4754-AF82-7400CB3769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26800" y="3705225"/>
              <a:ext cx="40132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输出</a:t>
              </a:r>
            </a:p>
          </p:txBody>
        </p:sp>
        <p:sp>
          <p:nvSpPr>
            <p:cNvPr id="18" name="C19-1--io-title--18">
              <a:extLst xmlns:a="http://schemas.openxmlformats.org/drawingml/2006/main">
                <a:ext uri="{FF2B5EF4-FFF2-40B4-BE49-F238E27FC236}">
                  <a16:creationId xmlns:a16="http://schemas.microsoft.com/office/drawing/2014/main" id="{DD34BED1-C675-4ABF-A104-AA084E00D8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26800" y="4305300"/>
              <a:ext cx="4013200" cy="781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评审提纲</a:t>
              </a:r>
            </a:p>
          </p:txBody>
        </p:sp>
        <p:sp>
          <p:nvSpPr>
            <p:cNvPr id="19" name="C19-1--io-body--19">
              <a:extLst xmlns:a="http://schemas.openxmlformats.org/drawingml/2006/main">
                <a:ext uri="{FF2B5EF4-FFF2-40B4-BE49-F238E27FC236}">
                  <a16:creationId xmlns:a16="http://schemas.microsoft.com/office/drawing/2014/main" id="{A3BEBFB0-53E6-42E4-8909-D2641B4557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26800" y="5362575"/>
              <a:ext cx="4013200" cy="1771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列出进展与待确认事项</a:t>
              </a:r>
            </a:p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由同伴逐项核对</a:t>
              </a:r>
            </a:p>
          </p:txBody>
        </p:sp>
      </p:grpSp>
      <p:sp>
        <p:nvSpPr>
          <p:cNvPr id="20" name="chrome--footer-rule--20">
            <a:extLst xmlns:a="http://schemas.openxmlformats.org/drawingml/2006/main">
              <a:ext uri="{FF2B5EF4-FFF2-40B4-BE49-F238E27FC236}">
                <a16:creationId xmlns:a16="http://schemas.microsoft.com/office/drawing/2014/main" id="{69E26E0C-9459-4731-B15B-9709B9FD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21" name="chrome--footer--21">
            <a:extLst xmlns:a="http://schemas.openxmlformats.org/drawingml/2006/main">
              <a:ext uri="{FF2B5EF4-FFF2-40B4-BE49-F238E27FC236}">
                <a16:creationId xmlns:a16="http://schemas.microsoft.com/office/drawing/2014/main" id="{081DDBBA-E72F-4095-959C-6A616A01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教学情境。不得为填补示例而编造事实、来源或实际项目数字。</a:t>
            </a:r>
          </a:p>
        </p:txBody>
      </p:sp>
    </p:spTree>
    <p:extLst>
      <p:ext uri="{BB962C8B-B14F-4D97-AF65-F5344CB8AC3E}">
        <p14:creationId xmlns:p14="http://schemas.microsoft.com/office/powerpoint/2010/main" val="5335984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158FE6-20BE-4367-A4CB-7F73AA2354C0}"/>
              </a:ext>
            </a:extLst>
          </p:cNvPr>
          <p:cNvCxnSpPr>
            <a:stCxn xmlns:a="http://schemas.openxmlformats.org/drawingml/2006/main" id="19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>
            <a:off x="11649075" y="4048125"/>
            <a:ext cx="2063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C3476B-81C7-4C37-8086-DA6A04D339C2}"/>
              </a:ext>
            </a:extLst>
          </p:cNvPr>
          <p:cNvCxnSpPr>
            <a:stCxn xmlns:a="http://schemas.openxmlformats.org/drawingml/2006/main" id="15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>
            <a:off x="8861425" y="4048125"/>
            <a:ext cx="2063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sp>
        <p:nvSpPr>
          <p:cNvPr id="34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91D07D08-32BA-4DF8-9FAE-1E2C8809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82489C6E-8200-4B22-8063-4845A564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02EC7C26-A869-44B7-B3DE-3B43EC10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71F6478E-96CB-4E06-B06B-87D8FDBD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0042724A-A4F2-4B5D-BC74-5EE748D6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培训 / 动手练习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06A9248D-A0B6-49DE-851F-A6DCDFBD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4890607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把模糊要求改写成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E4278042-E4F2-4F7D-B3B1-E1BBD473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707" y="1676400"/>
            <a:ext cx="1863743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可验收</a:t>
            </a:r>
          </a:p>
        </p:txBody>
      </p:sp>
      <p:sp>
        <p:nvSpPr>
          <p:cNvPr id="8" name="chrome--page-title--8">
            <a:extLst xmlns:a="http://schemas.openxmlformats.org/drawingml/2006/main">
              <a:ext uri="{FF2B5EF4-FFF2-40B4-BE49-F238E27FC236}">
                <a16:creationId xmlns:a16="http://schemas.microsoft.com/office/drawing/2014/main" id="{9ED9F879-E134-4E95-89F5-EBBD2EE4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351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9" name="chrome--page-subtitle--9">
            <a:extLst xmlns:a="http://schemas.openxmlformats.org/drawingml/2006/main">
              <a:ext uri="{FF2B5EF4-FFF2-40B4-BE49-F238E27FC236}">
                <a16:creationId xmlns:a16="http://schemas.microsoft.com/office/drawing/2014/main" id="{49173F93-723F-4C69-B34A-178A7248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产出一份包含对象、材料与完成标准的任务说明。</a:t>
            </a:r>
          </a:p>
        </p:txBody>
      </p:sp>
      <p:grpSp>
        <p:nvGrpSpPr>
          <p:cNvPr id="35" name="C03-1"/>
          <p:cNvGrpSpPr/>
          <p:nvPr/>
        </p:nvGrpSpPr>
        <p:grpSpPr>
          <a:xfrm xmlns:a="http://schemas.openxmlformats.org/drawingml/2006/main">
            <a:off x="457200" y="3343275"/>
            <a:ext cx="6191250" cy="3238500"/>
            <a:chOff x="457200" y="3343275"/>
            <a:chExt cx="6191250" cy="3238500"/>
          </a:xfrm>
        </p:grpSpPr>
        <p:sp>
          <p:nvSpPr>
            <p:cNvPr id="10" name="C03-1--surface--10">
              <a:extLst xmlns:a="http://schemas.openxmlformats.org/drawingml/2006/main">
                <a:ext uri="{FF2B5EF4-FFF2-40B4-BE49-F238E27FC236}">
                  <a16:creationId xmlns:a16="http://schemas.microsoft.com/office/drawing/2014/main" id="{640B6E93-0038-48BB-88DE-A378A4DC7AD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343275"/>
              <a:ext cx="6191250" cy="3238500"/>
            </a:xfrm>
            <a:prstGeom xmlns:a="http://schemas.openxmlformats.org/drawingml/2006/main" prst="roundRect">
              <a:avLst>
                <a:gd name="adj" fmla="val 7059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1" name="C03-1--small-tag--11">
              <a:extLst xmlns:a="http://schemas.openxmlformats.org/drawingml/2006/main">
                <a:ext uri="{FF2B5EF4-FFF2-40B4-BE49-F238E27FC236}">
                  <a16:creationId xmlns:a16="http://schemas.microsoft.com/office/drawing/2014/main" id="{5E135C19-7846-453C-9864-FD73448F27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" y="3571875"/>
              <a:ext cx="1066800" cy="323850"/>
            </a:xfrm>
            <a:prstGeom xmlns:a="http://schemas.openxmlformats.org/drawingml/2006/main" prst="roundRect">
              <a:avLst>
                <a:gd name="adj" fmla="val 50000"/>
              </a:avLst>
            </a:prstGeom>
            <a:gradFill xmlns:a="http://schemas.openxmlformats.org/drawingml/2006/main">
              <a:gsLst>
                <a:gs pos="0">
                  <a:srgbClr val="D53912"/>
                </a:gs>
                <a:gs pos="100000">
                  <a:srgbClr val="D90404"/>
                </a:gs>
              </a:gsLst>
              <a:lin ang="0"/>
            </a:gradFill>
            <a:ln xmlns:a="http://schemas.openxmlformats.org/drawingml/2006/main" w="9525">
              <a:solidFill>
                <a:srgbClr val="FFFFFF">
                  <a:alpha val="85000"/>
                </a:srgbClr>
              </a:solidFill>
              <a:prstDash val="solid"/>
            </a:ln>
          </p:spPr>
        </p:sp>
        <p:sp>
          <p:nvSpPr>
            <p:cNvPr id="12" name="C03-1--small-tag-text--12">
              <a:extLst xmlns:a="http://schemas.openxmlformats.org/drawingml/2006/main">
                <a:ext uri="{FF2B5EF4-FFF2-40B4-BE49-F238E27FC236}">
                  <a16:creationId xmlns:a16="http://schemas.microsoft.com/office/drawing/2014/main" id="{A5603603-7DEA-43A8-BB7F-4B0F64D7A8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3629025"/>
              <a:ext cx="952500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2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2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练习</a:t>
              </a:r>
            </a:p>
          </p:txBody>
        </p:sp>
        <p:sp>
          <p:nvSpPr>
            <p:cNvPr id="13" name="C03-1--surface-title--13">
              <a:extLst xmlns:a="http://schemas.openxmlformats.org/drawingml/2006/main">
                <a:ext uri="{FF2B5EF4-FFF2-40B4-BE49-F238E27FC236}">
                  <a16:creationId xmlns:a16="http://schemas.microsoft.com/office/drawing/2014/main" id="{3CD24716-1C04-4B2D-81F1-7B97CB8D7EA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4105275"/>
              <a:ext cx="5657850" cy="600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练习输入</a:t>
              </a:r>
            </a:p>
          </p:txBody>
        </p:sp>
        <p:sp>
          <p:nvSpPr>
            <p:cNvPr id="14" name="C03-1--surface-body--14">
              <a:extLst xmlns:a="http://schemas.openxmlformats.org/drawingml/2006/main">
                <a:ext uri="{FF2B5EF4-FFF2-40B4-BE49-F238E27FC236}">
                  <a16:creationId xmlns:a16="http://schemas.microsoft.com/office/drawing/2014/main" id="{6D8990B8-7EC1-482B-A3A8-A8A44430352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4914900"/>
              <a:ext cx="5657850" cy="1409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原始要求：</a:t>
              </a:r>
            </a:p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“帮我整理一份培训材料。”</a:t>
              </a:r>
            </a:p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补充对象、参考材料与完成标准，</a:t>
              </a:r>
            </a:p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写成可以执行的任务说明。</a:t>
              </a:r>
            </a:p>
          </p:txBody>
        </p:sp>
      </p:grpSp>
      <p:grpSp>
        <p:nvGrpSpPr>
          <p:cNvPr id="36" name="C07-1"/>
          <p:cNvGrpSpPr/>
          <p:nvPr/>
        </p:nvGrpSpPr>
        <p:grpSpPr>
          <a:xfrm xmlns:a="http://schemas.openxmlformats.org/drawingml/2006/main">
            <a:off x="7105650" y="3533775"/>
            <a:ext cx="8362950" cy="3238500"/>
            <a:chOff x="7105650" y="3533775"/>
            <a:chExt cx="8362950" cy="3238500"/>
          </a:xfrm>
        </p:grpSpPr>
        <p:sp>
          <p:nvSpPr>
            <p:cNvPr id="15" name="C07-1--step-node--15">
              <a:extLst xmlns:a="http://schemas.openxmlformats.org/drawingml/2006/main">
                <a:ext uri="{FF2B5EF4-FFF2-40B4-BE49-F238E27FC236}">
                  <a16:creationId xmlns:a16="http://schemas.microsoft.com/office/drawing/2014/main" id="{B0F2F192-2F9C-4085-8F34-DFCD83C77F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37525" y="3686175"/>
              <a:ext cx="723900" cy="72390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B456"/>
                </a:gs>
                <a:gs pos="32000">
                  <a:srgbClr val="FF7800"/>
                </a:gs>
                <a:gs pos="68000">
                  <a:srgbClr val="FF3D12"/>
                </a:gs>
                <a:gs pos="100000">
                  <a:srgbClr val="F21916"/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80000"/>
                </a:srgbClr>
              </a:solidFill>
              <a:prstDash val="solid"/>
            </a:ln>
          </p:spPr>
        </p:sp>
        <p:sp>
          <p:nvSpPr>
            <p:cNvPr id="16" name="C07-1--step-number--16">
              <a:extLst xmlns:a="http://schemas.openxmlformats.org/drawingml/2006/main">
                <a:ext uri="{FF2B5EF4-FFF2-40B4-BE49-F238E27FC236}">
                  <a16:creationId xmlns:a16="http://schemas.microsoft.com/office/drawing/2014/main" id="{26303CAD-24A8-492C-A818-58C49BB50C9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85150" y="3867150"/>
              <a:ext cx="62865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7" name="C07-1--step-title--17">
              <a:extLst xmlns:a="http://schemas.openxmlformats.org/drawingml/2006/main">
                <a:ext uri="{FF2B5EF4-FFF2-40B4-BE49-F238E27FC236}">
                  <a16:creationId xmlns:a16="http://schemas.microsoft.com/office/drawing/2014/main" id="{31B51675-E699-41EF-932B-91F4B8057F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00900" y="4714875"/>
              <a:ext cx="2597150" cy="762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明确对象</a:t>
              </a:r>
            </a:p>
          </p:txBody>
        </p:sp>
        <p:sp>
          <p:nvSpPr>
            <p:cNvPr id="18" name="C07-1--step-body--18">
              <a:extLst xmlns:a="http://schemas.openxmlformats.org/drawingml/2006/main">
                <a:ext uri="{FF2B5EF4-FFF2-40B4-BE49-F238E27FC236}">
                  <a16:creationId xmlns:a16="http://schemas.microsoft.com/office/drawing/2014/main" id="{30B9E816-28AF-4EE3-8ACE-F93FCE4B583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67575" y="5600700"/>
              <a:ext cx="2463800" cy="1095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明确面向谁，</a:t>
              </a:r>
            </a:p>
            <a:p xmlns:a="http://schemas.openxmlformats.org/drawingml/2006/main">
              <a: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解决什么问题</a:t>
              </a:r>
            </a:p>
          </p:txBody>
        </p:sp>
        <p:sp>
          <p:nvSpPr>
            <p:cNvPr id="19" name="C07-1--step-node--19">
              <a:extLst xmlns:a="http://schemas.openxmlformats.org/drawingml/2006/main">
                <a:ext uri="{FF2B5EF4-FFF2-40B4-BE49-F238E27FC236}">
                  <a16:creationId xmlns:a16="http://schemas.microsoft.com/office/drawing/2014/main" id="{760A7F26-0197-410F-968A-4D50780707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25175" y="3686175"/>
              <a:ext cx="723900" cy="7239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9525">
              <a:solidFill>
                <a:srgbClr val="FFFFFF">
                  <a:alpha val="80000"/>
                </a:srgbClr>
              </a:solidFill>
              <a:prstDash val="solid"/>
            </a:ln>
          </p:spPr>
        </p:sp>
        <p:sp>
          <p:nvSpPr>
            <p:cNvPr id="20" name="C07-1--step-number--20">
              <a:extLst xmlns:a="http://schemas.openxmlformats.org/drawingml/2006/main">
                <a:ext uri="{FF2B5EF4-FFF2-40B4-BE49-F238E27FC236}">
                  <a16:creationId xmlns:a16="http://schemas.microsoft.com/office/drawing/2014/main" id="{ABE0D834-238D-4D45-B1B4-D814194CA8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72800" y="3867150"/>
              <a:ext cx="62865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21" name="C07-1--step-title--21">
              <a:extLst xmlns:a="http://schemas.openxmlformats.org/drawingml/2006/main">
                <a:ext uri="{FF2B5EF4-FFF2-40B4-BE49-F238E27FC236}">
                  <a16:creationId xmlns:a16="http://schemas.microsoft.com/office/drawing/2014/main" id="{07B47BF2-C5F7-4380-BE55-A21A8047CC9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88550" y="4714875"/>
              <a:ext cx="2597150" cy="762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补全材料</a:t>
              </a:r>
            </a:p>
          </p:txBody>
        </p:sp>
        <p:sp>
          <p:nvSpPr>
            <p:cNvPr id="22" name="C07-1--step-body--22">
              <a:extLst xmlns:a="http://schemas.openxmlformats.org/drawingml/2006/main">
                <a:ext uri="{FF2B5EF4-FFF2-40B4-BE49-F238E27FC236}">
                  <a16:creationId xmlns:a16="http://schemas.microsoft.com/office/drawing/2014/main" id="{19A81D8E-48A5-495F-AF2C-C4459CDDB6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55225" y="5600700"/>
              <a:ext cx="2463800" cy="1095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提供事实来源，</a:t>
              </a:r>
            </a:p>
            <a:p xmlns:a="http://schemas.openxmlformats.org/drawingml/2006/main">
              <a: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说明必要限制</a:t>
              </a:r>
            </a:p>
          </p:txBody>
        </p:sp>
        <p:sp>
          <p:nvSpPr>
            <p:cNvPr id="23" name="C07-1--step-node--23">
              <a:extLst xmlns:a="http://schemas.openxmlformats.org/drawingml/2006/main">
                <a:ext uri="{FF2B5EF4-FFF2-40B4-BE49-F238E27FC236}">
                  <a16:creationId xmlns:a16="http://schemas.microsoft.com/office/drawing/2014/main" id="{CE64A07D-5C82-4309-B246-C31249ABBCE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712825" y="3686175"/>
              <a:ext cx="723900" cy="7239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9525">
              <a:solidFill>
                <a:srgbClr val="FFFFFF">
                  <a:alpha val="80000"/>
                </a:srgbClr>
              </a:solidFill>
              <a:prstDash val="solid"/>
            </a:ln>
          </p:spPr>
        </p:sp>
        <p:sp>
          <p:nvSpPr>
            <p:cNvPr id="24" name="C07-1--step-number--24">
              <a:extLst xmlns:a="http://schemas.openxmlformats.org/drawingml/2006/main">
                <a:ext uri="{FF2B5EF4-FFF2-40B4-BE49-F238E27FC236}">
                  <a16:creationId xmlns:a16="http://schemas.microsoft.com/office/drawing/2014/main" id="{EB22FE52-F775-4D12-9C37-2B2276A3CA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760450" y="3867150"/>
              <a:ext cx="62865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25" name="C07-1--step-title--25">
              <a:extLst xmlns:a="http://schemas.openxmlformats.org/drawingml/2006/main">
                <a:ext uri="{FF2B5EF4-FFF2-40B4-BE49-F238E27FC236}">
                  <a16:creationId xmlns:a16="http://schemas.microsoft.com/office/drawing/2014/main" id="{948F53D4-B928-49AE-A0DC-4D5C956D1AF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776200" y="4714875"/>
              <a:ext cx="2597150" cy="762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写出标准</a:t>
              </a:r>
            </a:p>
          </p:txBody>
        </p:sp>
        <p:sp>
          <p:nvSpPr>
            <p:cNvPr id="26" name="C07-1--step-body--26">
              <a:extLst xmlns:a="http://schemas.openxmlformats.org/drawingml/2006/main">
                <a:ext uri="{FF2B5EF4-FFF2-40B4-BE49-F238E27FC236}">
                  <a16:creationId xmlns:a16="http://schemas.microsoft.com/office/drawing/2014/main" id="{76D3112E-1AEE-48E6-AA9C-AF700C5908A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42875" y="5600700"/>
              <a:ext cx="2463800" cy="1095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写清判断标准，</a:t>
              </a:r>
            </a:p>
            <a:p xmlns:a="http://schemas.openxmlformats.org/drawingml/2006/main">
              <a: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说明什么结果可用</a:t>
              </a:r>
            </a:p>
          </p:txBody>
        </p:sp>
      </p:grpSp>
      <p:grpSp>
        <p:nvGrpSpPr>
          <p:cNvPr id="37" name="C02-1"/>
          <p:cNvGrpSpPr/>
          <p:nvPr/>
        </p:nvGrpSpPr>
        <p:grpSpPr>
          <a:xfrm xmlns:a="http://schemas.openxmlformats.org/drawingml/2006/main">
            <a:off x="457200" y="7162800"/>
            <a:ext cx="15011400" cy="857250"/>
            <a:chOff x="457200" y="7162800"/>
            <a:chExt cx="15011400" cy="857250"/>
          </a:xfrm>
        </p:grpSpPr>
        <p:sp>
          <p:nvSpPr>
            <p:cNvPr id="27" name="C02-1--conclusion--27">
              <a:extLst xmlns:a="http://schemas.openxmlformats.org/drawingml/2006/main">
                <a:ext uri="{FF2B5EF4-FFF2-40B4-BE49-F238E27FC236}">
                  <a16:creationId xmlns:a16="http://schemas.microsoft.com/office/drawing/2014/main" id="{ECF4F088-871A-49B7-A1BE-392812F6D0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7162800"/>
              <a:ext cx="15011400" cy="857250"/>
            </a:xfrm>
            <a:prstGeom xmlns:a="http://schemas.openxmlformats.org/drawingml/2006/main" prst="roundRect">
              <a:avLst>
                <a:gd name="adj" fmla="val 25000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8" name="C02-1--accent-edge--28">
              <a:extLst xmlns:a="http://schemas.openxmlformats.org/drawingml/2006/main">
                <a:ext uri="{FF2B5EF4-FFF2-40B4-BE49-F238E27FC236}">
                  <a16:creationId xmlns:a16="http://schemas.microsoft.com/office/drawing/2014/main" id="{AC3B7760-56D8-40E2-BE7B-A91CEB9F5C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7162800"/>
              <a:ext cx="57150" cy="857250"/>
            </a:xfrm>
            <a:prstGeom xmlns:a="http://schemas.openxmlformats.org/drawingml/2006/main" prst="roundRect">
              <a:avLst>
                <a:gd name="adj" fmla="val 50000"/>
              </a:avLst>
            </a:prstGeom>
            <a:gradFill xmlns:a="http://schemas.openxmlformats.org/drawingml/2006/main">
              <a:gsLst>
                <a:gs pos="0">
                  <a:srgbClr val="FF7800"/>
                </a:gs>
                <a:gs pos="30000">
                  <a:srgbClr val="FF5000"/>
                </a:gs>
                <a:gs pos="60000">
                  <a:srgbClr val="FF2600"/>
                </a:gs>
                <a:gs pos="80000">
                  <a:srgbClr val="ED1006"/>
                </a:gs>
                <a:gs pos="100000">
                  <a:srgbClr val="D90404"/>
                </a:gs>
              </a:gsLst>
              <a:lin ang="0"/>
            </a:gra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9" name="C02-1--conclusion-text--29">
              <a:extLst xmlns:a="http://schemas.openxmlformats.org/drawingml/2006/main">
                <a:ext uri="{FF2B5EF4-FFF2-40B4-BE49-F238E27FC236}">
                  <a16:creationId xmlns:a16="http://schemas.microsoft.com/office/drawing/2014/main" id="{B44E47A2-63A9-4055-B372-8B72061F62C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2950" y="7391400"/>
              <a:ext cx="14439900" cy="514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完成标准：伙伴能根据这份说明，判断任务是否完成。</a:t>
              </a:r>
            </a:p>
          </p:txBody>
        </p:sp>
      </p:grpSp>
      <p:sp>
        <p:nvSpPr>
          <p:cNvPr id="30" name="chrome--footer-rule--30">
            <a:extLst xmlns:a="http://schemas.openxmlformats.org/drawingml/2006/main">
              <a:ext uri="{FF2B5EF4-FFF2-40B4-BE49-F238E27FC236}">
                <a16:creationId xmlns:a16="http://schemas.microsoft.com/office/drawing/2014/main" id="{63214559-5CA1-4C1C-A233-989AD313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31" name="chrome--footer--31">
            <a:extLst xmlns:a="http://schemas.openxmlformats.org/drawingml/2006/main">
              <a:ext uri="{FF2B5EF4-FFF2-40B4-BE49-F238E27FC236}">
                <a16:creationId xmlns:a16="http://schemas.microsoft.com/office/drawing/2014/main" id="{D801A1A4-C933-4774-AFEA-0058254D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练习建议：先独立改写，再两人互换检查，指出一项仍需澄清的内容。</a:t>
            </a:r>
          </a:p>
        </p:txBody>
      </p:sp>
    </p:spTree>
    <p:extLst>
      <p:ext uri="{BB962C8B-B14F-4D97-AF65-F5344CB8AC3E}">
        <p14:creationId xmlns:p14="http://schemas.microsoft.com/office/powerpoint/2010/main" val="766351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D2A9D8-F051-432B-9082-2C0D01689E51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12809220" y="3997325"/>
            <a:ext cx="152400" cy="311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8160FC-E657-41D1-A1D8-26661C62190C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0226040" y="3997325"/>
            <a:ext cx="152400" cy="311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A2C588-ABC3-4FB4-8161-157AF7DFD014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7642860" y="3997325"/>
            <a:ext cx="152400" cy="1555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20298A-6D21-4D79-A723-EF0A449FA34A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059680" y="3997325"/>
            <a:ext cx="152400" cy="1555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sp>
        <p:nvSpPr>
          <p:cNvPr id="30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B7C8D253-0D88-42B9-B5D6-BCA15D9E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95109517-8DF9-47E3-9FF6-FEC05787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55A0E0BD-5A5F-4FB5-8103-11040D57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22556E92-AE0C-4EC5-850F-3BD5C7F8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8B9FF0BA-F18F-414A-B1DC-61FFC1D1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培训 / 协作练习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9DE8C388-03F2-4EDB-9C31-1EB25D9F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5011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同伴检查中的角色与交接</a:t>
            </a:r>
          </a:p>
        </p:txBody>
      </p:sp>
      <p:sp>
        <p:nvSpPr>
          <p:cNvPr id="7" name="chrome--page-subtitle--7">
            <a:extLst xmlns:a="http://schemas.openxmlformats.org/drawingml/2006/main">
              <a:ext uri="{FF2B5EF4-FFF2-40B4-BE49-F238E27FC236}">
                <a16:creationId xmlns:a16="http://schemas.microsoft.com/office/drawing/2014/main" id="{1CEA7764-FAC1-4345-B301-9F265F5E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区分任务提出者、工具和检查者各自承担的工作。</a:t>
            </a:r>
          </a:p>
        </p:txBody>
      </p:sp>
      <p:grpSp>
        <p:nvGrpSpPr>
          <p:cNvPr id="31" name="C18-1"/>
          <p:cNvGrpSpPr/>
          <p:nvPr/>
        </p:nvGrpSpPr>
        <p:grpSpPr>
          <a:xfrm xmlns:a="http://schemas.openxmlformats.org/drawingml/2006/main">
            <a:off x="457200" y="3276600"/>
            <a:ext cx="15011400" cy="4667250"/>
            <a:chOff x="457200" y="3276600"/>
            <a:chExt cx="15011400" cy="4667250"/>
          </a:xfrm>
        </p:grpSpPr>
        <p:sp>
          <p:nvSpPr>
            <p:cNvPr id="8" name="C18-1--swimlane--8">
              <a:extLst xmlns:a="http://schemas.openxmlformats.org/drawingml/2006/main">
                <a:ext uri="{FF2B5EF4-FFF2-40B4-BE49-F238E27FC236}">
                  <a16:creationId xmlns:a16="http://schemas.microsoft.com/office/drawing/2014/main" id="{412C11DE-ED60-425F-8F3C-6BE8A6367A0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276600"/>
              <a:ext cx="15011400" cy="1441450"/>
            </a:xfrm>
            <a:prstGeom xmlns:a="http://schemas.openxmlformats.org/drawingml/2006/main" prst="roundRect">
              <a:avLst>
                <a:gd name="adj" fmla="val 10573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9" name="C18-1--lane-role--9">
              <a:extLst xmlns:a="http://schemas.openxmlformats.org/drawingml/2006/main">
                <a:ext uri="{FF2B5EF4-FFF2-40B4-BE49-F238E27FC236}">
                  <a16:creationId xmlns:a16="http://schemas.microsoft.com/office/drawing/2014/main" id="{76B3DF57-8085-44D1-AFA8-6DA0D81A8B7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3844925"/>
              <a:ext cx="161925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9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任务提出者</a:t>
              </a:r>
            </a:p>
          </p:txBody>
        </p:sp>
        <p:sp>
          <p:nvSpPr>
            <p:cNvPr id="10" name="C18-1--swimlane--10">
              <a:extLst xmlns:a="http://schemas.openxmlformats.org/drawingml/2006/main">
                <a:ext uri="{FF2B5EF4-FFF2-40B4-BE49-F238E27FC236}">
                  <a16:creationId xmlns:a16="http://schemas.microsoft.com/office/drawing/2014/main" id="{260FB8CE-3572-4DBC-A3CA-EA05655AA9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4832350"/>
              <a:ext cx="15011400" cy="1441450"/>
            </a:xfrm>
            <a:prstGeom xmlns:a="http://schemas.openxmlformats.org/drawingml/2006/main" prst="roundRect">
              <a:avLst>
                <a:gd name="adj" fmla="val 10573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1" name="C18-1--lane-role--11">
              <a:extLst xmlns:a="http://schemas.openxmlformats.org/drawingml/2006/main">
                <a:ext uri="{FF2B5EF4-FFF2-40B4-BE49-F238E27FC236}">
                  <a16:creationId xmlns:a16="http://schemas.microsoft.com/office/drawing/2014/main" id="{D32908E9-77F3-4BBD-AB49-30CAB46EEC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5400675"/>
              <a:ext cx="161925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9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协作工具</a:t>
              </a:r>
            </a:p>
          </p:txBody>
        </p:sp>
        <p:sp>
          <p:nvSpPr>
            <p:cNvPr id="12" name="C18-1--swimlane--12">
              <a:extLst xmlns:a="http://schemas.openxmlformats.org/drawingml/2006/main">
                <a:ext uri="{FF2B5EF4-FFF2-40B4-BE49-F238E27FC236}">
                  <a16:creationId xmlns:a16="http://schemas.microsoft.com/office/drawing/2014/main" id="{038E8CFE-0E55-4ABF-A98D-058ED3C2E4A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6388100"/>
              <a:ext cx="15011400" cy="1441450"/>
            </a:xfrm>
            <a:prstGeom xmlns:a="http://schemas.openxmlformats.org/drawingml/2006/main" prst="roundRect">
              <a:avLst>
                <a:gd name="adj" fmla="val 10573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3" name="C18-1--lane-role--13">
              <a:extLst xmlns:a="http://schemas.openxmlformats.org/drawingml/2006/main">
                <a:ext uri="{FF2B5EF4-FFF2-40B4-BE49-F238E27FC236}">
                  <a16:creationId xmlns:a16="http://schemas.microsoft.com/office/drawing/2014/main" id="{5F581C4A-88B7-47E5-8A00-86F39032123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6956425"/>
              <a:ext cx="161925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9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同伴检查者</a:t>
              </a:r>
            </a:p>
          </p:txBody>
        </p:sp>
        <p:sp>
          <p:nvSpPr>
            <p:cNvPr id="14" name="C18-1--lane-task--14">
              <a:extLst xmlns:a="http://schemas.openxmlformats.org/drawingml/2006/main">
                <a:ext uri="{FF2B5EF4-FFF2-40B4-BE49-F238E27FC236}">
                  <a16:creationId xmlns:a16="http://schemas.microsoft.com/office/drawing/2014/main" id="{B4A858AF-9A78-4B3C-9AD5-BE523DCBB33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28900" y="3644900"/>
              <a:ext cx="2430780" cy="704850"/>
            </a:xfrm>
            <a:prstGeom xmlns:a="http://schemas.openxmlformats.org/drawingml/2006/main" prst="roundRect">
              <a:avLst>
                <a:gd name="adj" fmla="val 21622"/>
              </a:avLst>
            </a:prstGeom>
            <a:gradFill xmlns:a="http://schemas.openxmlformats.org/drawingml/2006/main">
              <a:gsLst>
                <a:gs pos="0">
                  <a:srgbClr val="FFB456"/>
                </a:gs>
                <a:gs pos="32000">
                  <a:srgbClr val="FF7800"/>
                </a:gs>
                <a:gs pos="68000">
                  <a:srgbClr val="FF3D12"/>
                </a:gs>
                <a:gs pos="100000">
                  <a:srgbClr val="F21916"/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5" name="C18-1--lane-task-title--15">
              <a:extLst xmlns:a="http://schemas.openxmlformats.org/drawingml/2006/main">
                <a:ext uri="{FF2B5EF4-FFF2-40B4-BE49-F238E27FC236}">
                  <a16:creationId xmlns:a16="http://schemas.microsoft.com/office/drawing/2014/main" id="{EED1C7F5-56D3-4B88-B1AD-2F3037A5053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0" y="3844925"/>
              <a:ext cx="220218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说明要求</a:t>
              </a:r>
            </a:p>
          </p:txBody>
        </p:sp>
        <p:sp>
          <p:nvSpPr>
            <p:cNvPr id="16" name="C18-1--lane-task--16">
              <a:extLst xmlns:a="http://schemas.openxmlformats.org/drawingml/2006/main">
                <a:ext uri="{FF2B5EF4-FFF2-40B4-BE49-F238E27FC236}">
                  <a16:creationId xmlns:a16="http://schemas.microsoft.com/office/drawing/2014/main" id="{4B43B97A-E144-4C7E-A3C1-9DA21AEADC7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12080" y="5200650"/>
              <a:ext cx="2430780" cy="704850"/>
            </a:xfrm>
            <a:prstGeom xmlns:a="http://schemas.openxmlformats.org/drawingml/2006/main" prst="roundRect">
              <a:avLst>
                <a:gd name="adj" fmla="val 2162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7" name="C18-1--lane-task-title--17">
              <a:extLst xmlns:a="http://schemas.openxmlformats.org/drawingml/2006/main">
                <a:ext uri="{FF2B5EF4-FFF2-40B4-BE49-F238E27FC236}">
                  <a16:creationId xmlns:a16="http://schemas.microsoft.com/office/drawing/2014/main" id="{9A938E64-0529-49F7-90B2-E1B6861C002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26380" y="5400675"/>
              <a:ext cx="220218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组织草稿</a:t>
              </a:r>
            </a:p>
          </p:txBody>
        </p:sp>
        <p:sp>
          <p:nvSpPr>
            <p:cNvPr id="18" name="C18-1--lane-task--18">
              <a:extLst xmlns:a="http://schemas.openxmlformats.org/drawingml/2006/main">
                <a:ext uri="{FF2B5EF4-FFF2-40B4-BE49-F238E27FC236}">
                  <a16:creationId xmlns:a16="http://schemas.microsoft.com/office/drawing/2014/main" id="{193790C9-3E2A-41A6-863D-EE167F8E1E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95260" y="3644900"/>
              <a:ext cx="2430780" cy="704850"/>
            </a:xfrm>
            <a:prstGeom xmlns:a="http://schemas.openxmlformats.org/drawingml/2006/main" prst="roundRect">
              <a:avLst>
                <a:gd name="adj" fmla="val 2162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9" name="C18-1--lane-task-title--19">
              <a:extLst xmlns:a="http://schemas.openxmlformats.org/drawingml/2006/main">
                <a:ext uri="{FF2B5EF4-FFF2-40B4-BE49-F238E27FC236}">
                  <a16:creationId xmlns:a16="http://schemas.microsoft.com/office/drawing/2014/main" id="{3E979E9E-E3F9-468B-AA0B-453584C777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9560" y="3844925"/>
              <a:ext cx="220218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补充材料</a:t>
              </a:r>
            </a:p>
          </p:txBody>
        </p:sp>
        <p:sp>
          <p:nvSpPr>
            <p:cNvPr id="20" name="C18-1--lane-task--20">
              <a:extLst xmlns:a="http://schemas.openxmlformats.org/drawingml/2006/main">
                <a:ext uri="{FF2B5EF4-FFF2-40B4-BE49-F238E27FC236}">
                  <a16:creationId xmlns:a16="http://schemas.microsoft.com/office/drawing/2014/main" id="{E560A0BF-5D94-4F21-8915-FA4146FF82A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78440" y="6756400"/>
              <a:ext cx="2430780" cy="704850"/>
            </a:xfrm>
            <a:prstGeom xmlns:a="http://schemas.openxmlformats.org/drawingml/2006/main" prst="roundRect">
              <a:avLst>
                <a:gd name="adj" fmla="val 2162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1" name="C18-1--lane-task-title--21">
              <a:extLst xmlns:a="http://schemas.openxmlformats.org/drawingml/2006/main">
                <a:ext uri="{FF2B5EF4-FFF2-40B4-BE49-F238E27FC236}">
                  <a16:creationId xmlns:a16="http://schemas.microsoft.com/office/drawing/2014/main" id="{802333C7-CF96-4994-B006-F845AB8BC1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92740" y="6956425"/>
              <a:ext cx="220218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对照标准</a:t>
              </a:r>
            </a:p>
          </p:txBody>
        </p:sp>
        <p:sp>
          <p:nvSpPr>
            <p:cNvPr id="22" name="C18-1--lane-task--22">
              <a:extLst xmlns:a="http://schemas.openxmlformats.org/drawingml/2006/main">
                <a:ext uri="{FF2B5EF4-FFF2-40B4-BE49-F238E27FC236}">
                  <a16:creationId xmlns:a16="http://schemas.microsoft.com/office/drawing/2014/main" id="{6934FDA8-54F1-437E-909A-3004AF9C0B8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61620" y="3644900"/>
              <a:ext cx="2430780" cy="704850"/>
            </a:xfrm>
            <a:prstGeom xmlns:a="http://schemas.openxmlformats.org/drawingml/2006/main" prst="roundRect">
              <a:avLst>
                <a:gd name="adj" fmla="val 2162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3" name="C18-1--lane-task-title--23">
              <a:extLst xmlns:a="http://schemas.openxmlformats.org/drawingml/2006/main">
                <a:ext uri="{FF2B5EF4-FFF2-40B4-BE49-F238E27FC236}">
                  <a16:creationId xmlns:a16="http://schemas.microsoft.com/office/drawing/2014/main" id="{AAEAF377-C356-4128-8377-AA200EAF2A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75920" y="3844925"/>
              <a:ext cx="220218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修订确认</a:t>
              </a:r>
            </a:p>
          </p:txBody>
        </p:sp>
      </p:grpSp>
      <p:sp>
        <p:nvSpPr>
          <p:cNvPr id="24" name="chrome--footer-rule--24">
            <a:extLst xmlns:a="http://schemas.openxmlformats.org/drawingml/2006/main">
              <a:ext uri="{FF2B5EF4-FFF2-40B4-BE49-F238E27FC236}">
                <a16:creationId xmlns:a16="http://schemas.microsoft.com/office/drawing/2014/main" id="{8C2E813D-366B-453E-850D-2EF38A00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25" name="chrome--footer--25">
            <a:extLst xmlns:a="http://schemas.openxmlformats.org/drawingml/2006/main">
              <a:ext uri="{FF2B5EF4-FFF2-40B4-BE49-F238E27FC236}">
                <a16:creationId xmlns:a16="http://schemas.microsoft.com/office/drawing/2014/main" id="{BBAB36E7-A079-4494-9CC7-05A18B87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练习流程示意。检查者提出问题，任务提出者负责核实后修订。</a:t>
            </a:r>
          </a:p>
        </p:txBody>
      </p:sp>
    </p:spTree>
    <p:extLst>
      <p:ext uri="{BB962C8B-B14F-4D97-AF65-F5344CB8AC3E}">
        <p14:creationId xmlns:p14="http://schemas.microsoft.com/office/powerpoint/2010/main" val="12755143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2F568C8B-7B11-42D1-AAC9-0A02D9D6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F055B5B1-78D9-471A-B27B-061C8206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87C0E2C5-EE3E-40E2-8017-D76BD620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A35C8C72-E695-4F11-AD13-EE13727D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7A7C460D-7F7A-46E5-A6FB-C7B7AE4C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培训 / 检查与反馈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33805BF2-C7AA-45F1-B412-0A5A9E49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5011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任务说明的自评问题</a:t>
            </a:r>
          </a:p>
        </p:txBody>
      </p:sp>
      <p:sp>
        <p:nvSpPr>
          <p:cNvPr id="7" name="chrome--page-subtitle--7">
            <a:extLst xmlns:a="http://schemas.openxmlformats.org/drawingml/2006/main">
              <a:ext uri="{FF2B5EF4-FFF2-40B4-BE49-F238E27FC236}">
                <a16:creationId xmlns:a16="http://schemas.microsoft.com/office/drawing/2014/main" id="{89919B79-9B38-4CCB-B86E-BE1F7E6A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用问题判断任务说明是否足以让他人继续工作。</a:t>
            </a:r>
          </a:p>
        </p:txBody>
      </p:sp>
      <p:grpSp>
        <p:nvGrpSpPr>
          <p:cNvPr id="23" name="C22-1"/>
          <p:cNvGrpSpPr/>
          <p:nvPr/>
        </p:nvGrpSpPr>
        <p:grpSpPr>
          <a:xfrm xmlns:a="http://schemas.openxmlformats.org/drawingml/2006/main">
            <a:off x="457200" y="3276600"/>
            <a:ext cx="15011400" cy="4667250"/>
            <a:chOff x="457200" y="3276600"/>
            <a:chExt cx="15011400" cy="4667250"/>
          </a:xfrm>
        </p:grpSpPr>
        <p:sp>
          <p:nvSpPr>
            <p:cNvPr id="8" name="C22-1--faq-row--8">
              <a:extLst xmlns:a="http://schemas.openxmlformats.org/drawingml/2006/main">
                <a:ext uri="{FF2B5EF4-FFF2-40B4-BE49-F238E27FC236}">
                  <a16:creationId xmlns:a16="http://schemas.microsoft.com/office/drawing/2014/main" id="{440D2500-1505-4AB0-8A2F-F8D49F0F4D7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276600"/>
              <a:ext cx="15011400" cy="1441450"/>
            </a:xfrm>
            <a:prstGeom xmlns:a="http://schemas.openxmlformats.org/drawingml/2006/main" prst="roundRect">
              <a:avLst>
                <a:gd name="adj" fmla="val 15859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9" name="C22-1--faq-question--9">
              <a:extLst xmlns:a="http://schemas.openxmlformats.org/drawingml/2006/main">
                <a:ext uri="{FF2B5EF4-FFF2-40B4-BE49-F238E27FC236}">
                  <a16:creationId xmlns:a16="http://schemas.microsoft.com/office/drawing/2014/main" id="{D93B84D5-DDF6-40E3-978E-C5E0E42214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" y="3505200"/>
              <a:ext cx="4803648" cy="1108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面向谁，解决什么？</a:t>
              </a:r>
            </a:p>
          </p:txBody>
        </p:sp>
        <p:sp>
          <p:nvSpPr>
            <p:cNvPr id="10" name="C22-1--faq-divider--10">
              <a:extLst xmlns:a="http://schemas.openxmlformats.org/drawingml/2006/main">
                <a:ext uri="{FF2B5EF4-FFF2-40B4-BE49-F238E27FC236}">
                  <a16:creationId xmlns:a16="http://schemas.microsoft.com/office/drawing/2014/main" id="{FB223A00-7771-47A0-82CF-4804C2C7C0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6011418" y="3505200"/>
              <a:ext cx="0" cy="9842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11" name="C22-1--faq-answer--11">
              <a:extLst xmlns:a="http://schemas.openxmlformats.org/drawingml/2006/main">
                <a:ext uri="{FF2B5EF4-FFF2-40B4-BE49-F238E27FC236}">
                  <a16:creationId xmlns:a16="http://schemas.microsoft.com/office/drawing/2014/main" id="{993A4F7F-9077-4C90-9C23-A89D7324252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61760" y="3533775"/>
              <a:ext cx="8406384" cy="1060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写明对象与具体问题。不要只写“做得专业一点”等无法判断的要求。</a:t>
              </a:r>
            </a:p>
          </p:txBody>
        </p:sp>
        <p:sp>
          <p:nvSpPr>
            <p:cNvPr id="12" name="C22-1--faq-row--12">
              <a:extLst xmlns:a="http://schemas.openxmlformats.org/drawingml/2006/main">
                <a:ext uri="{FF2B5EF4-FFF2-40B4-BE49-F238E27FC236}">
                  <a16:creationId xmlns:a16="http://schemas.microsoft.com/office/drawing/2014/main" id="{BD51CEF3-C6BA-433D-B97F-89A87595DEE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4889500"/>
              <a:ext cx="15011400" cy="1441450"/>
            </a:xfrm>
            <a:prstGeom xmlns:a="http://schemas.openxmlformats.org/drawingml/2006/main" prst="roundRect">
              <a:avLst>
                <a:gd name="adj" fmla="val 15859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3" name="C22-1--faq-question--13">
              <a:extLst xmlns:a="http://schemas.openxmlformats.org/drawingml/2006/main">
                <a:ext uri="{FF2B5EF4-FFF2-40B4-BE49-F238E27FC236}">
                  <a16:creationId xmlns:a16="http://schemas.microsoft.com/office/drawing/2014/main" id="{64A96AB5-16AF-4959-9CF6-AB82938221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" y="5118100"/>
              <a:ext cx="4803648" cy="1108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依据哪些材料？</a:t>
              </a:r>
            </a:p>
          </p:txBody>
        </p:sp>
        <p:sp>
          <p:nvSpPr>
            <p:cNvPr id="14" name="C22-1--faq-divider--14">
              <a:extLst xmlns:a="http://schemas.openxmlformats.org/drawingml/2006/main">
                <a:ext uri="{FF2B5EF4-FFF2-40B4-BE49-F238E27FC236}">
                  <a16:creationId xmlns:a16="http://schemas.microsoft.com/office/drawing/2014/main" id="{35A4E417-A769-4DD9-8490-2B74EE2A41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6011418" y="5118100"/>
              <a:ext cx="0" cy="9842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15" name="C22-1--faq-answer--15">
              <a:extLst xmlns:a="http://schemas.openxmlformats.org/drawingml/2006/main">
                <a:ext uri="{FF2B5EF4-FFF2-40B4-BE49-F238E27FC236}">
                  <a16:creationId xmlns:a16="http://schemas.microsoft.com/office/drawing/2014/main" id="{EE6677B6-5367-49C8-844C-32805D3935C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61760" y="5146675"/>
              <a:ext cx="8406384" cy="1060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列出可使用的记录和参考范围。缺失内容先标为待确认。</a:t>
              </a:r>
            </a:p>
          </p:txBody>
        </p:sp>
        <p:sp>
          <p:nvSpPr>
            <p:cNvPr id="16" name="C22-1--faq-row--16">
              <a:extLst xmlns:a="http://schemas.openxmlformats.org/drawingml/2006/main">
                <a:ext uri="{FF2B5EF4-FFF2-40B4-BE49-F238E27FC236}">
                  <a16:creationId xmlns:a16="http://schemas.microsoft.com/office/drawing/2014/main" id="{C1F9BF8B-4FE0-43DF-9C0F-B27C35A7FD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6502400"/>
              <a:ext cx="15011400" cy="1441450"/>
            </a:xfrm>
            <a:prstGeom xmlns:a="http://schemas.openxmlformats.org/drawingml/2006/main" prst="roundRect">
              <a:avLst>
                <a:gd name="adj" fmla="val 15859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7" name="C22-1--faq-question--17">
              <a:extLst xmlns:a="http://schemas.openxmlformats.org/drawingml/2006/main">
                <a:ext uri="{FF2B5EF4-FFF2-40B4-BE49-F238E27FC236}">
                  <a16:creationId xmlns:a16="http://schemas.microsoft.com/office/drawing/2014/main" id="{25767BC8-936C-44B2-B44C-19FB5E6D2C4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" y="6731000"/>
              <a:ext cx="4803648" cy="1108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怎样判断完成？</a:t>
              </a:r>
            </a:p>
          </p:txBody>
        </p:sp>
        <p:sp>
          <p:nvSpPr>
            <p:cNvPr id="18" name="C22-1--faq-divider--18">
              <a:extLst xmlns:a="http://schemas.openxmlformats.org/drawingml/2006/main">
                <a:ext uri="{FF2B5EF4-FFF2-40B4-BE49-F238E27FC236}">
                  <a16:creationId xmlns:a16="http://schemas.microsoft.com/office/drawing/2014/main" id="{B8B0FFF9-E9EE-447F-8C86-4C7D4BEFFF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6011418" y="6731000"/>
              <a:ext cx="0" cy="9842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19" name="C22-1--faq-answer--19">
              <a:extLst xmlns:a="http://schemas.openxmlformats.org/drawingml/2006/main">
                <a:ext uri="{FF2B5EF4-FFF2-40B4-BE49-F238E27FC236}">
                  <a16:creationId xmlns:a16="http://schemas.microsoft.com/office/drawing/2014/main" id="{8817287D-B47F-4FA4-94D1-8CCCCF70A08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61760" y="6759575"/>
              <a:ext cx="8406384" cy="1060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给出结构、事实核对和交付形式等检查条件，请同伴指出一项缺口。</a:t>
              </a:r>
            </a:p>
          </p:txBody>
        </p:sp>
      </p:grpSp>
      <p:sp>
        <p:nvSpPr>
          <p:cNvPr id="20" name="chrome--footer-rule--20">
            <a:extLst xmlns:a="http://schemas.openxmlformats.org/drawingml/2006/main">
              <a:ext uri="{FF2B5EF4-FFF2-40B4-BE49-F238E27FC236}">
                <a16:creationId xmlns:a16="http://schemas.microsoft.com/office/drawing/2014/main" id="{C717359C-161E-48EC-A430-70F2C83E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21" name="chrome--footer--21">
            <a:extLst xmlns:a="http://schemas.openxmlformats.org/drawingml/2006/main">
              <a:ext uri="{FF2B5EF4-FFF2-40B4-BE49-F238E27FC236}">
                <a16:creationId xmlns:a16="http://schemas.microsoft.com/office/drawing/2014/main" id="{A110FBCE-B870-4912-85BE-8F27B7F7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学习评估建议：提交一份任务说明，以及一次同伴检查的反馈记录。</a:t>
            </a:r>
          </a:p>
        </p:txBody>
      </p:sp>
    </p:spTree>
    <p:extLst>
      <p:ext uri="{BB962C8B-B14F-4D97-AF65-F5344CB8AC3E}">
        <p14:creationId xmlns:p14="http://schemas.microsoft.com/office/powerpoint/2010/main" val="453347061"/>
      </p:ext>
    </p:extLst>
  </p:cSld>
</p:sld>
</file>

<file path=ppt/theme/theme1.xml><?xml version="1.0" encoding="utf-8"?>
<a:theme xmlns:a="http://schemas.openxmlformats.org/drawingml/2006/main" name="ChatGPT">
  <a:themeElements>
    <a:clrScheme name="Warm Glass">
      <a:dk1>
        <a:srgbClr val="101219"/>
      </a:dk1>
      <a:lt1>
        <a:srgbClr val="FFFFFF"/>
      </a:lt1>
      <a:dk2>
        <a:srgbClr val="333333"/>
      </a:dk2>
      <a:lt2>
        <a:srgbClr val="FFF6EC"/>
      </a:lt2>
      <a:accent1>
        <a:srgbClr val="FF3D12"/>
      </a:accent1>
      <a:accent2>
        <a:srgbClr val="B92A16"/>
      </a:accent2>
      <a:accent3>
        <a:srgbClr val="FF7800"/>
      </a:accent3>
      <a:accent4>
        <a:srgbClr val="F28662"/>
      </a:accent4>
      <a:accent5>
        <a:srgbClr val="F2CB85"/>
      </a:accent5>
      <a:accent6>
        <a:srgbClr val="66615E"/>
      </a:accent6>
      <a:hlink>
        <a:srgbClr val="B92A16"/>
      </a:hlink>
      <a:folHlink>
        <a:srgbClr val="66615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Warm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5250" dir="5400000">
              <a:srgbClr val="603F29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2026-10-16T10:57:50.1530000Z</dcterms:created>
  <dcterms:modified xsi:type="dcterms:W3CDTF">2026-10-16T10:57:50.1530000Z</dcterms:modified>
</coreProperties>
</file>